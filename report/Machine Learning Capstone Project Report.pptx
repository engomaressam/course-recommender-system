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29"/>
  </p:notesMasterIdLst>
  <p:handoutMasterIdLst>
    <p:handoutMasterId r:id="rId30"/>
  </p:handoutMasterIdLst>
  <p:sldIdLst>
    <p:sldId id="336" r:id="rId6"/>
    <p:sldId id="330" r:id="rId7"/>
    <p:sldId id="332" r:id="rId8"/>
    <p:sldId id="337" r:id="rId9"/>
    <p:sldId id="340" r:id="rId10"/>
    <p:sldId id="339" r:id="rId11"/>
    <p:sldId id="341" r:id="rId12"/>
    <p:sldId id="348" r:id="rId13"/>
    <p:sldId id="334" r:id="rId14"/>
    <p:sldId id="342" r:id="rId15"/>
    <p:sldId id="343" r:id="rId16"/>
    <p:sldId id="344" r:id="rId17"/>
    <p:sldId id="345" r:id="rId18"/>
    <p:sldId id="346" r:id="rId19"/>
    <p:sldId id="347" r:id="rId20"/>
    <p:sldId id="356" r:id="rId37"/>
    <p:sldId id="335" r:id="rId21"/>
    <p:sldId id="350" r:id="rId22"/>
    <p:sldId id="351" r:id="rId23"/>
    <p:sldId id="352" r:id="rId24"/>
    <p:sldId id="357" r:id="rId38"/>
    <p:sldId id="353" r:id="rId25"/>
    <p:sldId id="274" r:id="rId27"/>
    <p:sldId id="275" r:id="rId28"/>
    <p:sldId id="358" r:id="rId39"/>
    <p:sldId id="359" r:id="rId40"/>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1590AA-02B3-4ADE-F57B-86D5AB206163}" name="Jarrod Renfro" initials="JR" userId="Jarrod Renfro"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4F8"/>
    <a:srgbClr val="0948CB"/>
    <a:srgbClr val="0B49CB"/>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89"/>
    <p:restoredTop sz="85169"/>
  </p:normalViewPr>
  <p:slideViewPr>
    <p:cSldViewPr snapToGrid="0" snapToObjects="1">
      <p:cViewPr varScale="1">
        <p:scale>
          <a:sx n="132" d="100"/>
          <a:sy n="132" d="100"/>
        </p:scale>
        <p:origin x="2256" y="184"/>
      </p:cViewPr>
      <p:guideLst>
        <p:guide orient="horz" pos="218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commentAuthors" Target="commentAuthors.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8/10/relationships/authors" Target="authors.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Courses</c:v>
                </c:pt>
              </c:strCache>
            </c:strRef>
          </c:tx>
          <c:spPr>
            <a:solidFill>
              <a:srgbClr val="2A78D6"/>
            </a:solidFill>
            <a:ln>
              <a:noFill/>
            </a:ln>
          </c:spPr>
          <c:invertIfNegative val="0"/>
          <c:cat>
            <c:strRef>
              <c:f>Sheet1!$A$2:$A$15</c:f>
              <c:strCache>
                <c:ptCount val="14"/>
                <c:pt idx="0">
                  <c:v>Backend Dev</c:v>
                </c:pt>
                <c:pt idx="1">
                  <c:v>Machine Learning</c:v>
                </c:pt>
                <c:pt idx="2">
                  <c:v>Database</c:v>
                </c:pt>
                <c:pt idx="3">
                  <c:v>Data Analysis</c:v>
                </c:pt>
                <c:pt idx="4">
                  <c:v>Data Science</c:v>
                </c:pt>
                <c:pt idx="5">
                  <c:v>Cloud Computing</c:v>
                </c:pt>
                <c:pt idx="6">
                  <c:v>Big Data</c:v>
                </c:pt>
                <c:pt idx="7">
                  <c:v>Python</c:v>
                </c:pt>
                <c:pt idx="8">
                  <c:v>Frontend Dev</c:v>
                </c:pt>
                <c:pt idx="9">
                  <c:v>Containers</c:v>
                </c:pt>
                <c:pt idx="10">
                  <c:v>R</c:v>
                </c:pt>
                <c:pt idx="11">
                  <c:v>Computer Vision</c:v>
                </c:pt>
                <c:pt idx="12">
                  <c:v>Chatbot</c:v>
                </c:pt>
                <c:pt idx="13">
                  <c:v>Blockchain</c:v>
                </c:pt>
              </c:strCache>
            </c:strRef>
          </c:cat>
          <c:val>
            <c:numRef>
              <c:f>Sheet1!$B$2:$B$15</c:f>
              <c:numCache>
                <c:formatCode>General</c:formatCode>
                <c:ptCount val="14"/>
                <c:pt idx="0">
                  <c:v>78</c:v>
                </c:pt>
                <c:pt idx="1">
                  <c:v>69</c:v>
                </c:pt>
                <c:pt idx="2">
                  <c:v>60</c:v>
                </c:pt>
                <c:pt idx="3">
                  <c:v>56</c:v>
                </c:pt>
                <c:pt idx="4">
                  <c:v>38</c:v>
                </c:pt>
                <c:pt idx="5">
                  <c:v>37</c:v>
                </c:pt>
                <c:pt idx="6">
                  <c:v>36</c:v>
                </c:pt>
                <c:pt idx="7">
                  <c:v>28</c:v>
                </c:pt>
                <c:pt idx="8">
                  <c:v>19</c:v>
                </c:pt>
                <c:pt idx="9">
                  <c:v>17</c:v>
                </c:pt>
                <c:pt idx="10">
                  <c:v>17</c:v>
                </c:pt>
                <c:pt idx="11">
                  <c:v>10</c:v>
                </c:pt>
                <c:pt idx="12">
                  <c:v>4</c:v>
                </c:pt>
                <c:pt idx="13">
                  <c:v>4</c:v>
                </c:pt>
              </c:numCache>
            </c:numRef>
          </c:val>
        </c:ser>
        <c:dLbls>
          <c:numFmt formatCode="0" sourceLinked="0"/>
          <c:txPr>
            <a:bodyPr/>
            <a:lstStyle/>
            <a:p>
              <a:pPr>
                <a:defRPr sz="1100">
                  <a:solidFill>
                    <a:srgbClr val="262626"/>
                  </a:solidFill>
                  <a:latin typeface="Abad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none"/>
        <c:minorTickMark val="none"/>
        <c:tickLblPos val="nextTo"/>
        <c:spPr>
          <a:ln>
            <a:solidFill>
              <a:srgbClr val="C3C2B7"/>
            </a:solidFill>
          </a:ln>
        </c:spPr>
        <c:txPr>
          <a:bodyPr/>
          <a:lstStyle/>
          <a:p>
            <a:pPr>
              <a:defRPr sz="1200">
                <a:solidFill>
                  <a:srgbClr val="52514E"/>
                </a:solidFill>
                <a:latin typeface="Abadi"/>
              </a:defRPr>
            </a:pPr>
          </a:p>
        </c:txPr>
        <c:crossAx val="-2113994440"/>
        <c:crosses val="autoZero"/>
        <c:auto val="1"/>
        <c:lblAlgn val="ctr"/>
        <c:lblOffset val="100"/>
        <c:noMultiLvlLbl val="0"/>
      </c:catAx>
      <c:valAx>
        <c:axId val="-2113994440"/>
        <c:scaling>
          <c:max val="90.47999999999999"/>
        </c:scaling>
        <c:delete/>
        <c:axPos val="b"/>
        <c:majorTickMark val="none"/>
        <c:minorTickMark val="none"/>
        <c:tickLblPos val="nextTo"/>
        <c:crossAx val="-2068027336"/>
        <c:crosses val="autoZero"/>
      </c:valAx>
    </c:plotArea>
    <c:dispBlanksAs val="gap"/>
  </c:chart>
  <c:txPr>
    <a:bodyPr/>
    <a:lstStyle/>
    <a:p>
      <a:pPr>
        <a:defRPr sz="1200">
          <a:solidFill>
            <a:srgbClr val="52514E"/>
          </a:solidFill>
          <a:latin typeface="Abad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Users</c:v>
                </c:pt>
              </c:strCache>
            </c:strRef>
          </c:tx>
          <c:spPr>
            <a:solidFill>
              <a:srgbClr val="2A78D6"/>
            </a:solidFill>
            <a:ln>
              <a:noFill/>
            </a:ln>
          </c:spPr>
          <c:invertIfNegative val="0"/>
          <c:dPt>
            <c:idx val="0"/>
            <c:spPr>
              <a:solidFill>
                <a:srgbClr val="0B49CB"/>
              </a:solidFill>
            </c:spPr>
          </c:dPt>
          <c:dLbls>
            <c:dLbl>
              <c:idx val="0"/>
              <c:tx>
                <c:rich>
                  <a:bodyPr/>
                  <a:lstStyle/>
                  <a:p>
                    <a:r>
                      <a:rPr sz="1100" b="1">
                        <a:latin typeface="Abadi"/>
                      </a:rPr>
                      <a:t>8,320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Sheet1!$A$2:$A$32</c:f>
              <c:strCach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8320</c:v>
                </c:pt>
                <c:pt idx="1">
                  <c:v>382</c:v>
                </c:pt>
                <c:pt idx="2">
                  <c:v>102</c:v>
                </c:pt>
                <c:pt idx="3">
                  <c:v>35</c:v>
                </c:pt>
                <c:pt idx="4">
                  <c:v>6179</c:v>
                </c:pt>
                <c:pt idx="5">
                  <c:v>4455</c:v>
                </c:pt>
                <c:pt idx="6">
                  <c:v>3168</c:v>
                </c:pt>
                <c:pt idx="7">
                  <c:v>2344</c:v>
                </c:pt>
                <c:pt idx="8">
                  <c:v>1665</c:v>
                </c:pt>
                <c:pt idx="9">
                  <c:v>1408</c:v>
                </c:pt>
                <c:pt idx="10">
                  <c:v>1093</c:v>
                </c:pt>
                <c:pt idx="11">
                  <c:v>840</c:v>
                </c:pt>
                <c:pt idx="12">
                  <c:v>666</c:v>
                </c:pt>
                <c:pt idx="13">
                  <c:v>508</c:v>
                </c:pt>
                <c:pt idx="14">
                  <c:v>436</c:v>
                </c:pt>
                <c:pt idx="15">
                  <c:v>328</c:v>
                </c:pt>
                <c:pt idx="16">
                  <c:v>287</c:v>
                </c:pt>
                <c:pt idx="17">
                  <c:v>260</c:v>
                </c:pt>
                <c:pt idx="18">
                  <c:v>210</c:v>
                </c:pt>
                <c:pt idx="19">
                  <c:v>177</c:v>
                </c:pt>
                <c:pt idx="20">
                  <c:v>120</c:v>
                </c:pt>
                <c:pt idx="21">
                  <c:v>119</c:v>
                </c:pt>
                <c:pt idx="22">
                  <c:v>106</c:v>
                </c:pt>
                <c:pt idx="23">
                  <c:v>74</c:v>
                </c:pt>
                <c:pt idx="24">
                  <c:v>71</c:v>
                </c:pt>
                <c:pt idx="25">
                  <c:v>70</c:v>
                </c:pt>
                <c:pt idx="26">
                  <c:v>55</c:v>
                </c:pt>
                <c:pt idx="27">
                  <c:v>30</c:v>
                </c:pt>
                <c:pt idx="28">
                  <c:v>38</c:v>
                </c:pt>
                <c:pt idx="29">
                  <c:v>35</c:v>
                </c:pt>
                <c:pt idx="30">
                  <c:v>320</c:v>
                </c:pt>
              </c:numCache>
            </c:numRef>
          </c:val>
        </c:ser>
        <c:gapWidth val="25"/>
        <c:axId val="-2068027336"/>
        <c:axId val="-2113994440"/>
      </c:barChart>
      <c:catAx>
        <c:axId val="-2068027336"/>
        <c:scaling>
          <c:orientation val="minMax"/>
        </c:scaling>
        <c:delete val="0"/>
        <c:axPos val="b"/>
        <c:title>
          <c:tx>
            <c:rich>
              <a:bodyPr/>
              <a:lstStyle/>
              <a:p>
                <a:r>
                  <a:rPr sz="1100" b="0" i="0">
                    <a:solidFill>
                      <a:srgbClr val="898781"/>
                    </a:solidFill>
                    <a:latin typeface="Abadi"/>
                  </a:rPr>
                  <a:t>Number of courses a user enrolled in</a:t>
                </a:r>
              </a:p>
            </c:rich>
          </c:tx>
          <c:layout/>
          <c:overlay val="0"/>
        </c:title>
        <c:majorTickMark val="none"/>
        <c:minorTickMark val="none"/>
        <c:tickLblPos val="nextTo"/>
        <c:spPr>
          <a:ln>
            <a:solidFill>
              <a:srgbClr val="C3C2B7"/>
            </a:solidFill>
          </a:ln>
        </c:spPr>
        <c:txPr>
          <a:bodyPr/>
          <a:lstStyle/>
          <a:p>
            <a:pPr>
              <a:defRPr sz="1100">
                <a:solidFill>
                  <a:srgbClr val="52514E"/>
                </a:solidFill>
                <a:latin typeface="Abadi"/>
              </a:defRPr>
            </a:pPr>
          </a:p>
        </c:txPr>
        <c:crossAx val="-2113994440"/>
        <c:crosses val="autoZero"/>
        <c:auto val="1"/>
        <c:lblAlgn val="ctr"/>
        <c:lblOffset val="100"/>
        <c:noMultiLvlLbl val="0"/>
      </c:catAx>
      <c:valAx>
        <c:axId val="-2113994440"/>
        <c:scaling/>
        <c:delete val="0"/>
        <c:axPos val="l"/>
        <c:majorGridlines>
          <c:spPr>
            <a:ln w="9525">
              <a:solidFill>
                <a:srgbClr val="E1E0D9"/>
              </a:solidFill>
            </a:ln>
          </c:spPr>
        </c:majorGridlines>
        <c:title>
          <c:tx>
            <c:rich>
              <a:bodyPr/>
              <a:lstStyle/>
              <a:p>
                <a:r>
                  <a:rPr sz="1100" b="0" i="0">
                    <a:solidFill>
                      <a:srgbClr val="898781"/>
                    </a:solidFill>
                    <a:latin typeface="Abadi"/>
                  </a:rPr>
                  <a:t>Number of users</a:t>
                </a:r>
              </a:p>
            </c:rich>
          </c:tx>
          <c:layout/>
          <c:overlay val="0"/>
        </c:title>
        <c:numFmt formatCode="#,##0" sourceLinked="0"/>
        <c:majorTickMark val="none"/>
        <c:minorTickMark val="none"/>
        <c:tickLblPos val="nextTo"/>
        <c:spPr>
          <a:ln>
            <a:noFill/>
          </a:ln>
        </c:spPr>
        <c:txPr>
          <a:bodyPr/>
          <a:lstStyle/>
          <a:p>
            <a:pPr>
              <a:defRPr sz="1100">
                <a:solidFill>
                  <a:srgbClr val="898781"/>
                </a:solidFill>
                <a:latin typeface="Abadi"/>
              </a:defRPr>
            </a:pPr>
          </a:p>
        </c:txPr>
        <c:crossAx val="-2068027336"/>
        <c:crosses val="autoZero"/>
      </c:valAx>
    </c:plotArea>
    <c:dispBlanksAs val="gap"/>
  </c:chart>
  <c:txPr>
    <a:bodyPr/>
    <a:lstStyle/>
    <a:p>
      <a:pPr>
        <a:defRPr sz="1100">
          <a:solidFill>
            <a:srgbClr val="52514E"/>
          </a:solidFill>
          <a:latin typeface="Abad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Enrollments</c:v>
                </c:pt>
              </c:strCache>
            </c:strRef>
          </c:tx>
          <c:spPr>
            <a:solidFill>
              <a:srgbClr val="2A78D6"/>
            </a:solidFill>
            <a:ln>
              <a:noFill/>
            </a:ln>
          </c:spPr>
          <c:invertIfNegative val="0"/>
          <c:cat>
            <c:strRef>
              <c:f>Sheet1!$A$2:$A$21</c:f>
              <c:strCache>
                <c:ptCount val="20"/>
                <c:pt idx="0">
                  <c:v>Python for Data Science</c:v>
                </c:pt>
                <c:pt idx="1">
                  <c:v>Introduction to Data Science</c:v>
                </c:pt>
                <c:pt idx="2">
                  <c:v>Big Data 101</c:v>
                </c:pt>
                <c:pt idx="3">
                  <c:v>Hadoop 101</c:v>
                </c:pt>
                <c:pt idx="4">
                  <c:v>Data Analysis with Python</c:v>
                </c:pt>
                <c:pt idx="5">
                  <c:v>Data Science Methodology</c:v>
                </c:pt>
                <c:pt idx="6">
                  <c:v>Machine Learning with Python</c:v>
                </c:pt>
                <c:pt idx="7">
                  <c:v>Spark Fundamentals I</c:v>
                </c:pt>
                <c:pt idx="8">
                  <c:v>Data Science Hands on with Open Source Tools</c:v>
                </c:pt>
                <c:pt idx="9">
                  <c:v>Blockchain Essentials</c:v>
                </c:pt>
                <c:pt idx="10">
                  <c:v>Data Visualization with Python</c:v>
                </c:pt>
                <c:pt idx="11">
                  <c:v>Deep Learning 101</c:v>
                </c:pt>
                <c:pt idx="12">
                  <c:v>Build Your Own Chatbot</c:v>
                </c:pt>
                <c:pt idx="13">
                  <c:v>R for Data Science</c:v>
                </c:pt>
                <c:pt idx="14">
                  <c:v>Statistics 101</c:v>
                </c:pt>
                <c:pt idx="15">
                  <c:v>Introduction to Cloud</c:v>
                </c:pt>
                <c:pt idx="16">
                  <c:v>Docker Essentials a Developer Introduction</c:v>
                </c:pt>
                <c:pt idx="17">
                  <c:v>SQL and Relational Databases 101</c:v>
                </c:pt>
                <c:pt idx="18">
                  <c:v>MapReduce and Yarn</c:v>
                </c:pt>
                <c:pt idx="19">
                  <c:v>Data Privacy Fundamentals</c:v>
                </c:pt>
              </c:strCache>
            </c:strRef>
          </c:cat>
          <c:val>
            <c:numRef>
              <c:f>Sheet1!$B$2:$B$21</c:f>
              <c:numCache>
                <c:formatCode>General</c:formatCode>
                <c:ptCount val="20"/>
                <c:pt idx="0">
                  <c:v>14936</c:v>
                </c:pt>
                <c:pt idx="1">
                  <c:v>14477</c:v>
                </c:pt>
                <c:pt idx="2">
                  <c:v>13291</c:v>
                </c:pt>
                <c:pt idx="3">
                  <c:v>10599</c:v>
                </c:pt>
                <c:pt idx="4">
                  <c:v>8303</c:v>
                </c:pt>
                <c:pt idx="5">
                  <c:v>7719</c:v>
                </c:pt>
                <c:pt idx="6">
                  <c:v>7644</c:v>
                </c:pt>
                <c:pt idx="7">
                  <c:v>7551</c:v>
                </c:pt>
                <c:pt idx="8">
                  <c:v>7199</c:v>
                </c:pt>
                <c:pt idx="9">
                  <c:v>6719</c:v>
                </c:pt>
                <c:pt idx="10">
                  <c:v>6709</c:v>
                </c:pt>
                <c:pt idx="11">
                  <c:v>6323</c:v>
                </c:pt>
                <c:pt idx="12">
                  <c:v>5512</c:v>
                </c:pt>
                <c:pt idx="13">
                  <c:v>5237</c:v>
                </c:pt>
                <c:pt idx="14">
                  <c:v>5015</c:v>
                </c:pt>
                <c:pt idx="15">
                  <c:v>4983</c:v>
                </c:pt>
                <c:pt idx="16">
                  <c:v>4480</c:v>
                </c:pt>
                <c:pt idx="17">
                  <c:v>3697</c:v>
                </c:pt>
                <c:pt idx="18">
                  <c:v>3670</c:v>
                </c:pt>
                <c:pt idx="19">
                  <c:v>3624</c:v>
                </c:pt>
              </c:numCache>
            </c:numRef>
          </c:val>
        </c:ser>
        <c:dLbls>
          <c:numFmt formatCode="#,##0" sourceLinked="0"/>
          <c:txPr>
            <a:bodyPr/>
            <a:lstStyle/>
            <a:p>
              <a:pPr>
                <a:defRPr sz="1000">
                  <a:solidFill>
                    <a:srgbClr val="262626"/>
                  </a:solidFill>
                  <a:latin typeface="Abadi"/>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axMin"/>
        </c:scaling>
        <c:delete val="0"/>
        <c:axPos val="l"/>
        <c:majorTickMark val="none"/>
        <c:minorTickMark val="none"/>
        <c:tickLblPos val="nextTo"/>
        <c:spPr>
          <a:ln>
            <a:solidFill>
              <a:srgbClr val="C3C2B7"/>
            </a:solidFill>
          </a:ln>
        </c:spPr>
        <c:txPr>
          <a:bodyPr/>
          <a:lstStyle/>
          <a:p>
            <a:pPr>
              <a:defRPr sz="1050">
                <a:solidFill>
                  <a:srgbClr val="52514E"/>
                </a:solidFill>
                <a:latin typeface="Abadi"/>
              </a:defRPr>
            </a:pPr>
          </a:p>
        </c:txPr>
        <c:crossAx val="-2113994440"/>
        <c:crosses val="autoZero"/>
        <c:auto val="1"/>
        <c:lblAlgn val="ctr"/>
        <c:lblOffset val="100"/>
        <c:noMultiLvlLbl val="0"/>
      </c:catAx>
      <c:valAx>
        <c:axId val="-2113994440"/>
        <c:scaling>
          <c:max val="17325.76"/>
        </c:scaling>
        <c:delete/>
        <c:axPos val="b"/>
        <c:majorTickMark val="none"/>
        <c:minorTickMark val="none"/>
        <c:tickLblPos val="nextTo"/>
        <c:crossAx val="-2068027336"/>
        <c:crosses val="autoZero"/>
      </c:valAx>
    </c:plotArea>
    <c:dispBlanksAs val="gap"/>
  </c:chart>
  <c:txPr>
    <a:bodyPr/>
    <a:lstStyle/>
    <a:p>
      <a:pPr>
        <a:defRPr sz="1050">
          <a:solidFill>
            <a:srgbClr val="52514E"/>
          </a:solidFill>
          <a:latin typeface="Abad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Avg new courses per user</c:v>
                </c:pt>
              </c:strCache>
            </c:strRef>
          </c:tx>
          <c:spPr>
            <a:solidFill>
              <a:srgbClr val="9EC5F4"/>
            </a:solidFill>
            <a:ln>
              <a:noFill/>
            </a:ln>
          </c:spPr>
          <c:invertIfNegative val="0"/>
          <c:dPt>
            <c:idx val="3"/>
            <c:spPr>
              <a:solidFill>
                <a:srgbClr val="0B49CB"/>
              </a:solidFill>
            </c:spPr>
          </c:dPt>
          <c:cat>
            <c:strRef>
              <c:f>Sheet1!$A$2:$A$8</c:f>
              <c:strCache>
                <c:ptCount val="7"/>
                <c:pt idx="0">
                  <c:v>5</c:v>
                </c:pt>
                <c:pt idx="1">
                  <c:v>10</c:v>
                </c:pt>
                <c:pt idx="2">
                  <c:v>15</c:v>
                </c:pt>
                <c:pt idx="3">
                  <c:v>20</c:v>
                </c:pt>
                <c:pt idx="4">
                  <c:v>25</c:v>
                </c:pt>
                <c:pt idx="5">
                  <c:v>30</c:v>
                </c:pt>
                <c:pt idx="6">
                  <c:v>40</c:v>
                </c:pt>
              </c:strCache>
            </c:strRef>
          </c:cat>
          <c:val>
            <c:numRef>
              <c:f>Sheet1!$B$2:$B$8</c:f>
              <c:numCache>
                <c:formatCode>General</c:formatCode>
                <c:ptCount val="7"/>
                <c:pt idx="0">
                  <c:v>96.5</c:v>
                </c:pt>
                <c:pt idx="1">
                  <c:v>44.3</c:v>
                </c:pt>
                <c:pt idx="2">
                  <c:v>29.3</c:v>
                </c:pt>
                <c:pt idx="3">
                  <c:v>14.1</c:v>
                </c:pt>
                <c:pt idx="4">
                  <c:v>7.3</c:v>
                </c:pt>
                <c:pt idx="5">
                  <c:v>5.4</c:v>
                </c:pt>
                <c:pt idx="6">
                  <c:v>1.8</c:v>
                </c:pt>
              </c:numCache>
            </c:numRef>
          </c:val>
        </c:ser>
        <c:dLbls>
          <c:numFmt formatCode="0.0" sourceLinked="0"/>
          <c:txPr>
            <a:bodyPr/>
            <a:lstStyle/>
            <a:p>
              <a:pPr>
                <a:defRPr sz="1000">
                  <a:solidFill>
                    <a:srgbClr val="262626"/>
                  </a:solidFill>
                  <a:latin typeface="Abad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title>
          <c:tx>
            <c:rich>
              <a:bodyPr/>
              <a:lstStyle/>
              <a:p>
                <a:r>
                  <a:rPr sz="1050" b="0" i="0">
                    <a:solidFill>
                      <a:srgbClr val="898781"/>
                    </a:solidFill>
                    <a:latin typeface="Abadi"/>
                  </a:rPr>
                  <a:t>Threshold (selected value in dark blue)</a:t>
                </a:r>
              </a:p>
            </c:rich>
          </c:tx>
          <c:layout/>
          <c:overlay val="0"/>
        </c:title>
        <c:majorTickMark val="none"/>
        <c:minorTickMark val="none"/>
        <c:tickLblPos val="nextTo"/>
        <c:spPr>
          <a:ln>
            <a:solidFill>
              <a:srgbClr val="C3C2B7"/>
            </a:solidFill>
          </a:ln>
        </c:spPr>
        <c:txPr>
          <a:bodyPr/>
          <a:lstStyle/>
          <a:p>
            <a:pPr>
              <a:defRPr sz="1050">
                <a:solidFill>
                  <a:srgbClr val="52514E"/>
                </a:solidFill>
                <a:latin typeface="Abadi"/>
              </a:defRPr>
            </a:pPr>
          </a:p>
        </c:txPr>
        <c:crossAx val="-2113994440"/>
        <c:crosses val="autoZero"/>
        <c:auto val="1"/>
        <c:lblAlgn val="ctr"/>
        <c:lblOffset val="100"/>
        <c:noMultiLvlLbl val="0"/>
      </c:catAx>
      <c:valAx>
        <c:axId val="-2113994440"/>
        <c:scaling>
          <c:max val="108.08000000000001"/>
        </c:scaling>
        <c:delete/>
        <c:axPos val="l"/>
        <c:majorTickMark val="none"/>
        <c:minorTickMark val="none"/>
        <c:tickLblPos val="nextTo"/>
        <c:crossAx val="-2068027336"/>
        <c:crosses val="autoZero"/>
      </c:valAx>
    </c:plotArea>
    <c:dispBlanksAs val="gap"/>
  </c:chart>
  <c:txPr>
    <a:bodyPr/>
    <a:lstStyle/>
    <a:p>
      <a:pPr>
        <a:defRPr sz="1050">
          <a:solidFill>
            <a:srgbClr val="52514E"/>
          </a:solidFill>
          <a:latin typeface="Abad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Avg new courses per user</c:v>
                </c:pt>
              </c:strCache>
            </c:strRef>
          </c:tx>
          <c:spPr>
            <a:solidFill>
              <a:srgbClr val="9EC5F4"/>
            </a:solidFill>
            <a:ln>
              <a:noFill/>
            </a:ln>
          </c:spPr>
          <c:invertIfNegative val="0"/>
          <c:dPt>
            <c:idx val="2"/>
            <c:spPr>
              <a:solidFill>
                <a:srgbClr val="0B49CB"/>
              </a:solidFill>
            </c:spPr>
          </c:dPt>
          <c:cat>
            <c:strRef>
              <c:f>Sheet1!$A$2:$A$6</c:f>
              <c:strCache>
                <c:ptCount val="5"/>
                <c:pt idx="0">
                  <c:v>0.4</c:v>
                </c:pt>
                <c:pt idx="1">
                  <c:v>0.5</c:v>
                </c:pt>
                <c:pt idx="2">
                  <c:v>0.6</c:v>
                </c:pt>
                <c:pt idx="3">
                  <c:v>0.7</c:v>
                </c:pt>
                <c:pt idx="4">
                  <c:v>0.8</c:v>
                </c:pt>
              </c:strCache>
            </c:strRef>
          </c:cat>
          <c:val>
            <c:numRef>
              <c:f>Sheet1!$B$2:$B$6</c:f>
              <c:numCache>
                <c:formatCode>General</c:formatCode>
                <c:ptCount val="5"/>
                <c:pt idx="0">
                  <c:v>48.2</c:v>
                </c:pt>
                <c:pt idx="1">
                  <c:v>20.2</c:v>
                </c:pt>
                <c:pt idx="2">
                  <c:v>8.5</c:v>
                </c:pt>
                <c:pt idx="3">
                  <c:v>2.8</c:v>
                </c:pt>
                <c:pt idx="4">
                  <c:v>0.6</c:v>
                </c:pt>
              </c:numCache>
            </c:numRef>
          </c:val>
        </c:ser>
        <c:dLbls>
          <c:numFmt formatCode="0.0" sourceLinked="0"/>
          <c:txPr>
            <a:bodyPr/>
            <a:lstStyle/>
            <a:p>
              <a:pPr>
                <a:defRPr sz="1000">
                  <a:solidFill>
                    <a:srgbClr val="262626"/>
                  </a:solidFill>
                  <a:latin typeface="Abad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title>
          <c:tx>
            <c:rich>
              <a:bodyPr/>
              <a:lstStyle/>
              <a:p>
                <a:r>
                  <a:rPr sz="1050" b="0" i="0">
                    <a:solidFill>
                      <a:srgbClr val="898781"/>
                    </a:solidFill>
                    <a:latin typeface="Abadi"/>
                  </a:rPr>
                  <a:t>Threshold (selected value in dark blue)</a:t>
                </a:r>
              </a:p>
            </c:rich>
          </c:tx>
          <c:layout/>
          <c:overlay val="0"/>
        </c:title>
        <c:majorTickMark val="none"/>
        <c:minorTickMark val="none"/>
        <c:tickLblPos val="nextTo"/>
        <c:spPr>
          <a:ln>
            <a:solidFill>
              <a:srgbClr val="C3C2B7"/>
            </a:solidFill>
          </a:ln>
        </c:spPr>
        <c:txPr>
          <a:bodyPr/>
          <a:lstStyle/>
          <a:p>
            <a:pPr>
              <a:defRPr sz="1050">
                <a:solidFill>
                  <a:srgbClr val="52514E"/>
                </a:solidFill>
                <a:latin typeface="Abadi"/>
              </a:defRPr>
            </a:pPr>
          </a:p>
        </c:txPr>
        <c:crossAx val="-2113994440"/>
        <c:crosses val="autoZero"/>
        <c:auto val="1"/>
        <c:lblAlgn val="ctr"/>
        <c:lblOffset val="100"/>
        <c:noMultiLvlLbl val="0"/>
      </c:catAx>
      <c:valAx>
        <c:axId val="-2113994440"/>
        <c:scaling>
          <c:max val="53.98400000000001"/>
        </c:scaling>
        <c:delete/>
        <c:axPos val="l"/>
        <c:majorTickMark val="none"/>
        <c:minorTickMark val="none"/>
        <c:tickLblPos val="nextTo"/>
        <c:crossAx val="-2068027336"/>
        <c:crosses val="autoZero"/>
      </c:valAx>
    </c:plotArea>
    <c:dispBlanksAs val="gap"/>
  </c:chart>
  <c:txPr>
    <a:bodyPr/>
    <a:lstStyle/>
    <a:p>
      <a:pPr>
        <a:defRPr sz="1050">
          <a:solidFill>
            <a:srgbClr val="52514E"/>
          </a:solidFill>
          <a:latin typeface="Abad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K-means (k=8)</c:v>
                </c:pt>
              </c:strCache>
            </c:strRef>
          </c:tx>
          <c:spPr>
            <a:solidFill>
              <a:srgbClr val="9EC5F4"/>
            </a:solidFill>
            <a:ln>
              <a:noFill/>
            </a:ln>
          </c:spPr>
          <c:invertIfNegative val="0"/>
          <c:cat>
            <c:strRef>
              <c:f>Sheet1!$A$2:$A$8</c:f>
              <c:strCache>
                <c:ptCount val="7"/>
                <c:pt idx="0">
                  <c:v>100</c:v>
                </c:pt>
                <c:pt idx="1">
                  <c:v>200</c:v>
                </c:pt>
                <c:pt idx="2">
                  <c:v>300</c:v>
                </c:pt>
                <c:pt idx="3">
                  <c:v>400</c:v>
                </c:pt>
                <c:pt idx="4">
                  <c:v>500</c:v>
                </c:pt>
                <c:pt idx="5">
                  <c:v>750</c:v>
                </c:pt>
                <c:pt idx="6">
                  <c:v>1000</c:v>
                </c:pt>
              </c:strCache>
            </c:strRef>
          </c:cat>
          <c:val>
            <c:numRef>
              <c:f>Sheet1!$B$2:$B$8</c:f>
              <c:numCache>
                <c:formatCode>General</c:formatCode>
                <c:ptCount val="7"/>
                <c:pt idx="0">
                  <c:v>41.2</c:v>
                </c:pt>
                <c:pt idx="1">
                  <c:v>27.7</c:v>
                </c:pt>
                <c:pt idx="2">
                  <c:v>21.1</c:v>
                </c:pt>
                <c:pt idx="3">
                  <c:v>17.0</c:v>
                </c:pt>
                <c:pt idx="4">
                  <c:v>14.1</c:v>
                </c:pt>
                <c:pt idx="5">
                  <c:v>10.5</c:v>
                </c:pt>
                <c:pt idx="6">
                  <c:v>7.2</c:v>
                </c:pt>
              </c:numCache>
            </c:numRef>
          </c:val>
        </c:ser>
        <c:ser>
          <c:idx val="1"/>
          <c:order val="1"/>
          <c:tx>
            <c:strRef>
              <c:f>Sheet1!$C$1</c:f>
              <c:strCache>
                <c:ptCount val="1"/>
                <c:pt idx="0">
                  <c:v>PCA + K-means (k=8)</c:v>
                </c:pt>
              </c:strCache>
            </c:strRef>
          </c:tx>
          <c:spPr>
            <a:solidFill>
              <a:srgbClr val="0B49CB"/>
            </a:solidFill>
            <a:ln>
              <a:noFill/>
            </a:ln>
          </c:spPr>
          <c:invertIfNegative val="0"/>
          <c:cat>
            <c:strRef>
              <c:f>Sheet1!$A$2:$A$8</c:f>
              <c:strCache>
                <c:ptCount val="7"/>
                <c:pt idx="0">
                  <c:v>100</c:v>
                </c:pt>
                <c:pt idx="1">
                  <c:v>200</c:v>
                </c:pt>
                <c:pt idx="2">
                  <c:v>300</c:v>
                </c:pt>
                <c:pt idx="3">
                  <c:v>400</c:v>
                </c:pt>
                <c:pt idx="4">
                  <c:v>500</c:v>
                </c:pt>
                <c:pt idx="5">
                  <c:v>750</c:v>
                </c:pt>
                <c:pt idx="6">
                  <c:v>1000</c:v>
                </c:pt>
              </c:strCache>
            </c:strRef>
          </c:cat>
          <c:val>
            <c:numRef>
              <c:f>Sheet1!$C$2:$C$8</c:f>
              <c:numCache>
                <c:formatCode>General</c:formatCode>
                <c:ptCount val="7"/>
                <c:pt idx="0">
                  <c:v>40.9</c:v>
                </c:pt>
                <c:pt idx="1">
                  <c:v>27.6</c:v>
                </c:pt>
                <c:pt idx="2">
                  <c:v>21.6</c:v>
                </c:pt>
                <c:pt idx="3">
                  <c:v>17.4</c:v>
                </c:pt>
                <c:pt idx="4">
                  <c:v>13.7</c:v>
                </c:pt>
                <c:pt idx="5">
                  <c:v>10.5</c:v>
                </c:pt>
                <c:pt idx="6">
                  <c:v>7.2</c:v>
                </c:pt>
              </c:numCache>
            </c:numRef>
          </c:val>
        </c:ser>
        <c:dLbls>
          <c:numFmt formatCode="0.0" sourceLinked="0"/>
          <c:txPr>
            <a:bodyPr/>
            <a:lstStyle/>
            <a:p>
              <a:pPr>
                <a:defRPr sz="900">
                  <a:solidFill>
                    <a:srgbClr val="262626"/>
                  </a:solidFill>
                  <a:latin typeface="Abadi"/>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title>
          <c:tx>
            <c:rich>
              <a:bodyPr/>
              <a:lstStyle/>
              <a:p>
                <a:r>
                  <a:rPr sz="1000" b="0" i="0">
                    <a:solidFill>
                      <a:srgbClr val="898781"/>
                    </a:solidFill>
                    <a:latin typeface="Abadi"/>
                  </a:rPr>
                  <a:t>Popularity threshold (enrollments in the cluster)</a:t>
                </a:r>
              </a:p>
            </c:rich>
          </c:tx>
          <c:layout/>
          <c:overlay val="0"/>
        </c:title>
        <c:majorTickMark val="none"/>
        <c:minorTickMark val="none"/>
        <c:tickLblPos val="nextTo"/>
        <c:spPr>
          <a:ln>
            <a:solidFill>
              <a:srgbClr val="C3C2B7"/>
            </a:solidFill>
          </a:ln>
        </c:spPr>
        <c:txPr>
          <a:bodyPr/>
          <a:lstStyle/>
          <a:p>
            <a:pPr>
              <a:defRPr sz="1000">
                <a:solidFill>
                  <a:srgbClr val="52514E"/>
                </a:solidFill>
                <a:latin typeface="Abadi"/>
              </a:defRPr>
            </a:pPr>
          </a:p>
        </c:txPr>
        <c:crossAx val="-2113994440"/>
        <c:crosses val="autoZero"/>
        <c:auto val="1"/>
        <c:lblAlgn val="ctr"/>
        <c:lblOffset val="100"/>
        <c:noMultiLvlLbl val="0"/>
      </c:catAx>
      <c:valAx>
        <c:axId val="-2113994440"/>
        <c:scaling>
          <c:max val="46.144000000000005"/>
        </c:scaling>
        <c:delete/>
        <c:axPos val="l"/>
        <c:majorTickMark val="none"/>
        <c:minorTickMark val="none"/>
        <c:tickLblPos val="nextTo"/>
        <c:crossAx val="-2068027336"/>
        <c:crosses val="autoZero"/>
      </c:valAx>
    </c:plotArea>
    <c:legend>
      <c:legendPos val="t"/>
      <c:overlay val="0"/>
      <c:txPr>
        <a:bodyPr/>
        <a:lstStyle/>
        <a:p>
          <a:pPr>
            <a:defRPr sz="1000">
              <a:latin typeface="Abadi"/>
            </a:defRPr>
          </a:pPr>
        </a:p>
      </c:txPr>
    </c:legend>
    <c:dispBlanksAs val="gap"/>
  </c:chart>
  <c:txPr>
    <a:bodyPr/>
    <a:lstStyle/>
    <a:p>
      <a:pPr>
        <a:defRPr sz="1000">
          <a:solidFill>
            <a:srgbClr val="52514E"/>
          </a:solidFill>
          <a:latin typeface="Abad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RMSE</c:v>
                </c:pt>
              </c:strCache>
            </c:strRef>
          </c:tx>
          <c:spPr>
            <a:solidFill>
              <a:srgbClr val="9EC5F4"/>
            </a:solidFill>
            <a:ln>
              <a:noFill/>
            </a:ln>
          </c:spPr>
          <c:invertIfNegative val="0"/>
          <c:dPt>
            <c:idx val="5"/>
            <c:spPr>
              <a:solidFill>
                <a:srgbClr val="B4B2AA"/>
              </a:solidFill>
            </c:spPr>
          </c:dPt>
          <c:dPt>
            <c:idx val="0"/>
            <c:spPr>
              <a:solidFill>
                <a:srgbClr val="0B49CB"/>
              </a:solidFill>
            </c:spPr>
          </c:dPt>
          <c:cat>
            <c:strRef>
              <c:f>Sheet1!$A$2:$A$8</c:f>
              <c:strCache>
                <c:ptCount val="7"/>
                <c:pt idx="0">
                  <c:v>RecommenderNetV2</c:v>
                </c:pt>
                <c:pt idx="1">
                  <c:v>RecommenderNet (lab)</c:v>
                </c:pt>
                <c:pt idx="2">
                  <c:v>KNN item-based (cosine, k=40)</c:v>
                </c:pt>
                <c:pt idx="3">
                  <c:v>NMF (16 factors)</c:v>
                </c:pt>
                <c:pt idx="4">
                  <c:v>Ridge on embeddings</c:v>
                </c:pt>
                <c:pt idx="5">
                  <c:v>Global-mean baseline</c:v>
                </c:pt>
                <c:pt idx="6">
                  <c:v>SVD</c:v>
                </c:pt>
              </c:strCache>
            </c:strRef>
          </c:cat>
          <c:val>
            <c:numRef>
              <c:f>Sheet1!$B$2:$B$8</c:f>
              <c:numCache>
                <c:formatCode>General</c:formatCode>
                <c:ptCount val="7"/>
                <c:pt idx="0">
                  <c:v>0.1048</c:v>
                </c:pt>
                <c:pt idx="1">
                  <c:v>0.1517</c:v>
                </c:pt>
                <c:pt idx="2">
                  <c:v>0.1929</c:v>
                </c:pt>
                <c:pt idx="3">
                  <c:v>0.1944</c:v>
                </c:pt>
                <c:pt idx="4">
                  <c:v>0.2096</c:v>
                </c:pt>
                <c:pt idx="5">
                  <c:v>0.2104</c:v>
                </c:pt>
                <c:pt idx="6">
                  <c:v>0.2647</c:v>
                </c:pt>
              </c:numCache>
            </c:numRef>
          </c:val>
        </c:ser>
        <c:dLbls>
          <c:numFmt formatCode="0.0000" sourceLinked="0"/>
          <c:txPr>
            <a:bodyPr/>
            <a:lstStyle/>
            <a:p>
              <a:pPr>
                <a:defRPr sz="1000">
                  <a:solidFill>
                    <a:srgbClr val="262626"/>
                  </a:solidFill>
                  <a:latin typeface="Abadi"/>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none"/>
        <c:minorTickMark val="none"/>
        <c:tickLblPos val="nextTo"/>
        <c:spPr>
          <a:ln>
            <a:solidFill>
              <a:srgbClr val="C3C2B7"/>
            </a:solidFill>
          </a:ln>
        </c:spPr>
        <c:txPr>
          <a:bodyPr/>
          <a:lstStyle/>
          <a:p>
            <a:pPr>
              <a:defRPr sz="1050">
                <a:solidFill>
                  <a:srgbClr val="52514E"/>
                </a:solidFill>
                <a:latin typeface="Abadi"/>
              </a:defRPr>
            </a:pPr>
          </a:p>
        </c:txPr>
        <c:crossAx val="-2113994440"/>
        <c:crosses val="autoZero"/>
        <c:auto val="1"/>
        <c:lblAlgn val="ctr"/>
        <c:lblOffset val="100"/>
        <c:noMultiLvlLbl val="0"/>
      </c:catAx>
      <c:valAx>
        <c:axId val="-2113994440"/>
        <c:scaling>
          <c:max val="0.307052"/>
          <c:min val="0.0"/>
        </c:scaling>
        <c:delete/>
        <c:axPos val="b"/>
        <c:majorTickMark val="none"/>
        <c:minorTickMark val="none"/>
        <c:tickLblPos val="nextTo"/>
        <c:crossAx val="-2068027336"/>
        <c:crosses val="autoZero"/>
      </c:valAx>
    </c:plotArea>
    <c:dispBlanksAs val="gap"/>
  </c:chart>
  <c:txPr>
    <a:bodyPr/>
    <a:lstStyle/>
    <a:p>
      <a:pPr>
        <a:defRPr sz="1050">
          <a:solidFill>
            <a:srgbClr val="52514E"/>
          </a:solidFill>
          <a:latin typeface="Abad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RMSE</c:v>
                </c:pt>
              </c:strCache>
            </c:strRef>
          </c:tx>
          <c:spPr>
            <a:solidFill>
              <a:srgbClr val="9EC5F4"/>
            </a:solidFill>
            <a:ln>
              <a:noFill/>
            </a:ln>
          </c:spPr>
          <c:invertIfNegative val="0"/>
          <c:dPt>
            <c:idx val="0"/>
            <c:spPr>
              <a:solidFill>
                <a:srgbClr val="B4B2AA"/>
              </a:solidFill>
            </c:spPr>
          </c:dPt>
          <c:cat>
            <c:strRef>
              <c:f>Sheet1!$A$2:$A$8</c:f>
              <c:strCache>
                <c:ptCount val="7"/>
                <c:pt idx="0">
                  <c:v>Global-mean baseline</c:v>
                </c:pt>
                <c:pt idx="1">
                  <c:v>Ridge on embeddings</c:v>
                </c:pt>
                <c:pt idx="2">
                  <c:v>RecommenderNetV2</c:v>
                </c:pt>
                <c:pt idx="3">
                  <c:v>SVD</c:v>
                </c:pt>
                <c:pt idx="4">
                  <c:v>KNN item-based (cosine, k=40)</c:v>
                </c:pt>
                <c:pt idx="5">
                  <c:v>NMF (16 factors)</c:v>
                </c:pt>
                <c:pt idx="6">
                  <c:v>RecommenderNet (lab)</c:v>
                </c:pt>
              </c:strCache>
            </c:strRef>
          </c:cat>
          <c:val>
            <c:numRef>
              <c:f>Sheet1!$B$2:$B$8</c:f>
              <c:numCache>
                <c:formatCode>General</c:formatCode>
                <c:ptCount val="7"/>
                <c:pt idx="0">
                  <c:v>0.8138</c:v>
                </c:pt>
                <c:pt idx="1">
                  <c:v>0.8138</c:v>
                </c:pt>
                <c:pt idx="2">
                  <c:v>0.8143</c:v>
                </c:pt>
                <c:pt idx="3">
                  <c:v>0.839</c:v>
                </c:pt>
                <c:pt idx="4">
                  <c:v>0.8918</c:v>
                </c:pt>
                <c:pt idx="5">
                  <c:v>0.9453</c:v>
                </c:pt>
                <c:pt idx="6">
                  <c:v>1.2888</c:v>
                </c:pt>
              </c:numCache>
            </c:numRef>
          </c:val>
        </c:ser>
        <c:dLbls>
          <c:numFmt formatCode="0.0000" sourceLinked="0"/>
          <c:txPr>
            <a:bodyPr/>
            <a:lstStyle/>
            <a:p>
              <a:pPr>
                <a:defRPr sz="1000">
                  <a:solidFill>
                    <a:srgbClr val="262626"/>
                  </a:solidFill>
                  <a:latin typeface="Abadi"/>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none"/>
        <c:minorTickMark val="none"/>
        <c:tickLblPos val="nextTo"/>
        <c:spPr>
          <a:ln>
            <a:solidFill>
              <a:srgbClr val="C3C2B7"/>
            </a:solidFill>
          </a:ln>
        </c:spPr>
        <c:txPr>
          <a:bodyPr/>
          <a:lstStyle/>
          <a:p>
            <a:pPr>
              <a:defRPr sz="1050">
                <a:solidFill>
                  <a:srgbClr val="52514E"/>
                </a:solidFill>
                <a:latin typeface="Abadi"/>
              </a:defRPr>
            </a:pPr>
          </a:p>
        </c:txPr>
        <c:crossAx val="-2113994440"/>
        <c:crosses val="autoZero"/>
        <c:auto val="1"/>
        <c:lblAlgn val="ctr"/>
        <c:lblOffset val="100"/>
        <c:noMultiLvlLbl val="0"/>
      </c:catAx>
      <c:valAx>
        <c:axId val="-2113994440"/>
        <c:scaling>
          <c:max val="1.495008"/>
          <c:min val="0.0"/>
        </c:scaling>
        <c:delete/>
        <c:axPos val="b"/>
        <c:majorTickMark val="none"/>
        <c:minorTickMark val="none"/>
        <c:tickLblPos val="nextTo"/>
        <c:crossAx val="-2068027336"/>
        <c:crosses val="autoZero"/>
      </c:valAx>
    </c:plotArea>
    <c:dispBlanksAs val="gap"/>
  </c:chart>
  <c:txPr>
    <a:bodyPr/>
    <a:lstStyle/>
    <a:p>
      <a:pPr>
        <a:defRPr sz="1050">
          <a:solidFill>
            <a:srgbClr val="52514E"/>
          </a:solidFill>
          <a:latin typeface="Abad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cosine</c:v>
                </c:pt>
              </c:strCache>
            </c:strRef>
          </c:tx>
          <c:spPr>
            <a:ln w="25400">
              <a:solidFill>
                <a:srgbClr val="2A78D6"/>
              </a:solidFill>
            </a:ln>
          </c:spPr>
          <c:marker>
            <c:symbol val="circle"/>
            <c:size val="7"/>
            <c:spPr>
              <a:solidFill>
                <a:srgbClr val="2A78D6"/>
              </a:solidFill>
              <a:ln>
                <a:solidFill>
                  <a:srgbClr val="FFFFFF"/>
                </a:solidFill>
              </a:ln>
            </c:spPr>
          </c:marker>
          <c:cat>
            <c:strRef>
              <c:f>Sheet1!$A$2:$A$5</c:f>
              <c:strCache>
                <c:ptCount val="4"/>
                <c:pt idx="0">
                  <c:v>10</c:v>
                </c:pt>
                <c:pt idx="1">
                  <c:v>20</c:v>
                </c:pt>
                <c:pt idx="2">
                  <c:v>40</c:v>
                </c:pt>
                <c:pt idx="3">
                  <c:v>80</c:v>
                </c:pt>
              </c:strCache>
            </c:strRef>
          </c:cat>
          <c:val>
            <c:numRef>
              <c:f>Sheet1!$B$2:$B$5</c:f>
              <c:numCache>
                <c:formatCode>General</c:formatCode>
                <c:ptCount val="4"/>
                <c:pt idx="0">
                  <c:v>0.8983</c:v>
                </c:pt>
                <c:pt idx="1">
                  <c:v>0.8956</c:v>
                </c:pt>
                <c:pt idx="2">
                  <c:v>0.8955</c:v>
                </c:pt>
                <c:pt idx="3">
                  <c:v>0.8955</c:v>
                </c:pt>
              </c:numCache>
            </c:numRef>
          </c:val>
          <c:smooth val="0"/>
        </c:ser>
        <c:ser>
          <c:idx val="1"/>
          <c:order val="1"/>
          <c:tx>
            <c:strRef>
              <c:f>Sheet1!$C$1</c:f>
              <c:strCache>
                <c:ptCount val="1"/>
                <c:pt idx="0">
                  <c:v>msd</c:v>
                </c:pt>
              </c:strCache>
            </c:strRef>
          </c:tx>
          <c:spPr>
            <a:ln w="25400">
              <a:solidFill>
                <a:srgbClr val="EB6834"/>
              </a:solidFill>
            </a:ln>
          </c:spPr>
          <c:marker>
            <c:symbol val="circle"/>
            <c:size val="7"/>
            <c:spPr>
              <a:solidFill>
                <a:srgbClr val="EB6834"/>
              </a:solidFill>
              <a:ln>
                <a:solidFill>
                  <a:srgbClr val="FFFFFF"/>
                </a:solidFill>
              </a:ln>
            </c:spPr>
          </c:marker>
          <c:cat>
            <c:strRef>
              <c:f>Sheet1!$A$2:$A$5</c:f>
              <c:strCache>
                <c:ptCount val="4"/>
                <c:pt idx="0">
                  <c:v>10</c:v>
                </c:pt>
                <c:pt idx="1">
                  <c:v>20</c:v>
                </c:pt>
                <c:pt idx="2">
                  <c:v>40</c:v>
                </c:pt>
                <c:pt idx="3">
                  <c:v>80</c:v>
                </c:pt>
              </c:strCache>
            </c:strRef>
          </c:cat>
          <c:val>
            <c:numRef>
              <c:f>Sheet1!$C$2:$C$5</c:f>
              <c:numCache>
                <c:formatCode>General</c:formatCode>
                <c:ptCount val="4"/>
                <c:pt idx="0">
                  <c:v>0.8981</c:v>
                </c:pt>
                <c:pt idx="1">
                  <c:v>0.8957</c:v>
                </c:pt>
                <c:pt idx="2">
                  <c:v>0.8955</c:v>
                </c:pt>
                <c:pt idx="3">
                  <c:v>0.8955</c:v>
                </c:pt>
              </c:numCache>
            </c:numRef>
          </c:val>
          <c:smooth val="0"/>
        </c:ser>
        <c:ser>
          <c:idx val="2"/>
          <c:order val="2"/>
          <c:tx>
            <c:strRef>
              <c:f>Sheet1!$D$1</c:f>
              <c:strCache>
                <c:ptCount val="1"/>
                <c:pt idx="0">
                  <c:v>pearson</c:v>
                </c:pt>
              </c:strCache>
            </c:strRef>
          </c:tx>
          <c:spPr>
            <a:ln w="25400">
              <a:solidFill>
                <a:srgbClr val="1BAF7A"/>
              </a:solidFill>
            </a:ln>
          </c:spPr>
          <c:marker>
            <c:symbol val="circle"/>
            <c:size val="7"/>
            <c:spPr>
              <a:solidFill>
                <a:srgbClr val="1BAF7A"/>
              </a:solidFill>
              <a:ln>
                <a:solidFill>
                  <a:srgbClr val="FFFFFF"/>
                </a:solidFill>
              </a:ln>
            </c:spPr>
          </c:marker>
          <c:cat>
            <c:strRef>
              <c:f>Sheet1!$A$2:$A$5</c:f>
              <c:strCache>
                <c:ptCount val="4"/>
                <c:pt idx="0">
                  <c:v>10</c:v>
                </c:pt>
                <c:pt idx="1">
                  <c:v>20</c:v>
                </c:pt>
                <c:pt idx="2">
                  <c:v>40</c:v>
                </c:pt>
                <c:pt idx="3">
                  <c:v>80</c:v>
                </c:pt>
              </c:strCache>
            </c:strRef>
          </c:cat>
          <c:val>
            <c:numRef>
              <c:f>Sheet1!$D$2:$D$5</c:f>
              <c:numCache>
                <c:formatCode>General</c:formatCode>
                <c:ptCount val="4"/>
                <c:pt idx="0">
                  <c:v>0.989</c:v>
                </c:pt>
                <c:pt idx="1">
                  <c:v>0.9886</c:v>
                </c:pt>
                <c:pt idx="2">
                  <c:v>0.9886</c:v>
                </c:pt>
                <c:pt idx="3">
                  <c:v>0.9886</c:v>
                </c:pt>
              </c:numCache>
            </c:numRef>
          </c:val>
          <c:smooth val="0"/>
        </c:ser>
        <c:marker val="1"/>
        <c:smooth val="0"/>
        <c:axId val="2118791784"/>
        <c:axId val="2140495176"/>
      </c:lineChart>
      <c:catAx>
        <c:axId val="2118791784"/>
        <c:scaling>
          <c:orientation val="minMax"/>
        </c:scaling>
        <c:delete val="0"/>
        <c:axPos val="b"/>
        <c:title>
          <c:tx>
            <c:rich>
              <a:bodyPr/>
              <a:lstStyle/>
              <a:p>
                <a:r>
                  <a:rPr sz="1000" b="0" i="0">
                    <a:solidFill>
                      <a:srgbClr val="898781"/>
                    </a:solidFill>
                    <a:latin typeface="Abadi"/>
                  </a:rPr>
                  <a:t>k (neighbours)</a:t>
                </a:r>
              </a:p>
            </c:rich>
          </c:tx>
          <c:layout/>
          <c:overlay val="0"/>
        </c:title>
        <c:majorTickMark val="none"/>
        <c:minorTickMark val="none"/>
        <c:tickLblPos val="nextTo"/>
        <c:spPr>
          <a:ln>
            <a:solidFill>
              <a:srgbClr val="C3C2B7"/>
            </a:solidFill>
          </a:ln>
        </c:spPr>
        <c:txPr>
          <a:bodyPr/>
          <a:lstStyle/>
          <a:p>
            <a:pPr>
              <a:defRPr sz="1000">
                <a:solidFill>
                  <a:srgbClr val="52514E"/>
                </a:solidFill>
                <a:latin typeface="Abadi"/>
              </a:defRPr>
            </a:pPr>
          </a:p>
        </c:txPr>
        <c:crossAx val="2140495176"/>
        <c:crosses val="autoZero"/>
        <c:auto val="1"/>
        <c:lblAlgn val="ctr"/>
        <c:lblOffset val="100"/>
        <c:noMultiLvlLbl val="0"/>
      </c:catAx>
      <c:valAx>
        <c:axId val="2140495176"/>
        <c:scaling/>
        <c:delete val="0"/>
        <c:axPos val="l"/>
        <c:majorGridlines>
          <c:spPr>
            <a:ln w="9525">
              <a:solidFill>
                <a:srgbClr val="E1E0D9"/>
              </a:solidFill>
            </a:ln>
          </c:spPr>
        </c:majorGridlines>
        <c:numFmt formatCode="0.000" sourceLinked="0"/>
        <c:majorTickMark val="none"/>
        <c:minorTickMark val="none"/>
        <c:tickLblPos val="nextTo"/>
        <c:spPr>
          <a:ln>
            <a:noFill/>
          </a:ln>
        </c:spPr>
        <c:txPr>
          <a:bodyPr/>
          <a:lstStyle/>
          <a:p>
            <a:pPr>
              <a:defRPr sz="1000">
                <a:solidFill>
                  <a:srgbClr val="898781"/>
                </a:solidFill>
                <a:latin typeface="Abadi"/>
              </a:defRPr>
            </a:pPr>
          </a:p>
        </c:txPr>
        <c:crossAx val="2118791784"/>
        <c:crosses val="autoZero"/>
      </c:valAx>
    </c:plotArea>
    <c:legend>
      <c:legendPos val="t"/>
      <c:layout/>
      <c:overlay val="0"/>
      <c:txPr>
        <a:bodyPr/>
        <a:lstStyle/>
        <a:p>
          <a:pPr>
            <a:defRPr sz="1000"/>
          </a:pPr>
        </a:p>
      </c:txPr>
    </c:legend>
    <c:plotVisOnly val="1"/>
    <c:dispBlanksAs val="gap"/>
    <c:showDLblsOverMax val="0"/>
  </c:chart>
  <c:txPr>
    <a:bodyPr/>
    <a:lstStyle/>
    <a:p>
      <a:pPr>
        <a:defRPr sz="1000">
          <a:solidFill>
            <a:srgbClr val="52514E"/>
          </a:solidFill>
          <a:latin typeface="Abad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init 0.0-1.0, 20 epochs</c:v>
                </c:pt>
              </c:strCache>
            </c:strRef>
          </c:tx>
          <c:spPr>
            <a:ln w="25400">
              <a:solidFill>
                <a:srgbClr val="2A78D6"/>
              </a:solidFill>
            </a:ln>
          </c:spPr>
          <c:marker>
            <c:symbol val="circle"/>
            <c:size val="7"/>
            <c:spPr>
              <a:solidFill>
                <a:srgbClr val="2A78D6"/>
              </a:solidFill>
              <a:ln>
                <a:solidFill>
                  <a:srgbClr val="FFFFFF"/>
                </a:solidFill>
              </a:ln>
            </c:spPr>
          </c:marker>
          <c:cat>
            <c:strRef>
              <c:f>Sheet1!$A$2:$A$5</c:f>
              <c:strCache>
                <c:ptCount val="4"/>
                <c:pt idx="0">
                  <c:v>8</c:v>
                </c:pt>
                <c:pt idx="1">
                  <c:v>16</c:v>
                </c:pt>
                <c:pt idx="2">
                  <c:v>32</c:v>
                </c:pt>
                <c:pt idx="3">
                  <c:v>64</c:v>
                </c:pt>
              </c:strCache>
            </c:strRef>
          </c:cat>
          <c:val>
            <c:numRef>
              <c:f>Sheet1!$B$2:$B$5</c:f>
              <c:numCache>
                <c:formatCode>General</c:formatCode>
                <c:ptCount val="4"/>
                <c:pt idx="0">
                  <c:v>1.2052</c:v>
                </c:pt>
                <c:pt idx="1">
                  <c:v>0.9505</c:v>
                </c:pt>
                <c:pt idx="2">
                  <c:v>1.2112</c:v>
                </c:pt>
                <c:pt idx="3">
                  <c:v>1.2784</c:v>
                </c:pt>
              </c:numCache>
            </c:numRef>
          </c:val>
          <c:smooth val="0"/>
        </c:ser>
        <c:ser>
          <c:idx val="1"/>
          <c:order val="1"/>
          <c:tx>
            <c:strRef>
              <c:f>Sheet1!$C$1</c:f>
              <c:strCache>
                <c:ptCount val="1"/>
                <c:pt idx="0">
                  <c:v>init 0.0-1.0, 50 epochs</c:v>
                </c:pt>
              </c:strCache>
            </c:strRef>
          </c:tx>
          <c:spPr>
            <a:ln w="25400">
              <a:solidFill>
                <a:srgbClr val="86B6EF"/>
              </a:solidFill>
            </a:ln>
          </c:spPr>
          <c:marker>
            <c:symbol val="circle"/>
            <c:size val="7"/>
            <c:spPr>
              <a:solidFill>
                <a:srgbClr val="86B6EF"/>
              </a:solidFill>
              <a:ln>
                <a:solidFill>
                  <a:srgbClr val="FFFFFF"/>
                </a:solidFill>
              </a:ln>
            </c:spPr>
          </c:marker>
          <c:cat>
            <c:strRef>
              <c:f>Sheet1!$A$2:$A$5</c:f>
              <c:strCache>
                <c:ptCount val="4"/>
                <c:pt idx="0">
                  <c:v>8</c:v>
                </c:pt>
                <c:pt idx="1">
                  <c:v>16</c:v>
                </c:pt>
                <c:pt idx="2">
                  <c:v>32</c:v>
                </c:pt>
                <c:pt idx="3">
                  <c:v>64</c:v>
                </c:pt>
              </c:strCache>
            </c:strRef>
          </c:cat>
          <c:val>
            <c:numRef>
              <c:f>Sheet1!$C$2:$C$5</c:f>
              <c:numCache>
                <c:formatCode>General</c:formatCode>
                <c:ptCount val="4"/>
                <c:pt idx="0">
                  <c:v>1.0218</c:v>
                </c:pt>
                <c:pt idx="1">
                  <c:v>0.9611</c:v>
                </c:pt>
                <c:pt idx="2">
                  <c:v>0.958</c:v>
                </c:pt>
                <c:pt idx="3">
                  <c:v>1.0341</c:v>
                </c:pt>
              </c:numCache>
            </c:numRef>
          </c:val>
          <c:smooth val="0"/>
        </c:ser>
        <c:ser>
          <c:idx val="2"/>
          <c:order val="2"/>
          <c:tx>
            <c:strRef>
              <c:f>Sheet1!$D$1</c:f>
              <c:strCache>
                <c:ptCount val="1"/>
                <c:pt idx="0">
                  <c:v>init 0.5-5.0, 20 epochs</c:v>
                </c:pt>
              </c:strCache>
            </c:strRef>
          </c:tx>
          <c:spPr>
            <a:ln w="25400">
              <a:solidFill>
                <a:srgbClr val="EB6834"/>
              </a:solidFill>
            </a:ln>
          </c:spPr>
          <c:marker>
            <c:symbol val="circle"/>
            <c:size val="7"/>
            <c:spPr>
              <a:solidFill>
                <a:srgbClr val="EB6834"/>
              </a:solidFill>
              <a:ln>
                <a:solidFill>
                  <a:srgbClr val="FFFFFF"/>
                </a:solidFill>
              </a:ln>
            </c:spPr>
          </c:marker>
          <c:cat>
            <c:strRef>
              <c:f>Sheet1!$A$2:$A$5</c:f>
              <c:strCache>
                <c:ptCount val="4"/>
                <c:pt idx="0">
                  <c:v>8</c:v>
                </c:pt>
                <c:pt idx="1">
                  <c:v>16</c:v>
                </c:pt>
                <c:pt idx="2">
                  <c:v>32</c:v>
                </c:pt>
                <c:pt idx="3">
                  <c:v>64</c:v>
                </c:pt>
              </c:strCache>
            </c:strRef>
          </c:cat>
          <c:val>
            <c:numRef>
              <c:f>Sheet1!$D$2:$D$5</c:f>
              <c:numCache>
                <c:formatCode>General</c:formatCode>
                <c:ptCount val="4"/>
                <c:pt idx="0">
                  <c:v>1.2806</c:v>
                </c:pt>
                <c:pt idx="1">
                  <c:v>1.2806</c:v>
                </c:pt>
                <c:pt idx="2">
                  <c:v>1.2806</c:v>
                </c:pt>
                <c:pt idx="3">
                  <c:v>1.2806</c:v>
                </c:pt>
              </c:numCache>
            </c:numRef>
          </c:val>
          <c:smooth val="0"/>
        </c:ser>
        <c:ser>
          <c:idx val="3"/>
          <c:order val="3"/>
          <c:tx>
            <c:strRef>
              <c:f>Sheet1!$E$1</c:f>
              <c:strCache>
                <c:ptCount val="1"/>
                <c:pt idx="0">
                  <c:v>init 0.5-5.0, 50 epochs</c:v>
                </c:pt>
              </c:strCache>
            </c:strRef>
          </c:tx>
          <c:spPr>
            <a:ln w="25400">
              <a:solidFill>
                <a:srgbClr val="F4A582"/>
              </a:solidFill>
            </a:ln>
          </c:spPr>
          <c:marker>
            <c:symbol val="circle"/>
            <c:size val="7"/>
            <c:spPr>
              <a:solidFill>
                <a:srgbClr val="F4A582"/>
              </a:solidFill>
              <a:ln>
                <a:solidFill>
                  <a:srgbClr val="FFFFFF"/>
                </a:solidFill>
              </a:ln>
            </c:spPr>
          </c:marker>
          <c:cat>
            <c:strRef>
              <c:f>Sheet1!$A$2:$A$5</c:f>
              <c:strCache>
                <c:ptCount val="4"/>
                <c:pt idx="0">
                  <c:v>8</c:v>
                </c:pt>
                <c:pt idx="1">
                  <c:v>16</c:v>
                </c:pt>
                <c:pt idx="2">
                  <c:v>32</c:v>
                </c:pt>
                <c:pt idx="3">
                  <c:v>64</c:v>
                </c:pt>
              </c:strCache>
            </c:strRef>
          </c:cat>
          <c:val>
            <c:numRef>
              <c:f>Sheet1!$E$2:$E$5</c:f>
              <c:numCache>
                <c:formatCode>General</c:formatCode>
                <c:ptCount val="4"/>
                <c:pt idx="0">
                  <c:v>1.2097</c:v>
                </c:pt>
                <c:pt idx="1">
                  <c:v>1.2275</c:v>
                </c:pt>
                <c:pt idx="2">
                  <c:v>1.2421</c:v>
                </c:pt>
                <c:pt idx="3">
                  <c:v>1.2516</c:v>
                </c:pt>
              </c:numCache>
            </c:numRef>
          </c:val>
          <c:smooth val="0"/>
        </c:ser>
        <c:marker val="1"/>
        <c:smooth val="0"/>
        <c:axId val="2118791784"/>
        <c:axId val="2140495176"/>
      </c:lineChart>
      <c:catAx>
        <c:axId val="2118791784"/>
        <c:scaling>
          <c:orientation val="minMax"/>
        </c:scaling>
        <c:delete val="0"/>
        <c:axPos val="b"/>
        <c:title>
          <c:tx>
            <c:rich>
              <a:bodyPr/>
              <a:lstStyle/>
              <a:p>
                <a:r>
                  <a:rPr sz="1000" b="0" i="0">
                    <a:solidFill>
                      <a:srgbClr val="898781"/>
                    </a:solidFill>
                    <a:latin typeface="Abadi"/>
                  </a:rPr>
                  <a:t>latent factors</a:t>
                </a:r>
              </a:p>
            </c:rich>
          </c:tx>
          <c:layout/>
          <c:overlay val="0"/>
        </c:title>
        <c:majorTickMark val="none"/>
        <c:minorTickMark val="none"/>
        <c:tickLblPos val="nextTo"/>
        <c:spPr>
          <a:ln>
            <a:solidFill>
              <a:srgbClr val="C3C2B7"/>
            </a:solidFill>
          </a:ln>
        </c:spPr>
        <c:txPr>
          <a:bodyPr/>
          <a:lstStyle/>
          <a:p>
            <a:pPr>
              <a:defRPr sz="1000">
                <a:solidFill>
                  <a:srgbClr val="52514E"/>
                </a:solidFill>
                <a:latin typeface="Abadi"/>
              </a:defRPr>
            </a:pPr>
          </a:p>
        </c:txPr>
        <c:crossAx val="2140495176"/>
        <c:crosses val="autoZero"/>
        <c:auto val="1"/>
        <c:lblAlgn val="ctr"/>
        <c:lblOffset val="100"/>
        <c:noMultiLvlLbl val="0"/>
      </c:catAx>
      <c:valAx>
        <c:axId val="2140495176"/>
        <c:scaling>
          <c:max val="1.4"/>
          <c:min val="0.8"/>
        </c:scaling>
        <c:delete val="0"/>
        <c:axPos val="l"/>
        <c:majorGridlines>
          <c:spPr>
            <a:ln w="9525">
              <a:solidFill>
                <a:srgbClr val="E1E0D9"/>
              </a:solidFill>
            </a:ln>
          </c:spPr>
        </c:majorGridlines>
        <c:numFmt formatCode="0.00" sourceLinked="0"/>
        <c:majorTickMark val="none"/>
        <c:minorTickMark val="none"/>
        <c:tickLblPos val="nextTo"/>
        <c:spPr>
          <a:ln>
            <a:noFill/>
          </a:ln>
        </c:spPr>
        <c:txPr>
          <a:bodyPr/>
          <a:lstStyle/>
          <a:p>
            <a:pPr>
              <a:defRPr sz="1000">
                <a:solidFill>
                  <a:srgbClr val="898781"/>
                </a:solidFill>
                <a:latin typeface="Abadi"/>
              </a:defRPr>
            </a:pPr>
          </a:p>
        </c:txPr>
        <c:crossAx val="2118791784"/>
        <c:crosses val="autoZero"/>
      </c:valAx>
    </c:plotArea>
    <c:legend>
      <c:legendPos val="t"/>
      <c:layout/>
      <c:overlay val="0"/>
      <c:txPr>
        <a:bodyPr/>
        <a:lstStyle/>
        <a:p>
          <a:pPr>
            <a:defRPr sz="1000"/>
          </a:pPr>
        </a:p>
      </c:txPr>
    </c:legend>
    <c:plotVisOnly val="1"/>
    <c:dispBlanksAs val="gap"/>
    <c:showDLblsOverMax val="0"/>
  </c:chart>
  <c:txPr>
    <a:bodyPr/>
    <a:lstStyle/>
    <a:p>
      <a:pPr>
        <a:defRPr sz="1000">
          <a:solidFill>
            <a:srgbClr val="52514E"/>
          </a:solidFill>
          <a:latin typeface="Abad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Raw features</c:v>
                </c:pt>
              </c:strCache>
            </c:strRef>
          </c:tx>
          <c:spPr>
            <a:ln w="25400">
              <a:solidFill>
                <a:srgbClr val="2A78D6"/>
              </a:solidFill>
            </a:ln>
          </c:spPr>
          <c:marker>
            <c:symbol val="circle"/>
            <c:size val="7"/>
            <c:spPr>
              <a:solidFill>
                <a:srgbClr val="2A78D6"/>
              </a:solidFill>
              <a:ln>
                <a:solidFill>
                  <a:srgbClr val="FFFFFF"/>
                </a:solidFill>
              </a:ln>
            </c:spPr>
          </c:marker>
          <c:cat>
            <c:strRef>
              <c:f>Sheet1!$A$2:$A$30</c:f>
              <c:strCache>
                <c:ptCount val="2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strCache>
            </c:strRef>
          </c:cat>
          <c:val>
            <c:numRef>
              <c:f>Sheet1!$B$2:$B$30</c:f>
              <c:numCache>
                <c:formatCode>General</c:formatCode>
                <c:ptCount val="29"/>
                <c:pt idx="0">
                  <c:v>474.6</c:v>
                </c:pt>
                <c:pt idx="1">
                  <c:v>398.2</c:v>
                </c:pt>
                <c:pt idx="2">
                  <c:v>351.9</c:v>
                </c:pt>
                <c:pt idx="3">
                  <c:v>316.6</c:v>
                </c:pt>
                <c:pt idx="4">
                  <c:v>282.8</c:v>
                </c:pt>
                <c:pt idx="5">
                  <c:v>258.0</c:v>
                </c:pt>
                <c:pt idx="6">
                  <c:v>234.4</c:v>
                </c:pt>
                <c:pt idx="7">
                  <c:v>215.9</c:v>
                </c:pt>
                <c:pt idx="8">
                  <c:v>203.7</c:v>
                </c:pt>
                <c:pt idx="9">
                  <c:v>192.4</c:v>
                </c:pt>
                <c:pt idx="10">
                  <c:v>183.3</c:v>
                </c:pt>
                <c:pt idx="11">
                  <c:v>176.1</c:v>
                </c:pt>
                <c:pt idx="12">
                  <c:v>170.4</c:v>
                </c:pt>
                <c:pt idx="13">
                  <c:v>165.1</c:v>
                </c:pt>
                <c:pt idx="14">
                  <c:v>160.1</c:v>
                </c:pt>
                <c:pt idx="15">
                  <c:v>156.1</c:v>
                </c:pt>
                <c:pt idx="16">
                  <c:v>151.6</c:v>
                </c:pt>
                <c:pt idx="17">
                  <c:v>148.5</c:v>
                </c:pt>
                <c:pt idx="18">
                  <c:v>145.4</c:v>
                </c:pt>
                <c:pt idx="19">
                  <c:v>143.1</c:v>
                </c:pt>
                <c:pt idx="20">
                  <c:v>140.5</c:v>
                </c:pt>
                <c:pt idx="21">
                  <c:v>139.0</c:v>
                </c:pt>
                <c:pt idx="22">
                  <c:v>136.1</c:v>
                </c:pt>
                <c:pt idx="23">
                  <c:v>133.5</c:v>
                </c:pt>
                <c:pt idx="24">
                  <c:v>132.5</c:v>
                </c:pt>
                <c:pt idx="25">
                  <c:v>130.2</c:v>
                </c:pt>
                <c:pt idx="26">
                  <c:v>128.9</c:v>
                </c:pt>
                <c:pt idx="27">
                  <c:v>127.1</c:v>
                </c:pt>
                <c:pt idx="28">
                  <c:v>125.7</c:v>
                </c:pt>
              </c:numCache>
            </c:numRef>
          </c:val>
          <c:smooth val="0"/>
        </c:ser>
        <c:ser>
          <c:idx val="1"/>
          <c:order val="1"/>
          <c:tx>
            <c:strRef>
              <c:f>Sheet1!$C$1</c:f>
              <c:strCache>
                <c:ptCount val="1"/>
                <c:pt idx="0">
                  <c:v>PCA features</c:v>
                </c:pt>
              </c:strCache>
            </c:strRef>
          </c:tx>
          <c:spPr>
            <a:ln w="25400">
              <a:solidFill>
                <a:srgbClr val="EB6834"/>
              </a:solidFill>
            </a:ln>
          </c:spPr>
          <c:marker>
            <c:symbol val="circle"/>
            <c:size val="7"/>
            <c:spPr>
              <a:solidFill>
                <a:srgbClr val="EB6834"/>
              </a:solidFill>
              <a:ln>
                <a:solidFill>
                  <a:srgbClr val="FFFFFF"/>
                </a:solidFill>
              </a:ln>
            </c:spPr>
          </c:marker>
          <c:cat>
            <c:strRef>
              <c:f>Sheet1!$A$2:$A$30</c:f>
              <c:strCache>
                <c:ptCount val="2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strCache>
            </c:strRef>
          </c:cat>
          <c:val>
            <c:numRef>
              <c:f>Sheet1!$C$2:$C$30</c:f>
              <c:numCache>
                <c:formatCode>General</c:formatCode>
                <c:ptCount val="29"/>
                <c:pt idx="0">
                  <c:v>440.1</c:v>
                </c:pt>
                <c:pt idx="1">
                  <c:v>363.8</c:v>
                </c:pt>
                <c:pt idx="2">
                  <c:v>317.6</c:v>
                </c:pt>
                <c:pt idx="3">
                  <c:v>282.4</c:v>
                </c:pt>
                <c:pt idx="4">
                  <c:v>248.6</c:v>
                </c:pt>
                <c:pt idx="5">
                  <c:v>224.1</c:v>
                </c:pt>
                <c:pt idx="6">
                  <c:v>200.5</c:v>
                </c:pt>
                <c:pt idx="7">
                  <c:v>182.1</c:v>
                </c:pt>
                <c:pt idx="8">
                  <c:v>170.0</c:v>
                </c:pt>
                <c:pt idx="9">
                  <c:v>158.7</c:v>
                </c:pt>
                <c:pt idx="10">
                  <c:v>149.7</c:v>
                </c:pt>
                <c:pt idx="11">
                  <c:v>142.8</c:v>
                </c:pt>
                <c:pt idx="12">
                  <c:v>136.9</c:v>
                </c:pt>
                <c:pt idx="13">
                  <c:v>131.7</c:v>
                </c:pt>
                <c:pt idx="14">
                  <c:v>126.8</c:v>
                </c:pt>
                <c:pt idx="15">
                  <c:v>123.1</c:v>
                </c:pt>
                <c:pt idx="16">
                  <c:v>119.7</c:v>
                </c:pt>
                <c:pt idx="17">
                  <c:v>116.6</c:v>
                </c:pt>
                <c:pt idx="18">
                  <c:v>114.0</c:v>
                </c:pt>
                <c:pt idx="19">
                  <c:v>111.1</c:v>
                </c:pt>
                <c:pt idx="20">
                  <c:v>109.1</c:v>
                </c:pt>
                <c:pt idx="21">
                  <c:v>106.7</c:v>
                </c:pt>
                <c:pt idx="22">
                  <c:v>104.9</c:v>
                </c:pt>
                <c:pt idx="23">
                  <c:v>102.9</c:v>
                </c:pt>
                <c:pt idx="24">
                  <c:v>101.4</c:v>
                </c:pt>
                <c:pt idx="25">
                  <c:v>99.5</c:v>
                </c:pt>
                <c:pt idx="26">
                  <c:v>97.7</c:v>
                </c:pt>
                <c:pt idx="27">
                  <c:v>96.7</c:v>
                </c:pt>
                <c:pt idx="28">
                  <c:v>94.7</c:v>
                </c:pt>
              </c:numCache>
            </c:numRef>
          </c:val>
          <c:smooth val="0"/>
        </c:ser>
        <c:marker val="1"/>
        <c:smooth val="0"/>
        <c:axId val="2118791784"/>
        <c:axId val="2140495176"/>
      </c:lineChart>
      <c:catAx>
        <c:axId val="2118791784"/>
        <c:scaling>
          <c:orientation val="minMax"/>
        </c:scaling>
        <c:delete val="0"/>
        <c:axPos val="b"/>
        <c:title>
          <c:tx>
            <c:rich>
              <a:bodyPr/>
              <a:lstStyle/>
              <a:p>
                <a:r>
                  <a:rPr sz="1000" b="0" i="0">
                    <a:solidFill>
                      <a:srgbClr val="898781"/>
                    </a:solidFill>
                    <a:latin typeface="Abadi"/>
                  </a:rPr>
                  <a:t>k</a:t>
                </a:r>
              </a:p>
            </c:rich>
          </c:tx>
          <c:layout/>
          <c:overlay val="0"/>
        </c:title>
        <c:majorTickMark val="none"/>
        <c:minorTickMark val="none"/>
        <c:tickLblPos val="nextTo"/>
        <c:spPr>
          <a:ln>
            <a:solidFill>
              <a:srgbClr val="C3C2B7"/>
            </a:solidFill>
          </a:ln>
        </c:spPr>
        <c:txPr>
          <a:bodyPr/>
          <a:lstStyle/>
          <a:p>
            <a:pPr>
              <a:defRPr sz="1000">
                <a:solidFill>
                  <a:srgbClr val="52514E"/>
                </a:solidFill>
                <a:latin typeface="Abadi"/>
              </a:defRPr>
            </a:pPr>
          </a:p>
        </c:txPr>
        <c:crossAx val="2140495176"/>
        <c:crosses val="autoZero"/>
        <c:auto val="1"/>
        <c:lblAlgn val="ctr"/>
        <c:lblOffset val="100"/>
        <c:noMultiLvlLbl val="0"/>
      </c:catAx>
      <c:valAx>
        <c:axId val="2140495176"/>
        <c:scaling/>
        <c:delete val="0"/>
        <c:axPos val="l"/>
        <c:majorGridlines>
          <c:spPr>
            <a:ln w="9525">
              <a:solidFill>
                <a:srgbClr val="E1E0D9"/>
              </a:solidFill>
            </a:ln>
          </c:spPr>
        </c:majorGridlines>
        <c:title>
          <c:tx>
            <c:rich>
              <a:bodyPr/>
              <a:lstStyle/>
              <a:p>
                <a:r>
                  <a:rPr sz="1000" b="0" i="0">
                    <a:solidFill>
                      <a:srgbClr val="898781"/>
                    </a:solidFill>
                    <a:latin typeface="Abadi"/>
                  </a:rPr>
                  <a:t>inertia (thousands)</a:t>
                </a:r>
              </a:p>
            </c:rich>
          </c:tx>
          <c:layout/>
          <c:overlay val="0"/>
        </c:title>
        <c:numFmt formatCode="0" sourceLinked="0"/>
        <c:majorTickMark val="none"/>
        <c:minorTickMark val="none"/>
        <c:tickLblPos val="nextTo"/>
        <c:spPr>
          <a:ln>
            <a:noFill/>
          </a:ln>
        </c:spPr>
        <c:txPr>
          <a:bodyPr/>
          <a:lstStyle/>
          <a:p>
            <a:pPr>
              <a:defRPr sz="1000">
                <a:solidFill>
                  <a:srgbClr val="898781"/>
                </a:solidFill>
                <a:latin typeface="Abadi"/>
              </a:defRPr>
            </a:pPr>
          </a:p>
        </c:txPr>
        <c:crossAx val="2118791784"/>
        <c:crosses val="autoZero"/>
      </c:valAx>
    </c:plotArea>
    <c:legend>
      <c:legendPos val="t"/>
      <c:layout/>
      <c:overlay val="0"/>
      <c:txPr>
        <a:bodyPr/>
        <a:lstStyle/>
        <a:p>
          <a:pPr>
            <a:defRPr sz="1000"/>
          </a:pPr>
        </a:p>
      </c:txPr>
    </c:legend>
    <c:plotVisOnly val="1"/>
    <c:dispBlanksAs val="gap"/>
    <c:showDLblsOverMax val="0"/>
  </c:chart>
  <c:txPr>
    <a:bodyPr/>
    <a:lstStyle/>
    <a:p>
      <a:pPr>
        <a:defRPr sz="1000">
          <a:solidFill>
            <a:srgbClr val="52514E"/>
          </a:solidFill>
          <a:latin typeface="Abad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Explained variance</c:v>
                </c:pt>
              </c:strCache>
            </c:strRef>
          </c:tx>
          <c:spPr>
            <a:ln w="25400">
              <a:solidFill>
                <a:srgbClr val="2A78D6"/>
              </a:solidFill>
            </a:ln>
          </c:spPr>
          <c:marker>
            <c:symbol val="circle"/>
            <c:size val="7"/>
            <c:spPr>
              <a:solidFill>
                <a:srgbClr val="2A78D6"/>
              </a:solidFill>
              <a:ln>
                <a:solidFill>
                  <a:srgbClr val="FFFFFF"/>
                </a:solidFill>
              </a:ln>
            </c:spPr>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General</c:formatCode>
                <c:ptCount val="14"/>
                <c:pt idx="0">
                  <c:v>0.288</c:v>
                </c:pt>
                <c:pt idx="1">
                  <c:v>0.463</c:v>
                </c:pt>
                <c:pt idx="2">
                  <c:v>0.576</c:v>
                </c:pt>
                <c:pt idx="3">
                  <c:v>0.649</c:v>
                </c:pt>
                <c:pt idx="4">
                  <c:v>0.719</c:v>
                </c:pt>
                <c:pt idx="5">
                  <c:v>0.788</c:v>
                </c:pt>
                <c:pt idx="6">
                  <c:v>0.843</c:v>
                </c:pt>
                <c:pt idx="7">
                  <c:v>0.894</c:v>
                </c:pt>
                <c:pt idx="8">
                  <c:v>0.927</c:v>
                </c:pt>
                <c:pt idx="9">
                  <c:v>0.954</c:v>
                </c:pt>
                <c:pt idx="10">
                  <c:v>0.973</c:v>
                </c:pt>
                <c:pt idx="11">
                  <c:v>0.987</c:v>
                </c:pt>
                <c:pt idx="12">
                  <c:v>0.998</c:v>
                </c:pt>
                <c:pt idx="13">
                  <c:v>1.0</c:v>
                </c:pt>
              </c:numCache>
            </c:numRef>
          </c:val>
          <c:smooth val="0"/>
        </c:ser>
        <c:marker val="1"/>
        <c:smooth val="0"/>
        <c:axId val="2118791784"/>
        <c:axId val="2140495176"/>
      </c:lineChart>
      <c:catAx>
        <c:axId val="2118791784"/>
        <c:scaling>
          <c:orientation val="minMax"/>
        </c:scaling>
        <c:delete val="0"/>
        <c:axPos val="b"/>
        <c:title>
          <c:tx>
            <c:rich>
              <a:bodyPr/>
              <a:lstStyle/>
              <a:p>
                <a:r>
                  <a:rPr sz="1000" b="0" i="0">
                    <a:solidFill>
                      <a:srgbClr val="898781"/>
                    </a:solidFill>
                    <a:latin typeface="Abadi"/>
                  </a:rPr>
                  <a:t>n_components</a:t>
                </a:r>
              </a:p>
            </c:rich>
          </c:tx>
          <c:layout/>
          <c:overlay val="0"/>
        </c:title>
        <c:majorTickMark val="none"/>
        <c:minorTickMark val="none"/>
        <c:tickLblPos val="nextTo"/>
        <c:spPr>
          <a:ln>
            <a:solidFill>
              <a:srgbClr val="C3C2B7"/>
            </a:solidFill>
          </a:ln>
        </c:spPr>
        <c:txPr>
          <a:bodyPr/>
          <a:lstStyle/>
          <a:p>
            <a:pPr>
              <a:defRPr sz="1000">
                <a:solidFill>
                  <a:srgbClr val="52514E"/>
                </a:solidFill>
                <a:latin typeface="Abadi"/>
              </a:defRPr>
            </a:pPr>
          </a:p>
        </c:txPr>
        <c:crossAx val="2140495176"/>
        <c:crosses val="autoZero"/>
        <c:auto val="1"/>
        <c:lblAlgn val="ctr"/>
        <c:lblOffset val="100"/>
        <c:noMultiLvlLbl val="0"/>
      </c:catAx>
      <c:valAx>
        <c:axId val="2140495176"/>
        <c:scaling>
          <c:max val="1.0"/>
          <c:min val="0.0"/>
        </c:scaling>
        <c:delete val="0"/>
        <c:axPos val="l"/>
        <c:majorGridlines>
          <c:spPr>
            <a:ln w="9525">
              <a:solidFill>
                <a:srgbClr val="E1E0D9"/>
              </a:solidFill>
            </a:ln>
          </c:spPr>
        </c:majorGridlines>
        <c:numFmt formatCode="0%" sourceLinked="0"/>
        <c:majorTickMark val="none"/>
        <c:minorTickMark val="none"/>
        <c:tickLblPos val="nextTo"/>
        <c:spPr>
          <a:ln>
            <a:noFill/>
          </a:ln>
        </c:spPr>
        <c:txPr>
          <a:bodyPr/>
          <a:lstStyle/>
          <a:p>
            <a:pPr>
              <a:defRPr sz="1000">
                <a:solidFill>
                  <a:srgbClr val="898781"/>
                </a:solidFill>
                <a:latin typeface="Abadi"/>
              </a:defRPr>
            </a:pPr>
          </a:p>
        </c:txPr>
        <c:crossAx val="2118791784"/>
        <c:crosses val="autoZero"/>
      </c:valAx>
    </c:plotArea>
    <c:plotVisOnly val="1"/>
    <c:dispBlanksAs val="gap"/>
    <c:showDLblsOverMax val="0"/>
  </c:chart>
  <c:txPr>
    <a:bodyPr/>
    <a:lstStyle/>
    <a:p>
      <a:pPr>
        <a:defRPr sz="1000">
          <a:solidFill>
            <a:srgbClr val="52514E"/>
          </a:solidFill>
          <a:latin typeface="Abad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4/7/22</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4/7/22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Capstone project of the IBM Machine Learning Professional Certificate, presented by Omar Essam on October 24, 2026.</a:t>
            </a:r>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a:p>
        </p:txBody>
      </p:sp>
    </p:spTree>
    <p:extLst>
      <p:ext uri="{BB962C8B-B14F-4D97-AF65-F5344CB8AC3E}">
        <p14:creationId xmlns:p14="http://schemas.microsoft.com/office/powerpoint/2010/main" val="2418124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3</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project assets live in the capstone folder of the course repository.</a:t>
            </a:r>
          </a:p>
        </p:txBody>
      </p:sp>
      <p:sp>
        <p:nvSpPr>
          <p:cNvPr id="4" name="Slide Number Placeholder 3"/>
          <p:cNvSpPr>
            <a:spLocks noGrp="1"/>
          </p:cNvSpPr>
          <p:nvPr>
            <p:ph type="sldNum" sz="quarter" idx="5"/>
          </p:nvPr>
        </p:nvSpPr>
        <p:spPr/>
        <p:txBody>
          <a:bodyPr/>
          <a:lstStyle/>
          <a:p>
            <a:fld id="{EEBDA0E2-FEBD-4B65-8F16-724CF984F377}" type="slidenum">
              <a:rPr lang="en-US" smtClean="0"/>
              <a:t>24</a:t>
            </a:fld>
            <a:endParaRPr lang="en-US"/>
          </a:p>
        </p:txBody>
      </p:sp>
    </p:spTree>
    <p:extLst>
      <p:ext uri="{BB962C8B-B14F-4D97-AF65-F5344CB8AC3E}">
        <p14:creationId xmlns:p14="http://schemas.microsoft.com/office/powerpoint/2010/main" val="998503341"/>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Background: a course platform with 307 courses needs to recommend relevant unseen courses to its learners. We test three hypotheses: H1 popularity concentration, H2 manageable content-based recommendation lists, H3 latent-factor collaborative filtering beats KNN and the baseline on RMSE.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Horizontal bar chart of the number of courses per genre, computed with course_df[genres].sum() and sort_values(). Backend development, machine learning and databases are the biggest genres; chatbot and blockchain the smallest.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Histogram of the number of enrolled courses per user (groupby('user').size()). 8,320 users enrolled in a single course; the rest mostly enrolled in 5-12 courses. Learners with more than 30 courses are grouped into the last bar.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 most enrolled courses, from ratings_df.groupby('item').size() merged with course titles. Together they account for 63.3% of all enrollments.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 cloud of all 307 course titles (wordcloud package, English stop words plus a few generic words removed). Larger words appear in more titles: data, python, science, machine learning, cloud and big data dominate.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profile is a weighted genre vector built from the user's ratings. Each unseen course gets a score equal to the dot product of the profile and the course genre vector; courses above the score threshold are recommended.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of the user-profile recommender on all 33,901 test users with score threshold 20. Left: average list length and its sensitivity to the threshold. Right: top-10 recommended courses.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textual content becomes BoW feature vectors; the cosine similarity matrix between all courses is pre-computed. For each user, unseen courses that are similar enough to any enrolled course are recommended.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of the course-similarity recommender with threshold 0.6: about 8.5 new courses per user. Lower thresholds explode the list length (0.4 gives 48 courses per user).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 are grouped by their standardised (and PCA-reduced) profile vectors with K-means. Each cluster keeps a list of its popular courses; a user is recommended the popular courses of their cluster that they have not enrolled 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of the clustering recommender. The grouped bars compare K-means on the original features with K-means on the PCA components for several popularity thresholds.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Side-by-side comparison of the three content-based recommenders on the same 33,901 test users: list length, reach, catalogue coverage and total volume.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Item-based KNN collaborative filtering with the Surprise library: course-course similarities from the rating matrix, predictions as the similarity-weighted average of the user's ratings of the k most similar courses, evaluated by RMSE on a held-out test set.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Non-negative matrix factorisation: the sparse user-item matrix is decomposed into two small dense non-negative matrices of latent user and course features; their dot product estimates unknown ratings.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RecommenderNet: two embedding layers learn latent user and course vectors whose dot product (plus bias terms) predicts the rating. The trained embeddings are extracted and reused as features for regression and classification models.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and classification labs: embedding features from the neural network are aggregated and fed to scikit-learn models. Models were tuned with 3-fold grid search (regression) and compared with naive baselines.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collaborative-filtering model was retrained in m03/08 on one identical split per rating file, so the RMSEs are directly comparable. Gray bar: global-mean baseline; dark blue: best model. RMSE (root mean squared error) is the evaluation metric of all collaborative-filtering labs.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of the findings against the three hypotheses and the recommended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Hyper-parameter searches behind the selected settings: KNN similarity and k, NMF factors and epochs, the K-means elbow and the PCA variance curve.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Issues found while solving the labs, and how each was handled. Also fixed: the lab helper generate_sparse_bow() marks only one course's own tokens, so any two courses got cosine 1.0; the solution builds both vectors over the shared vocabulary (cosine 0.75).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4/7/22</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4/7/22</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4/7/22</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4/7/22</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4/7/22</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4/7/22</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4/7/22</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4/7/22</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4/7/22</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4/7/22</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chart" Target="../charts/chart1.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chart" Target="../charts/chart2.xml"/><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chart" Target="../charts/chart3.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6.xml"/><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chart" Target="../charts/chart12.xml"/><Relationship Id="rId6"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BCBB462-34C3-D144-9620-F611A0964A6F}"/>
              </a:ext>
            </a:extLst>
          </p:cNvPr>
          <p:cNvGrpSpPr/>
          <p:nvPr/>
        </p:nvGrpSpPr>
        <p:grpSpPr>
          <a:xfrm>
            <a:off x="5871412" y="3820167"/>
            <a:ext cx="6118575" cy="2838753"/>
            <a:chOff x="5136802" y="3703860"/>
            <a:chExt cx="6118575" cy="2838753"/>
          </a:xfrm>
        </p:grpSpPr>
        <p:pic>
          <p:nvPicPr>
            <p:cNvPr id="4" name="Picture 3">
              <a:extLst>
                <a:ext uri="{FF2B5EF4-FFF2-40B4-BE49-F238E27FC236}">
                  <a16:creationId xmlns:a16="http://schemas.microsoft.com/office/drawing/2014/main" id="{522F046B-F6EE-4E47-8C57-F6A6A097D297}"/>
                </a:ext>
              </a:extLst>
            </p:cNvPr>
            <p:cNvPicPr>
              <a:picLocks noChangeAspect="1"/>
            </p:cNvPicPr>
            <p:nvPr/>
          </p:nvPicPr>
          <p:blipFill>
            <a:blip r:embed="rId3"/>
            <a:stretch>
              <a:fillRect/>
            </a:stretch>
          </p:blipFill>
          <p:spPr>
            <a:xfrm>
              <a:off x="5136802" y="3703860"/>
              <a:ext cx="4612478" cy="2838753"/>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Arrow Connector 7">
              <a:extLst>
                <a:ext uri="{FF2B5EF4-FFF2-40B4-BE49-F238E27FC236}">
                  <a16:creationId xmlns:a16="http://schemas.microsoft.com/office/drawing/2014/main" id="{284E1D9B-0FCE-1D41-A7A6-A153308B8FAB}"/>
                </a:ext>
              </a:extLst>
            </p:cNvPr>
            <p:cNvCxnSpPr>
              <a:cxnSpLocks/>
            </p:cNvCxnSpPr>
            <p:nvPr/>
          </p:nvCxnSpPr>
          <p:spPr>
            <a:xfrm>
              <a:off x="9872146" y="5166220"/>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6D164AC-71BC-794A-89DA-C74C9525C3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57954" y="4527982"/>
              <a:ext cx="497423" cy="514575"/>
            </a:xfrm>
            <a:prstGeom prst="rect">
              <a:avLst/>
            </a:prstGeom>
          </p:spPr>
        </p:pic>
      </p:grpSp>
      <p:sp>
        <p:nvSpPr>
          <p:cNvPr id="2" name="TextBox 1">
            <a:extLst>
              <a:ext uri="{FF2B5EF4-FFF2-40B4-BE49-F238E27FC236}">
                <a16:creationId xmlns:a16="http://schemas.microsoft.com/office/drawing/2014/main" id="{0B08AF69-4D62-3045-9FEF-6800D771C946}"/>
              </a:ext>
            </a:extLst>
          </p:cNvPr>
          <p:cNvSpPr txBox="1"/>
          <p:nvPr/>
        </p:nvSpPr>
        <p:spPr>
          <a:xfrm>
            <a:off x="1251284" y="2767280"/>
            <a:ext cx="10241280" cy="1323439"/>
          </a:xfrm>
          <a:prstGeom prst="rect">
            <a:avLst/>
          </a:prstGeom>
          <a:solidFill>
            <a:schemeClr val="bg1">
              <a:alpha val="86117"/>
            </a:schemeClr>
          </a:solidFill>
        </p:spPr>
        <p:txBody>
          <a:bodyPr wrap="square" rtlCol="0">
            <a:spAutoFit/>
          </a:bodyPr>
          <a:lstStyle/>
          <a:p>
            <a:r>
              <a:rPr lang="en-US" sz="4000" dirty="0">
                <a:latin typeface="Abadi" panose="020B0604020104020204" pitchFamily="34" charset="0"/>
              </a:rPr>
              <a:t>Build a Personalized Online Course Recommender System with Machine Learning</a:t>
            </a:r>
          </a:p>
        </p:txBody>
      </p:sp>
      <p:sp>
        <p:nvSpPr>
          <p:cNvPr id="3" name="TextBox 2">
            <a:extLst>
              <a:ext uri="{FF2B5EF4-FFF2-40B4-BE49-F238E27FC236}">
                <a16:creationId xmlns:a16="http://schemas.microsoft.com/office/drawing/2014/main" id="{68217B24-331B-5040-859E-22982B3A88DA}"/>
              </a:ext>
            </a:extLst>
          </p:cNvPr>
          <p:cNvSpPr txBox="1"/>
          <p:nvPr/>
        </p:nvSpPr>
        <p:spPr>
          <a:xfrm>
            <a:off x="1251284" y="4166431"/>
            <a:ext cx="4114800" cy="830997"/>
          </a:xfrm>
          <a:prstGeom prst="rect">
            <a:avLst/>
          </a:prstGeom>
          <a:noFill/>
        </p:spPr>
        <p:txBody>
          <a:bodyPr wrap="square" lIns="91440" tIns="45720" rIns="91440" bIns="45720" rtlCol="0" anchor="t">
            <a:spAutoFit/>
          </a:bodyPr>
          <a:lstStyle/>
          <a:p>
            <a:r>
              <a:rPr lang="en-US" sz="2400" dirty="0">
                <a:latin typeface="Abadi"/>
                <a:ea typeface="SF Pro" pitchFamily="2" charset="0"/>
                <a:cs typeface="SF Pro" pitchFamily="2" charset="0"/>
              </a:rPr>
              <a:t>Omar Essam</a:t>
            </a:r>
          </a:p>
          <a:p>
            <a:r>
              <a:rPr lang="en-US" sz="2400" dirty="0">
                <a:latin typeface="Abadi" panose="020B0604020104020204" pitchFamily="34" charset="0"/>
                <a:ea typeface="SF Pro" pitchFamily="2" charset="0"/>
                <a:cs typeface="SF Pro" pitchFamily="2" charset="0"/>
              </a:rPr>
              <a:t>October 24, 2026</a:t>
            </a:r>
          </a:p>
        </p:txBody>
      </p:sp>
      <p:cxnSp>
        <p:nvCxnSpPr>
          <p:cNvPr id="9" name="Straight Arrow Connector 8">
            <a:extLst>
              <a:ext uri="{FF2B5EF4-FFF2-40B4-BE49-F238E27FC236}">
                <a16:creationId xmlns:a16="http://schemas.microsoft.com/office/drawing/2014/main" id="{786D5268-B673-A742-9436-8948B1C5875A}"/>
              </a:ext>
            </a:extLst>
          </p:cNvPr>
          <p:cNvCxnSpPr>
            <a:cxnSpLocks/>
          </p:cNvCxnSpPr>
          <p:nvPr/>
        </p:nvCxnSpPr>
        <p:spPr>
          <a:xfrm>
            <a:off x="10606756" y="5517217"/>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22C788-5750-B448-9946-A3353F7249B8}"/>
              </a:ext>
            </a:extLst>
          </p:cNvPr>
          <p:cNvCxnSpPr>
            <a:cxnSpLocks/>
          </p:cNvCxnSpPr>
          <p:nvPr/>
        </p:nvCxnSpPr>
        <p:spPr>
          <a:xfrm>
            <a:off x="10606756" y="5035201"/>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B8BB15B-3863-C146-97D8-D3D09F989A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92564" y="5406189"/>
            <a:ext cx="497423" cy="514575"/>
          </a:xfrm>
          <a:prstGeom prst="rect">
            <a:avLst/>
          </a:prstGeom>
        </p:spPr>
      </p:pic>
    </p:spTree>
    <p:extLst>
      <p:ext uri="{BB962C8B-B14F-4D97-AF65-F5344CB8AC3E}">
        <p14:creationId xmlns:p14="http://schemas.microsoft.com/office/powerpoint/2010/main" val="2559186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10515600" cy="3320824"/>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000" dirty="0">
                <a:solidFill>
                  <a:schemeClr val="accent3">
                    <a:lumMod val="25000"/>
                  </a:schemeClr>
                </a:solidFill>
                <a:latin typeface="Abadi"/>
              </a:rPr>
              <a:t>Introduction and Background</a:t>
            </a:r>
          </a:p>
          <a:p>
            <a:pPr>
              <a:lnSpc>
                <a:spcPct val="100000"/>
              </a:lnSpc>
              <a:spcBef>
                <a:spcPts val="1400"/>
              </a:spcBef>
            </a:pPr>
            <a:r>
              <a:rPr lang="en-US" sz="2000" dirty="0">
                <a:solidFill>
                  <a:schemeClr val="accent3">
                    <a:lumMod val="25000"/>
                  </a:schemeClr>
                </a:solidFill>
                <a:latin typeface="Abadi"/>
              </a:rPr>
              <a:t>Exploratory Data Analysis</a:t>
            </a:r>
          </a:p>
          <a:p>
            <a:pPr>
              <a:lnSpc>
                <a:spcPct val="100000"/>
              </a:lnSpc>
              <a:spcBef>
                <a:spcPts val="1400"/>
              </a:spcBef>
            </a:pPr>
            <a:r>
              <a:rPr lang="en-US" sz="2000" dirty="0">
                <a:solidFill>
                  <a:schemeClr val="accent3">
                    <a:lumMod val="25000"/>
                  </a:schemeClr>
                </a:solidFill>
                <a:latin typeface="Abadi"/>
              </a:rPr>
              <a:t>Content-based Recommender System using Unsupervised Learning</a:t>
            </a:r>
          </a:p>
          <a:p>
            <a:pPr>
              <a:lnSpc>
                <a:spcPct val="100000"/>
              </a:lnSpc>
              <a:spcBef>
                <a:spcPts val="1400"/>
              </a:spcBef>
            </a:pPr>
            <a:r>
              <a:rPr lang="en-US" sz="2000" dirty="0">
                <a:solidFill>
                  <a:schemeClr val="accent3">
                    <a:lumMod val="25000"/>
                  </a:schemeClr>
                </a:solidFill>
                <a:latin typeface="Abadi"/>
              </a:rPr>
              <a:t>Collaborative-filtering based Recommender System using Supervised learning</a:t>
            </a:r>
          </a:p>
          <a:p>
            <a:pPr>
              <a:lnSpc>
                <a:spcPct val="100000"/>
              </a:lnSpc>
              <a:spcBef>
                <a:spcPts val="1400"/>
              </a:spcBef>
            </a:pPr>
            <a:r>
              <a:rPr lang="en-US" sz="2000" dirty="0">
                <a:solidFill>
                  <a:schemeClr val="accent3">
                    <a:lumMod val="25000"/>
                  </a:schemeClr>
                </a:solidFill>
                <a:latin typeface="Abadi"/>
              </a:rPr>
              <a:t>Conclusion</a:t>
            </a:r>
          </a:p>
          <a:p>
            <a:pPr>
              <a:lnSpc>
                <a:spcPct val="100000"/>
              </a:lnSpc>
              <a:spcBef>
                <a:spcPts val="1400"/>
              </a:spcBef>
            </a:pPr>
            <a:r>
              <a:rPr lang="en-US" sz="20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4300" dirty="0">
                <a:solidFill>
                  <a:srgbClr val="0B49CB"/>
                </a:solidFill>
                <a:latin typeface="Abadi"/>
              </a:rPr>
              <a:t>Outline</a:t>
            </a:r>
            <a:endParaRPr lang="en-US" dirty="0">
              <a:solidFill>
                <a:srgbClr val="0B49CB"/>
              </a:solidFill>
              <a:latin typeface="Abadi"/>
            </a:endParaRPr>
          </a:p>
        </p:txBody>
      </p:sp>
    </p:spTree>
    <p:extLst>
      <p:ext uri="{BB962C8B-B14F-4D97-AF65-F5344CB8AC3E}">
        <p14:creationId xmlns:p14="http://schemas.microsoft.com/office/powerpoint/2010/main" val="724038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dirty="0">
              <a:solidFill>
                <a:srgbClr val="0B49CB"/>
              </a:solidFill>
            </a:endParaRPr>
          </a:p>
        </p:txBody>
      </p:sp>
      <p:sp>
        <p:nvSpPr>
          <p:cNvPr id="20" name="Rounded Rectangle 19"/>
          <p:cNvSpPr/>
          <p:nvPr/>
        </p:nvSpPr>
        <p:spPr>
          <a:xfrm>
            <a:off x="841248" y="1417320"/>
            <a:ext cx="5120640" cy="3611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9848" y="1600200"/>
            <a:ext cx="4663440" cy="411480"/>
          </a:xfrm>
          <a:prstGeom prst="rect">
            <a:avLst/>
          </a:prstGeom>
          <a:noFill/>
        </p:spPr>
        <p:txBody>
          <a:bodyPr wrap="square" anchor="t" lIns="0" rIns="0" tIns="0" bIns="0">
            <a:spAutoFit/>
          </a:bodyPr>
          <a:lstStyle/>
          <a:p>
            <a:pPr algn="l">
              <a:spcAft>
                <a:spcPts val="600"/>
              </a:spcAft>
            </a:pPr>
            <a:r>
              <a:rPr sz="1800" b="1" i="0">
                <a:solidFill>
                  <a:srgbClr val="0B49CB"/>
                </a:solidFill>
                <a:latin typeface="Abadi"/>
              </a:rPr>
              <a:t>Project background and context</a:t>
            </a:r>
          </a:p>
        </p:txBody>
      </p:sp>
      <p:sp>
        <p:nvSpPr>
          <p:cNvPr id="22" name="TextBox 21"/>
          <p:cNvSpPr txBox="1"/>
          <p:nvPr/>
        </p:nvSpPr>
        <p:spPr>
          <a:xfrm>
            <a:off x="1069848" y="2103120"/>
            <a:ext cx="4663440" cy="2788920"/>
          </a:xfrm>
          <a:prstGeom prst="rect">
            <a:avLst/>
          </a:prstGeom>
          <a:noFill/>
        </p:spPr>
        <p:txBody>
          <a:bodyPr wrap="square" anchor="t" lIns="0" rIns="0" tIns="0" bIns="0">
            <a:spAutoFit/>
          </a:bodyPr>
          <a:lstStyle/>
          <a:p>
            <a:pPr algn="l" marL="201168" indent="-201168">
              <a:spcAft>
                <a:spcPts val="800"/>
              </a:spcAft>
              <a:buClr>
                <a:srgbClr val="2A78D6"/>
              </a:buClr>
              <a:buFont typeface="Arial"/>
              <a:buChar char="•"/>
            </a:pPr>
            <a:r>
              <a:rPr sz="1400" b="0" i="0">
                <a:solidFill>
                  <a:srgbClr val="262626"/>
                </a:solidFill>
                <a:latin typeface="Abadi"/>
              </a:rPr>
              <a:t>An online learning platform (IBM Skills Network) offers 307 courses in data science, AI, cloud, databases and software development.</a:t>
            </a:r>
          </a:p>
          <a:p>
            <a:pPr algn="l" marL="201168" indent="-201168">
              <a:spcAft>
                <a:spcPts val="800"/>
              </a:spcAft>
              <a:buClr>
                <a:srgbClr val="2A78D6"/>
              </a:buClr>
              <a:buFont typeface="Arial"/>
              <a:buChar char="•"/>
            </a:pPr>
            <a:r>
              <a:rPr sz="1400" b="0" i="0">
                <a:solidFill>
                  <a:srgbClr val="262626"/>
                </a:solidFill>
                <a:latin typeface="Abadi"/>
              </a:rPr>
              <a:t>Learners struggle to find the next relevant course in a large catalogue; a personalised recommender surfaces unseen courses that match each learner's interests and raises engagement and completion.</a:t>
            </a:r>
          </a:p>
          <a:p>
            <a:pPr algn="l" marL="201168" indent="-201168">
              <a:spcAft>
                <a:spcPts val="800"/>
              </a:spcAft>
              <a:buClr>
                <a:srgbClr val="2A78D6"/>
              </a:buClr>
              <a:buFont typeface="Arial"/>
              <a:buChar char="•"/>
            </a:pPr>
            <a:r>
              <a:rPr sz="1400" b="0" i="0">
                <a:solidFill>
                  <a:srgbClr val="262626"/>
                </a:solidFill>
                <a:latin typeface="Abadi"/>
              </a:rPr>
              <a:t>Data: course titles, descriptions and 14 genre tags, plus 233,306 enrollments with ratings from 33,901 learners.</a:t>
            </a:r>
          </a:p>
        </p:txBody>
      </p:sp>
      <p:sp>
        <p:nvSpPr>
          <p:cNvPr id="23" name="Rounded Rectangle 22"/>
          <p:cNvSpPr/>
          <p:nvPr/>
        </p:nvSpPr>
        <p:spPr>
          <a:xfrm>
            <a:off x="6236207" y="1417320"/>
            <a:ext cx="5120640" cy="3611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4807" y="1600200"/>
            <a:ext cx="4663440" cy="411480"/>
          </a:xfrm>
          <a:prstGeom prst="rect">
            <a:avLst/>
          </a:prstGeom>
          <a:noFill/>
        </p:spPr>
        <p:txBody>
          <a:bodyPr wrap="square" anchor="t" lIns="0" rIns="0" tIns="0" bIns="0">
            <a:spAutoFit/>
          </a:bodyPr>
          <a:lstStyle/>
          <a:p>
            <a:pPr algn="l">
              <a:spcAft>
                <a:spcPts val="600"/>
              </a:spcAft>
            </a:pPr>
            <a:r>
              <a:rPr sz="1800" b="1" i="0">
                <a:solidFill>
                  <a:srgbClr val="0B49CB"/>
                </a:solidFill>
                <a:latin typeface="Abadi"/>
              </a:rPr>
              <a:t>Problem statement and hypotheses</a:t>
            </a:r>
          </a:p>
        </p:txBody>
      </p:sp>
      <p:sp>
        <p:nvSpPr>
          <p:cNvPr id="25" name="TextBox 24"/>
          <p:cNvSpPr txBox="1"/>
          <p:nvPr/>
        </p:nvSpPr>
        <p:spPr>
          <a:xfrm>
            <a:off x="6464807" y="2103120"/>
            <a:ext cx="4663440" cy="2788920"/>
          </a:xfrm>
          <a:prstGeom prst="rect">
            <a:avLst/>
          </a:prstGeom>
          <a:noFill/>
        </p:spPr>
        <p:txBody>
          <a:bodyPr wrap="square" anchor="t" lIns="0" rIns="0" tIns="0" bIns="0">
            <a:spAutoFit/>
          </a:bodyPr>
          <a:lstStyle/>
          <a:p>
            <a:pPr algn="l">
              <a:spcAft>
                <a:spcPts val="800"/>
              </a:spcAft>
            </a:pPr>
            <a:r>
              <a:rPr sz="1400" b="1" i="0">
                <a:solidFill>
                  <a:srgbClr val="262626"/>
                </a:solidFill>
                <a:latin typeface="Abadi"/>
              </a:rPr>
              <a:t>Problem: </a:t>
            </a:r>
            <a:r>
              <a:rPr sz="1400" b="0" i="0">
                <a:solidFill>
                  <a:srgbClr val="262626"/>
                </a:solidFill>
                <a:latin typeface="Abadi"/>
              </a:rPr>
              <a:t>recommend new, relevant courses to every learner, and find out which family of models - content-based (unsupervised) or collaborative filtering (supervised) - does it best.</a:t>
            </a:r>
          </a:p>
          <a:p>
            <a:pPr algn="l">
              <a:spcAft>
                <a:spcPts val="800"/>
              </a:spcAft>
            </a:pPr>
            <a:r>
              <a:rPr sz="1400" b="1" i="0">
                <a:solidFill>
                  <a:srgbClr val="0B49CB"/>
                </a:solidFill>
                <a:latin typeface="Abadi"/>
              </a:rPr>
              <a:t>H1: </a:t>
            </a:r>
            <a:r>
              <a:rPr sz="1400" b="0" i="0">
                <a:solidFill>
                  <a:srgbClr val="262626"/>
                </a:solidFill>
                <a:latin typeface="Abadi"/>
              </a:rPr>
              <a:t>enrollments concentrate on a few popular, introductory courses and genres.</a:t>
            </a:r>
          </a:p>
          <a:p>
            <a:pPr algn="l">
              <a:spcAft>
                <a:spcPts val="800"/>
              </a:spcAft>
            </a:pPr>
            <a:r>
              <a:rPr sz="1400" b="1" i="0">
                <a:solidFill>
                  <a:srgbClr val="0B49CB"/>
                </a:solidFill>
                <a:latin typeface="Abadi"/>
              </a:rPr>
              <a:t>H2: </a:t>
            </a:r>
            <a:r>
              <a:rPr sz="1400" b="0" i="0">
                <a:solidFill>
                  <a:srgbClr val="262626"/>
                </a:solidFill>
                <a:latin typeface="Abadi"/>
              </a:rPr>
              <a:t>content-based methods can keep the list of new courses per learner under 20 while still reaching most learners.</a:t>
            </a:r>
          </a:p>
          <a:p>
            <a:pPr algn="l">
              <a:spcAft>
                <a:spcPts val="800"/>
              </a:spcAft>
            </a:pPr>
            <a:r>
              <a:rPr sz="1400" b="1" i="0">
                <a:solidFill>
                  <a:srgbClr val="0B49CB"/>
                </a:solidFill>
                <a:latin typeface="Abadi"/>
              </a:rPr>
              <a:t>H3: </a:t>
            </a:r>
            <a:r>
              <a:rPr sz="1400" b="0" i="0">
                <a:solidFill>
                  <a:srgbClr val="262626"/>
                </a:solidFill>
                <a:latin typeface="Abadi"/>
              </a:rPr>
              <a:t>latent-factor models (NMF, neural embeddings) predict ratings more accurately (lower RMSE) than KNN and a global-mean baseline.</a:t>
            </a:r>
          </a:p>
        </p:txBody>
      </p:sp>
      <p:sp>
        <p:nvSpPr>
          <p:cNvPr id="26" name="Rounded Rectangle 25"/>
          <p:cNvSpPr/>
          <p:nvPr/>
        </p:nvSpPr>
        <p:spPr>
          <a:xfrm>
            <a:off x="841248" y="5193792"/>
            <a:ext cx="2423160" cy="8412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05840" y="5303520"/>
            <a:ext cx="2093976" cy="621792"/>
          </a:xfrm>
          <a:prstGeom prst="rect">
            <a:avLst/>
          </a:prstGeom>
          <a:noFill/>
        </p:spPr>
        <p:txBody>
          <a:bodyPr wrap="square" anchor="ctr" lIns="0" rIns="0" tIns="0" bIns="0">
            <a:spAutoFit/>
          </a:bodyPr>
          <a:lstStyle/>
          <a:p>
            <a:pPr algn="l">
              <a:spcAft>
                <a:spcPts val="200"/>
              </a:spcAft>
            </a:pPr>
            <a:r>
              <a:rPr sz="2600" b="1" i="0">
                <a:solidFill>
                  <a:srgbClr val="0B49CB"/>
                </a:solidFill>
                <a:latin typeface="Abadi"/>
              </a:rPr>
              <a:t>307</a:t>
            </a:r>
          </a:p>
          <a:p>
            <a:pPr algn="l">
              <a:spcAft>
                <a:spcPts val="0"/>
              </a:spcAft>
            </a:pPr>
            <a:r>
              <a:rPr sz="1200" b="0" i="0">
                <a:solidFill>
                  <a:srgbClr val="52514E"/>
                </a:solidFill>
                <a:latin typeface="Abadi"/>
              </a:rPr>
              <a:t>courses</a:t>
            </a:r>
          </a:p>
        </p:txBody>
      </p:sp>
      <p:sp>
        <p:nvSpPr>
          <p:cNvPr id="28" name="Rounded Rectangle 27"/>
          <p:cNvSpPr/>
          <p:nvPr/>
        </p:nvSpPr>
        <p:spPr>
          <a:xfrm>
            <a:off x="3538727" y="5193792"/>
            <a:ext cx="2423160" cy="8412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3703320" y="5303520"/>
            <a:ext cx="2093976" cy="621792"/>
          </a:xfrm>
          <a:prstGeom prst="rect">
            <a:avLst/>
          </a:prstGeom>
          <a:noFill/>
        </p:spPr>
        <p:txBody>
          <a:bodyPr wrap="square" anchor="ctr" lIns="0" rIns="0" tIns="0" bIns="0">
            <a:spAutoFit/>
          </a:bodyPr>
          <a:lstStyle/>
          <a:p>
            <a:pPr algn="l">
              <a:spcAft>
                <a:spcPts val="200"/>
              </a:spcAft>
            </a:pPr>
            <a:r>
              <a:rPr sz="2600" b="1" i="0">
                <a:solidFill>
                  <a:srgbClr val="0B49CB"/>
                </a:solidFill>
                <a:latin typeface="Abadi"/>
              </a:rPr>
              <a:t>14</a:t>
            </a:r>
          </a:p>
          <a:p>
            <a:pPr algn="l">
              <a:spcAft>
                <a:spcPts val="0"/>
              </a:spcAft>
            </a:pPr>
            <a:r>
              <a:rPr sz="1200" b="0" i="0">
                <a:solidFill>
                  <a:srgbClr val="52514E"/>
                </a:solidFill>
                <a:latin typeface="Abadi"/>
              </a:rPr>
              <a:t>course genres</a:t>
            </a:r>
          </a:p>
        </p:txBody>
      </p:sp>
      <p:sp>
        <p:nvSpPr>
          <p:cNvPr id="30" name="Rounded Rectangle 29"/>
          <p:cNvSpPr/>
          <p:nvPr/>
        </p:nvSpPr>
        <p:spPr>
          <a:xfrm>
            <a:off x="6236207" y="5193792"/>
            <a:ext cx="2423160" cy="8412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799" y="5303520"/>
            <a:ext cx="2093976" cy="621792"/>
          </a:xfrm>
          <a:prstGeom prst="rect">
            <a:avLst/>
          </a:prstGeom>
          <a:noFill/>
        </p:spPr>
        <p:txBody>
          <a:bodyPr wrap="square" anchor="ctr" lIns="0" rIns="0" tIns="0" bIns="0">
            <a:spAutoFit/>
          </a:bodyPr>
          <a:lstStyle/>
          <a:p>
            <a:pPr algn="l">
              <a:spcAft>
                <a:spcPts val="200"/>
              </a:spcAft>
            </a:pPr>
            <a:r>
              <a:rPr sz="2600" b="1" i="0">
                <a:solidFill>
                  <a:srgbClr val="0B49CB"/>
                </a:solidFill>
                <a:latin typeface="Abadi"/>
              </a:rPr>
              <a:t>33,901</a:t>
            </a:r>
          </a:p>
          <a:p>
            <a:pPr algn="l">
              <a:spcAft>
                <a:spcPts val="0"/>
              </a:spcAft>
            </a:pPr>
            <a:r>
              <a:rPr sz="1200" b="0" i="0">
                <a:solidFill>
                  <a:srgbClr val="52514E"/>
                </a:solidFill>
                <a:latin typeface="Abadi"/>
              </a:rPr>
              <a:t>learners</a:t>
            </a:r>
          </a:p>
        </p:txBody>
      </p:sp>
      <p:sp>
        <p:nvSpPr>
          <p:cNvPr id="32" name="Rounded Rectangle 31"/>
          <p:cNvSpPr/>
          <p:nvPr/>
        </p:nvSpPr>
        <p:spPr>
          <a:xfrm>
            <a:off x="8933688" y="5193792"/>
            <a:ext cx="2423160" cy="8412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098280" y="5303520"/>
            <a:ext cx="2093976" cy="621792"/>
          </a:xfrm>
          <a:prstGeom prst="rect">
            <a:avLst/>
          </a:prstGeom>
          <a:noFill/>
        </p:spPr>
        <p:txBody>
          <a:bodyPr wrap="square" anchor="ctr" lIns="0" rIns="0" tIns="0" bIns="0">
            <a:spAutoFit/>
          </a:bodyPr>
          <a:lstStyle/>
          <a:p>
            <a:pPr algn="l">
              <a:spcAft>
                <a:spcPts val="200"/>
              </a:spcAft>
            </a:pPr>
            <a:r>
              <a:rPr sz="2600" b="1" i="0">
                <a:solidFill>
                  <a:srgbClr val="0B49CB"/>
                </a:solidFill>
                <a:latin typeface="Abadi"/>
              </a:rPr>
              <a:t>233,306</a:t>
            </a:r>
          </a:p>
          <a:p>
            <a:pPr algn="l">
              <a:spcAft>
                <a:spcPts val="0"/>
              </a:spcAft>
            </a:pPr>
            <a:r>
              <a:rPr sz="1200" b="0" i="0">
                <a:solidFill>
                  <a:srgbClr val="52514E"/>
                </a:solidFill>
                <a:latin typeface="Abadi"/>
              </a:rPr>
              <a:t>enrollments (ratings)</a:t>
            </a: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Exploratory Data Analysis</a:t>
            </a:r>
            <a:endParaRPr lang="en-US" dirty="0"/>
          </a:p>
        </p:txBody>
      </p:sp>
      <p:pic>
        <p:nvPicPr>
          <p:cNvPr id="36" name="Graphic 35">
            <a:extLst>
              <a:ext uri="{FF2B5EF4-FFF2-40B4-BE49-F238E27FC236}">
                <a16:creationId xmlns:a16="http://schemas.microsoft.com/office/drawing/2014/main" id="{693C86CF-B31B-4549-BA68-C5C2DB4748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33055" y="5553777"/>
            <a:ext cx="1028790" cy="1028790"/>
          </a:xfrm>
          <a:prstGeom prst="rect">
            <a:avLst/>
          </a:prstGeom>
        </p:spPr>
      </p:pic>
    </p:spTree>
    <p:extLst>
      <p:ext uri="{BB962C8B-B14F-4D97-AF65-F5344CB8AC3E}">
        <p14:creationId xmlns:p14="http://schemas.microsoft.com/office/powerpoint/2010/main" val="3608834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Course counts per genre</a:t>
            </a:r>
          </a:p>
        </p:txBody>
      </p:sp>
      <p:graphicFrame>
        <p:nvGraphicFramePr>
          <p:cNvPr id="5" name="Chart 4"/>
          <p:cNvGraphicFramePr>
            <a:graphicFrameLocks noGrp="1"/>
          </p:cNvGraphicFramePr>
          <p:nvPr/>
        </p:nvGraphicFramePr>
        <p:xfrm>
          <a:off x="841248" y="1691640"/>
          <a:ext cx="6675120" cy="4617720"/>
        </p:xfrm>
        <a:graphic>
          <a:graphicData uri="http://schemas.openxmlformats.org/drawingml/2006/chart">
            <c:chart xmlns:c="http://schemas.openxmlformats.org/drawingml/2006/chart" r:id="rId3"/>
          </a:graphicData>
        </a:graphic>
      </p:graphicFrame>
      <p:sp>
        <p:nvSpPr>
          <p:cNvPr id="6" name="Rounded Rectangle 5"/>
          <p:cNvSpPr/>
          <p:nvPr/>
        </p:nvSpPr>
        <p:spPr>
          <a:xfrm>
            <a:off x="7818120" y="1783080"/>
            <a:ext cx="3538727" cy="118872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982712" y="1892807"/>
            <a:ext cx="3209543" cy="969264"/>
          </a:xfrm>
          <a:prstGeom prst="rect">
            <a:avLst/>
          </a:prstGeom>
          <a:noFill/>
        </p:spPr>
        <p:txBody>
          <a:bodyPr wrap="square" anchor="ctr" lIns="0" rIns="0" tIns="0" bIns="0">
            <a:spAutoFit/>
          </a:bodyPr>
          <a:lstStyle/>
          <a:p>
            <a:pPr algn="l">
              <a:spcAft>
                <a:spcPts val="200"/>
              </a:spcAft>
            </a:pPr>
            <a:r>
              <a:rPr sz="3400" b="1" i="0">
                <a:solidFill>
                  <a:srgbClr val="0B49CB"/>
                </a:solidFill>
                <a:latin typeface="Abadi"/>
              </a:rPr>
              <a:t>78</a:t>
            </a:r>
          </a:p>
          <a:p>
            <a:pPr algn="l">
              <a:spcAft>
                <a:spcPts val="0"/>
              </a:spcAft>
            </a:pPr>
            <a:r>
              <a:rPr sz="1200" b="0" i="0">
                <a:solidFill>
                  <a:srgbClr val="52514E"/>
                </a:solidFill>
                <a:latin typeface="Abadi"/>
              </a:rPr>
              <a:t>courses are tagged Backend Dev, the largest genre (25% of the 307 courses)</a:t>
            </a:r>
          </a:p>
        </p:txBody>
      </p:sp>
      <p:sp>
        <p:nvSpPr>
          <p:cNvPr id="8" name="TextBox 7"/>
          <p:cNvSpPr txBox="1"/>
          <p:nvPr/>
        </p:nvSpPr>
        <p:spPr>
          <a:xfrm>
            <a:off x="7818120" y="3200400"/>
            <a:ext cx="3538727" cy="3108960"/>
          </a:xfrm>
          <a:prstGeom prst="rect">
            <a:avLst/>
          </a:prstGeom>
          <a:noFill/>
        </p:spPr>
        <p:txBody>
          <a:bodyPr wrap="square" anchor="t" lIns="0" rIns="0" tIns="0" bIns="0">
            <a:spAutoFit/>
          </a:bodyPr>
          <a:lstStyle/>
          <a:p>
            <a:pPr algn="l" marL="201168" indent="-201168">
              <a:spcAft>
                <a:spcPts val="1000"/>
              </a:spcAft>
              <a:buClr>
                <a:srgbClr val="2A78D6"/>
              </a:buClr>
              <a:buFont typeface="Arial"/>
              <a:buChar char="•"/>
            </a:pPr>
            <a:r>
              <a:rPr sz="1400" b="0" i="0">
                <a:solidFill>
                  <a:srgbClr val="262626"/>
                </a:solidFill>
                <a:latin typeface="Abadi"/>
              </a:rPr>
              <a:t>Backend Dev (78 courses) and Machine Learning (69) lead the catalogue, followed by Database (60) and Data Analysis.</a:t>
            </a:r>
          </a:p>
          <a:p>
            <a:pPr algn="l" marL="201168" indent="-201168">
              <a:spcAft>
                <a:spcPts val="1000"/>
              </a:spcAft>
              <a:buClr>
                <a:srgbClr val="2A78D6"/>
              </a:buClr>
              <a:buFont typeface="Arial"/>
              <a:buChar char="•"/>
            </a:pPr>
            <a:r>
              <a:rPr sz="1400" b="0" i="0">
                <a:solidFill>
                  <a:srgbClr val="262626"/>
                </a:solidFill>
                <a:latin typeface="Abadi"/>
              </a:rPr>
              <a:t>Chatbot and Blockchain are niche, with 4 courses each.</a:t>
            </a:r>
          </a:p>
          <a:p>
            <a:pPr algn="l" marL="201168" indent="-201168">
              <a:spcAft>
                <a:spcPts val="1000"/>
              </a:spcAft>
              <a:buClr>
                <a:srgbClr val="2A78D6"/>
              </a:buClr>
              <a:buFont typeface="Arial"/>
              <a:buChar char="•"/>
            </a:pPr>
            <a:r>
              <a:rPr sz="1400" b="0" i="0">
                <a:solidFill>
                  <a:srgbClr val="262626"/>
                </a:solidFill>
                <a:latin typeface="Abadi"/>
              </a:rPr>
              <a:t>A course can carry several genres: 473 tags over 307 courses (1.54 per course on average).</a:t>
            </a:r>
          </a:p>
        </p:txBody>
      </p:sp>
    </p:spTree>
    <p:extLst>
      <p:ext uri="{BB962C8B-B14F-4D97-AF65-F5344CB8AC3E}">
        <p14:creationId xmlns:p14="http://schemas.microsoft.com/office/powerpoint/2010/main" val="27655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Course enrollment distribution</a:t>
            </a:r>
          </a:p>
        </p:txBody>
      </p:sp>
      <p:graphicFrame>
        <p:nvGraphicFramePr>
          <p:cNvPr id="5" name="Chart 4"/>
          <p:cNvGraphicFramePr>
            <a:graphicFrameLocks noGrp="1"/>
          </p:cNvGraphicFramePr>
          <p:nvPr/>
        </p:nvGraphicFramePr>
        <p:xfrm>
          <a:off x="841248" y="1737360"/>
          <a:ext cx="7223760" cy="4343400"/>
        </p:xfrm>
        <a:graphic>
          <a:graphicData uri="http://schemas.openxmlformats.org/drawingml/2006/chart">
            <c:chart xmlns:c="http://schemas.openxmlformats.org/drawingml/2006/chart" r:id="rId3"/>
          </a:graphicData>
        </a:graphic>
      </p:graphicFrame>
      <p:sp>
        <p:nvSpPr>
          <p:cNvPr id="6" name="Rounded Rectangle 5"/>
          <p:cNvSpPr/>
          <p:nvPr/>
        </p:nvSpPr>
        <p:spPr>
          <a:xfrm>
            <a:off x="8321040" y="1783080"/>
            <a:ext cx="3035808" cy="118872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85632" y="1892807"/>
            <a:ext cx="2706624" cy="969264"/>
          </a:xfrm>
          <a:prstGeom prst="rect">
            <a:avLst/>
          </a:prstGeom>
          <a:noFill/>
        </p:spPr>
        <p:txBody>
          <a:bodyPr wrap="square" anchor="ctr" lIns="0" rIns="0" tIns="0" bIns="0">
            <a:spAutoFit/>
          </a:bodyPr>
          <a:lstStyle/>
          <a:p>
            <a:pPr algn="l">
              <a:spcAft>
                <a:spcPts val="200"/>
              </a:spcAft>
            </a:pPr>
            <a:r>
              <a:rPr sz="3400" b="1" i="0">
                <a:solidFill>
                  <a:srgbClr val="0B49CB"/>
                </a:solidFill>
                <a:latin typeface="Abadi"/>
              </a:rPr>
              <a:t>24.5%</a:t>
            </a:r>
          </a:p>
          <a:p>
            <a:pPr algn="l">
              <a:spcAft>
                <a:spcPts val="0"/>
              </a:spcAft>
            </a:pPr>
            <a:r>
              <a:rPr sz="1200" b="0" i="0">
                <a:solidFill>
                  <a:srgbClr val="52514E"/>
                </a:solidFill>
                <a:latin typeface="Abadi"/>
              </a:rPr>
              <a:t>of learners (8,320) enrolled in just one course</a:t>
            </a:r>
          </a:p>
        </p:txBody>
      </p:sp>
      <p:sp>
        <p:nvSpPr>
          <p:cNvPr id="8" name="TextBox 7"/>
          <p:cNvSpPr txBox="1"/>
          <p:nvPr/>
        </p:nvSpPr>
        <p:spPr>
          <a:xfrm>
            <a:off x="8321040" y="3154680"/>
            <a:ext cx="3035808" cy="3200400"/>
          </a:xfrm>
          <a:prstGeom prst="rect">
            <a:avLst/>
          </a:prstGeom>
          <a:noFill/>
        </p:spPr>
        <p:txBody>
          <a:bodyPr wrap="square" anchor="t" lIns="0" rIns="0" tIns="0" bIns="0">
            <a:spAutoFit/>
          </a:bodyPr>
          <a:lstStyle/>
          <a:p>
            <a:pPr algn="l" marL="201168" indent="-201168">
              <a:spcAft>
                <a:spcPts val="900"/>
              </a:spcAft>
              <a:buClr>
                <a:srgbClr val="2A78D6"/>
              </a:buClr>
              <a:buFont typeface="Arial"/>
              <a:buChar char="•"/>
            </a:pPr>
            <a:r>
              <a:rPr sz="1350" b="0" i="0">
                <a:solidFill>
                  <a:srgbClr val="262626"/>
                </a:solidFill>
                <a:latin typeface="Abadi"/>
              </a:rPr>
              <a:t>Mean 6.9, median 6, max 61 courses per learner (std 5.8).</a:t>
            </a:r>
          </a:p>
          <a:p>
            <a:pPr algn="l" marL="201168" indent="-201168">
              <a:spcAft>
                <a:spcPts val="900"/>
              </a:spcAft>
              <a:buClr>
                <a:srgbClr val="2A78D6"/>
              </a:buClr>
              <a:buFont typeface="Arial"/>
              <a:buChar char="•"/>
            </a:pPr>
            <a:r>
              <a:rPr sz="1350" b="0" i="0">
                <a:solidFill>
                  <a:srgbClr val="262626"/>
                </a:solidFill>
                <a:latin typeface="Abadi"/>
              </a:rPr>
              <a:t>The distribution is bimodal: very few learners have 2-4 courses (519), then a second peak at 5 courses (6,179) with a long tail.</a:t>
            </a:r>
          </a:p>
          <a:p>
            <a:pPr algn="l" marL="201168" indent="-201168">
              <a:spcAft>
                <a:spcPts val="900"/>
              </a:spcAft>
              <a:buClr>
                <a:srgbClr val="2A78D6"/>
              </a:buClr>
              <a:buFont typeface="Arial"/>
              <a:buChar char="•"/>
            </a:pPr>
            <a:r>
              <a:rPr sz="1350" b="0" i="0">
                <a:solidFill>
                  <a:srgbClr val="262626"/>
                </a:solidFill>
                <a:latin typeface="Abadi"/>
              </a:rPr>
              <a:t>One-course learners are a cold-start group: popularity or content-based recommendations suit them better than collaborative filtering.</a:t>
            </a:r>
          </a:p>
        </p:txBody>
      </p:sp>
    </p:spTree>
    <p:extLst>
      <p:ext uri="{BB962C8B-B14F-4D97-AF65-F5344CB8AC3E}">
        <p14:creationId xmlns:p14="http://schemas.microsoft.com/office/powerpoint/2010/main" val="2945704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20 most popular courses</a:t>
            </a:r>
          </a:p>
        </p:txBody>
      </p:sp>
      <p:graphicFrame>
        <p:nvGraphicFramePr>
          <p:cNvPr id="5" name="Chart 4"/>
          <p:cNvGraphicFramePr>
            <a:graphicFrameLocks noGrp="1"/>
          </p:cNvGraphicFramePr>
          <p:nvPr/>
        </p:nvGraphicFramePr>
        <p:xfrm>
          <a:off x="841248" y="1645920"/>
          <a:ext cx="7223760" cy="4709160"/>
        </p:xfrm>
        <a:graphic>
          <a:graphicData uri="http://schemas.openxmlformats.org/drawingml/2006/chart">
            <c:chart xmlns:c="http://schemas.openxmlformats.org/drawingml/2006/chart" r:id="rId3"/>
          </a:graphicData>
        </a:graphic>
      </p:graphicFrame>
      <p:sp>
        <p:nvSpPr>
          <p:cNvPr id="6" name="Rounded Rectangle 5"/>
          <p:cNvSpPr/>
          <p:nvPr/>
        </p:nvSpPr>
        <p:spPr>
          <a:xfrm>
            <a:off x="8321040" y="1783080"/>
            <a:ext cx="3035808" cy="118872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85632" y="1892807"/>
            <a:ext cx="2706624" cy="969264"/>
          </a:xfrm>
          <a:prstGeom prst="rect">
            <a:avLst/>
          </a:prstGeom>
          <a:noFill/>
        </p:spPr>
        <p:txBody>
          <a:bodyPr wrap="square" anchor="ctr" lIns="0" rIns="0" tIns="0" bIns="0">
            <a:spAutoFit/>
          </a:bodyPr>
          <a:lstStyle/>
          <a:p>
            <a:pPr algn="l">
              <a:spcAft>
                <a:spcPts val="200"/>
              </a:spcAft>
            </a:pPr>
            <a:r>
              <a:rPr sz="3400" b="1" i="0">
                <a:solidFill>
                  <a:srgbClr val="0B49CB"/>
                </a:solidFill>
                <a:latin typeface="Abadi"/>
              </a:rPr>
              <a:t>63.3%</a:t>
            </a:r>
          </a:p>
          <a:p>
            <a:pPr algn="l">
              <a:spcAft>
                <a:spcPts val="0"/>
              </a:spcAft>
            </a:pPr>
            <a:r>
              <a:rPr sz="1200" b="0" i="0">
                <a:solidFill>
                  <a:srgbClr val="52514E"/>
                </a:solidFill>
                <a:latin typeface="Abadi"/>
              </a:rPr>
              <a:t>of all 233,306 enrollments go to these 20 of 126 rated courses</a:t>
            </a:r>
          </a:p>
        </p:txBody>
      </p:sp>
      <p:sp>
        <p:nvSpPr>
          <p:cNvPr id="8" name="TextBox 7"/>
          <p:cNvSpPr txBox="1"/>
          <p:nvPr/>
        </p:nvSpPr>
        <p:spPr>
          <a:xfrm>
            <a:off x="8321040" y="3154680"/>
            <a:ext cx="3035808" cy="3200400"/>
          </a:xfrm>
          <a:prstGeom prst="rect">
            <a:avLst/>
          </a:prstGeom>
          <a:noFill/>
        </p:spPr>
        <p:txBody>
          <a:bodyPr wrap="square" anchor="t" lIns="0" rIns="0" tIns="0" bIns="0">
            <a:spAutoFit/>
          </a:bodyPr>
          <a:lstStyle/>
          <a:p>
            <a:pPr algn="l" marL="201168" indent="-201168">
              <a:spcAft>
                <a:spcPts val="900"/>
              </a:spcAft>
              <a:buClr>
                <a:srgbClr val="2A78D6"/>
              </a:buClr>
              <a:buFont typeface="Arial"/>
              <a:buChar char="•"/>
            </a:pPr>
            <a:r>
              <a:rPr sz="1350" b="0" i="0">
                <a:solidFill>
                  <a:srgbClr val="262626"/>
                </a:solidFill>
                <a:latin typeface="Abadi"/>
              </a:rPr>
              <a:t>Python for Data Science (14,936), Introduction to Data Science and Big Data 101 lead the list.</a:t>
            </a:r>
          </a:p>
          <a:p>
            <a:pPr algn="l" marL="201168" indent="-201168">
              <a:spcAft>
                <a:spcPts val="900"/>
              </a:spcAft>
              <a:buClr>
                <a:srgbClr val="2A78D6"/>
              </a:buClr>
              <a:buFont typeface="Arial"/>
              <a:buChar char="•"/>
            </a:pPr>
            <a:r>
              <a:rPr sz="1350" b="0" i="0">
                <a:solidFill>
                  <a:srgbClr val="262626"/>
                </a:solidFill>
                <a:latin typeface="Abadi"/>
              </a:rPr>
              <a:t>Almost all are introductory courses (101, Introduction, Fundamentals): learners start with foundations.</a:t>
            </a:r>
          </a:p>
          <a:p>
            <a:pPr algn="l" marL="201168" indent="-201168">
              <a:spcAft>
                <a:spcPts val="900"/>
              </a:spcAft>
              <a:buClr>
                <a:srgbClr val="2A78D6"/>
              </a:buClr>
              <a:buFont typeface="Arial"/>
              <a:buChar char="•"/>
            </a:pPr>
            <a:r>
              <a:rPr sz="1350" b="0" i="0">
                <a:solidFill>
                  <a:srgbClr val="262626"/>
                </a:solidFill>
                <a:latin typeface="Abadi"/>
              </a:rPr>
              <a:t>This popularity bias (H1 confirmed) means a recommender must work to surface less popular courses.</a:t>
            </a:r>
          </a:p>
        </p:txBody>
      </p:sp>
    </p:spTree>
    <p:extLst>
      <p:ext uri="{BB962C8B-B14F-4D97-AF65-F5344CB8AC3E}">
        <p14:creationId xmlns:p14="http://schemas.microsoft.com/office/powerpoint/2010/main" val="2818796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Word cloud of course titles</a:t>
            </a:r>
          </a:p>
        </p:txBody>
      </p:sp>
      <p:pic>
        <p:nvPicPr>
          <p:cNvPr id="5" name="Picture 4" descr="wordcloud.png"/>
          <p:cNvPicPr>
            <a:picLocks noChangeAspect="1"/>
          </p:cNvPicPr>
          <p:nvPr/>
        </p:nvPicPr>
        <p:blipFill>
          <a:blip r:embed="rId2"/>
          <a:stretch>
            <a:fillRect/>
          </a:stretch>
        </p:blipFill>
        <p:spPr>
          <a:xfrm>
            <a:off x="841248" y="1783080"/>
            <a:ext cx="7040880" cy="4000500"/>
          </a:xfrm>
          <a:prstGeom prst="rect">
            <a:avLst/>
          </a:prstGeom>
        </p:spPr>
      </p:pic>
      <p:sp>
        <p:nvSpPr>
          <p:cNvPr id="6" name="TextBox 5"/>
          <p:cNvSpPr txBox="1"/>
          <p:nvPr/>
        </p:nvSpPr>
        <p:spPr>
          <a:xfrm>
            <a:off x="8183879" y="1783080"/>
            <a:ext cx="3172968" cy="4480560"/>
          </a:xfrm>
          <a:prstGeom prst="rect">
            <a:avLst/>
          </a:prstGeom>
          <a:noFill/>
        </p:spPr>
        <p:txBody>
          <a:bodyPr wrap="square" anchor="t" lIns="0" rIns="0" tIns="0" bIns="0">
            <a:spAutoFit/>
          </a:bodyPr>
          <a:lstStyle/>
          <a:p>
            <a:pPr algn="l">
              <a:spcAft>
                <a:spcPts val="600"/>
              </a:spcAft>
            </a:pPr>
            <a:r>
              <a:rPr sz="1600" b="1" i="0">
                <a:solidFill>
                  <a:srgbClr val="0B49CB"/>
                </a:solidFill>
                <a:latin typeface="Abadi"/>
              </a:rPr>
              <a:t>Most frequent title words</a:t>
            </a:r>
          </a:p>
          <a:p>
            <a:pPr algn="l">
              <a:spcAft>
                <a:spcPts val="1400"/>
              </a:spcAft>
            </a:pPr>
            <a:r>
              <a:rPr sz="1350" b="0" i="0">
                <a:solidFill>
                  <a:srgbClr val="262626"/>
                </a:solidFill>
                <a:latin typeface="Abadi"/>
              </a:rPr>
              <a:t>data (86), learning (31), science (30), cloud (29), python (27), analysis (27) - counted as the number of titles that contain the word.</a:t>
            </a:r>
          </a:p>
          <a:p>
            <a:pPr algn="l">
              <a:spcAft>
                <a:spcPts val="600"/>
              </a:spcAft>
            </a:pPr>
            <a:r>
              <a:rPr sz="1600" b="1" i="0">
                <a:solidFill>
                  <a:srgbClr val="0B49CB"/>
                </a:solidFill>
                <a:latin typeface="Abadi"/>
              </a:rPr>
              <a:t>What it tells us</a:t>
            </a:r>
          </a:p>
          <a:p>
            <a:pPr algn="l" marL="201168" indent="-201168">
              <a:spcAft>
                <a:spcPts val="800"/>
              </a:spcAft>
              <a:buClr>
                <a:srgbClr val="2A78D6"/>
              </a:buClr>
              <a:buFont typeface="Arial"/>
              <a:buChar char="•"/>
            </a:pPr>
            <a:r>
              <a:rPr sz="1350" b="0" i="0">
                <a:solidFill>
                  <a:srgbClr val="262626"/>
                </a:solidFill>
                <a:latin typeface="Abadi"/>
              </a:rPr>
              <a:t>The catalogue is built around in-demand IT skills: data science, Python, machine learning, cloud, big data, SQL and containers.</a:t>
            </a:r>
          </a:p>
          <a:p>
            <a:pPr algn="l" marL="201168" indent="-201168">
              <a:spcAft>
                <a:spcPts val="800"/>
              </a:spcAft>
              <a:buClr>
                <a:srgbClr val="2A78D6"/>
              </a:buClr>
              <a:buFont typeface="Arial"/>
              <a:buChar char="•"/>
            </a:pPr>
            <a:r>
              <a:rPr sz="1350" b="0" i="0">
                <a:solidFill>
                  <a:srgbClr val="262626"/>
                </a:solidFill>
                <a:latin typeface="Abadi"/>
              </a:rPr>
              <a:t>Title words overlap strongly between courses, so text features (bag of words) are a good basis for course similarity.</a:t>
            </a:r>
          </a:p>
        </p:txBody>
      </p:sp>
    </p:spTree>
    <p:extLst>
      <p:ext uri="{BB962C8B-B14F-4D97-AF65-F5344CB8AC3E}">
        <p14:creationId xmlns:p14="http://schemas.microsoft.com/office/powerpoint/2010/main" val="1268933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Content-based Recommender System using Unsupervised Learning</a:t>
            </a:r>
            <a:endParaRPr lang="en-US" dirty="0"/>
          </a:p>
        </p:txBody>
      </p:sp>
      <p:grpSp>
        <p:nvGrpSpPr>
          <p:cNvPr id="6" name="Group 5">
            <a:extLst>
              <a:ext uri="{FF2B5EF4-FFF2-40B4-BE49-F238E27FC236}">
                <a16:creationId xmlns:a16="http://schemas.microsoft.com/office/drawing/2014/main" id="{3E5A2644-0171-6540-A231-9FCA3C81BFE2}"/>
              </a:ext>
            </a:extLst>
          </p:cNvPr>
          <p:cNvGrpSpPr/>
          <p:nvPr/>
        </p:nvGrpSpPr>
        <p:grpSpPr>
          <a:xfrm>
            <a:off x="10108253" y="4562475"/>
            <a:ext cx="1777449" cy="1936444"/>
            <a:chOff x="6518030" y="1903899"/>
            <a:chExt cx="1777449" cy="1936444"/>
          </a:xfrm>
        </p:grpSpPr>
        <p:grpSp>
          <p:nvGrpSpPr>
            <p:cNvPr id="11" name="Group 10">
              <a:extLst>
                <a:ext uri="{FF2B5EF4-FFF2-40B4-BE49-F238E27FC236}">
                  <a16:creationId xmlns:a16="http://schemas.microsoft.com/office/drawing/2014/main" id="{A41B8904-28C2-BB44-8166-C42C96ED6936}"/>
                </a:ext>
              </a:extLst>
            </p:cNvPr>
            <p:cNvGrpSpPr/>
            <p:nvPr/>
          </p:nvGrpSpPr>
          <p:grpSpPr>
            <a:xfrm>
              <a:off x="6580009" y="2268106"/>
              <a:ext cx="1530912" cy="1268847"/>
              <a:chOff x="6371670" y="1861616"/>
              <a:chExt cx="1530912" cy="1268847"/>
            </a:xfrm>
          </p:grpSpPr>
          <p:grpSp>
            <p:nvGrpSpPr>
              <p:cNvPr id="12" name="Group 11">
                <a:extLst>
                  <a:ext uri="{FF2B5EF4-FFF2-40B4-BE49-F238E27FC236}">
                    <a16:creationId xmlns:a16="http://schemas.microsoft.com/office/drawing/2014/main" id="{7636D0BA-2B52-A240-B7B8-0256F4E2A394}"/>
                  </a:ext>
                </a:extLst>
              </p:cNvPr>
              <p:cNvGrpSpPr/>
              <p:nvPr/>
            </p:nvGrpSpPr>
            <p:grpSpPr>
              <a:xfrm>
                <a:off x="6371670" y="2318149"/>
                <a:ext cx="812314" cy="812314"/>
                <a:chOff x="1306239" y="1551525"/>
                <a:chExt cx="2116181" cy="2116182"/>
              </a:xfrm>
              <a:noFill/>
            </p:grpSpPr>
            <p:sp>
              <p:nvSpPr>
                <p:cNvPr id="25" name="Oval 24">
                  <a:extLst>
                    <a:ext uri="{FF2B5EF4-FFF2-40B4-BE49-F238E27FC236}">
                      <a16:creationId xmlns:a16="http://schemas.microsoft.com/office/drawing/2014/main" id="{24F59816-7FAC-974F-A8D7-19B047D553D1}"/>
                    </a:ext>
                  </a:extLst>
                </p:cNvPr>
                <p:cNvSpPr/>
                <p:nvPr/>
              </p:nvSpPr>
              <p:spPr>
                <a:xfrm>
                  <a:off x="1306239" y="1551525"/>
                  <a:ext cx="2116181"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C838075-FE41-3C47-B7F8-7CD30B06125D}"/>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57CEC24-7385-FC49-A319-AB8C2130A10A}"/>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C96BD4-7E7A-8445-86C6-6BF36139BBEF}"/>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72FE188-017A-B643-9B83-F2A767174EFF}"/>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A566CA9-49EE-AB41-83BE-DE726A76CE6A}"/>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F5C28428-062D-E14C-82E6-DA94F7EF31AB}"/>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69CEB11-DD69-474E-BBAE-8C10177D3C3F}"/>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E68BDB6-C52E-DD4A-B920-6CBEF8EE3F5F}"/>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6BE7FA6-4444-D940-BE86-2E836B237A97}"/>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53476B79-2F43-EC40-8768-FE48D7B6AA2E}"/>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179D4550-5CE1-9E49-9733-CBA34FE0DD54}"/>
                  </a:ext>
                </a:extLst>
              </p:cNvPr>
              <p:cNvGrpSpPr/>
              <p:nvPr/>
            </p:nvGrpSpPr>
            <p:grpSpPr>
              <a:xfrm>
                <a:off x="7090268" y="1861616"/>
                <a:ext cx="812314" cy="812314"/>
                <a:chOff x="1306241" y="1551525"/>
                <a:chExt cx="2116182" cy="2116182"/>
              </a:xfrm>
              <a:noFill/>
            </p:grpSpPr>
            <p:sp>
              <p:nvSpPr>
                <p:cNvPr id="14" name="Oval 13">
                  <a:extLst>
                    <a:ext uri="{FF2B5EF4-FFF2-40B4-BE49-F238E27FC236}">
                      <a16:creationId xmlns:a16="http://schemas.microsoft.com/office/drawing/2014/main" id="{3EDBC5E1-AEE7-2A4C-9CCE-D6FE884FE831}"/>
                    </a:ext>
                  </a:extLst>
                </p:cNvPr>
                <p:cNvSpPr/>
                <p:nvPr/>
              </p:nvSpPr>
              <p:spPr>
                <a:xfrm>
                  <a:off x="1306241" y="1551525"/>
                  <a:ext cx="2116182"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7DE73D3B-6172-AD4A-8114-5DA3984DA6B8}"/>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62E44D-FBA1-D543-B29E-3BD27B00E509}"/>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6257EEC-3C03-0546-9ACD-4DCDB1819397}"/>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8325B40-CC4B-6445-8AA8-D6AA369D34A4}"/>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369C21-DFFB-4B46-A1A5-A3B9B2BD5D3D}"/>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4155E267-602E-DA43-8ADA-80A77E2F6BAA}"/>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EFCDA0-8E24-3F4E-9729-B109832A37F5}"/>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01B9D4C-4986-CE4F-AAC2-0B2B3DE03C87}"/>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D505A4-48AE-AC40-87FA-FC0E50F6B75A}"/>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3F6A3959-23EF-B243-97DE-A3CBF9EE4626}"/>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extBox 7">
              <a:extLst>
                <a:ext uri="{FF2B5EF4-FFF2-40B4-BE49-F238E27FC236}">
                  <a16:creationId xmlns:a16="http://schemas.microsoft.com/office/drawing/2014/main" id="{D36FFD52-F70F-854D-8DC1-D1F09F5ACAD2}"/>
                </a:ext>
              </a:extLst>
            </p:cNvPr>
            <p:cNvSpPr txBox="1"/>
            <p:nvPr/>
          </p:nvSpPr>
          <p:spPr>
            <a:xfrm>
              <a:off x="6518030" y="3471011"/>
              <a:ext cx="1072730" cy="369332"/>
            </a:xfrm>
            <a:prstGeom prst="rect">
              <a:avLst/>
            </a:prstGeom>
            <a:noFill/>
          </p:spPr>
          <p:txBody>
            <a:bodyPr wrap="none" rtlCol="0">
              <a:spAutoFit/>
            </a:bodyPr>
            <a:lstStyle/>
            <a:p>
              <a:r>
                <a:rPr lang="en-US" dirty="0"/>
                <a:t>Cluster1</a:t>
              </a:r>
            </a:p>
          </p:txBody>
        </p:sp>
        <p:sp>
          <p:nvSpPr>
            <p:cNvPr id="9" name="TextBox 8">
              <a:extLst>
                <a:ext uri="{FF2B5EF4-FFF2-40B4-BE49-F238E27FC236}">
                  <a16:creationId xmlns:a16="http://schemas.microsoft.com/office/drawing/2014/main" id="{81858FD9-B27C-0C44-8B7A-44D908A27760}"/>
                </a:ext>
              </a:extLst>
            </p:cNvPr>
            <p:cNvSpPr txBox="1"/>
            <p:nvPr/>
          </p:nvSpPr>
          <p:spPr>
            <a:xfrm>
              <a:off x="7222749" y="1903899"/>
              <a:ext cx="1072730" cy="369332"/>
            </a:xfrm>
            <a:prstGeom prst="rect">
              <a:avLst/>
            </a:prstGeom>
            <a:noFill/>
          </p:spPr>
          <p:txBody>
            <a:bodyPr wrap="none" rtlCol="0">
              <a:spAutoFit/>
            </a:bodyPr>
            <a:lstStyle/>
            <a:p>
              <a:r>
                <a:rPr lang="en-US" dirty="0"/>
                <a:t>Cluster2</a:t>
              </a:r>
            </a:p>
          </p:txBody>
        </p:sp>
      </p:grpSp>
    </p:spTree>
    <p:extLst>
      <p:ext uri="{BB962C8B-B14F-4D97-AF65-F5344CB8AC3E}">
        <p14:creationId xmlns:p14="http://schemas.microsoft.com/office/powerpoint/2010/main" val="134853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content-based recommender system using user profile and course genres</a:t>
            </a:r>
          </a:p>
        </p:txBody>
      </p:sp>
      <p:sp>
        <p:nvSpPr>
          <p:cNvPr id="5" name="Magnetic Disk 4"/>
          <p:cNvSpPr/>
          <p:nvPr/>
        </p:nvSpPr>
        <p:spPr>
          <a:xfrm>
            <a:off x="859536" y="1828800"/>
            <a:ext cx="2331720" cy="1097280"/>
          </a:xfrm>
          <a:prstGeom prst="flowChartMagneticDisk">
            <a:avLst/>
          </a:prstGeom>
          <a:solidFill>
            <a:srgbClr val="F4F4F1"/>
          </a:solidFill>
          <a:ln w="15875">
            <a:solidFill>
              <a:srgbClr val="C3C2B7"/>
            </a:solidFill>
          </a:ln>
          <a:effectLst/>
        </p:spPr>
        <p:style>
          <a:lnRef idx="1">
            <a:schemeClr val="accent1"/>
          </a:lnRef>
          <a:fillRef idx="3">
            <a:schemeClr val="accent1"/>
          </a:fillRef>
          <a:effectRef idx="2">
            <a:schemeClr val="accent1"/>
          </a:effectRef>
          <a:fontRef idx="minor">
            <a:schemeClr val="lt1"/>
          </a:fontRef>
        </p:style>
        <p:txBody>
          <a:bodyPr rtlCol="0" anchor="ctr" tIns="201168" bIns="54864" wrap="square"/>
          <a:lstStyle/>
          <a:p>
            <a:pPr algn="ctr">
              <a:spcAft>
                <a:spcPts val="200"/>
              </a:spcAft>
            </a:pPr>
            <a:r>
              <a:rPr sz="1250" b="1" i="0">
                <a:solidFill>
                  <a:srgbClr val="262626"/>
                </a:solidFill>
                <a:latin typeface="Abadi"/>
              </a:rPr>
              <a:t>Raw data</a:t>
            </a:r>
          </a:p>
          <a:p>
            <a:pPr algn="ctr">
              <a:spcAft>
                <a:spcPts val="0"/>
              </a:spcAft>
            </a:pPr>
            <a:r>
              <a:rPr sz="1050" b="0" i="0">
                <a:solidFill>
                  <a:srgbClr val="52514E"/>
                </a:solidFill>
                <a:latin typeface="Abadi"/>
              </a:rPr>
              <a:t>course_genre.csv, user_profile.csv, ratings.csv</a:t>
            </a:r>
          </a:p>
        </p:txBody>
      </p:sp>
      <p:sp>
        <p:nvSpPr>
          <p:cNvPr id="6" name="Oval 5"/>
          <p:cNvSpPr/>
          <p:nvPr/>
        </p:nvSpPr>
        <p:spPr>
          <a:xfrm>
            <a:off x="749808"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1</a:t>
            </a:r>
          </a:p>
        </p:txBody>
      </p:sp>
      <p:sp>
        <p:nvSpPr>
          <p:cNvPr id="7" name="Rounded Rectangle 6"/>
          <p:cNvSpPr/>
          <p:nvPr/>
        </p:nvSpPr>
        <p:spPr>
          <a:xfrm>
            <a:off x="3575304"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Course genre vectors</a:t>
            </a:r>
          </a:p>
          <a:p>
            <a:pPr algn="ctr">
              <a:spcAft>
                <a:spcPts val="0"/>
              </a:spcAft>
            </a:pPr>
            <a:r>
              <a:rPr sz="1050" b="0" i="0">
                <a:solidFill>
                  <a:srgbClr val="52514E"/>
                </a:solidFill>
                <a:latin typeface="Abadi"/>
              </a:rPr>
              <a:t>14-d one-hot genre vector for each of the 307 courses</a:t>
            </a:r>
          </a:p>
        </p:txBody>
      </p:sp>
      <p:sp>
        <p:nvSpPr>
          <p:cNvPr id="8" name="Oval 7"/>
          <p:cNvSpPr/>
          <p:nvPr/>
        </p:nvSpPr>
        <p:spPr>
          <a:xfrm>
            <a:off x="3465576"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2</a:t>
            </a:r>
          </a:p>
        </p:txBody>
      </p:sp>
      <p:sp>
        <p:nvSpPr>
          <p:cNvPr id="9" name="Rounded Rectangle 8"/>
          <p:cNvSpPr/>
          <p:nvPr/>
        </p:nvSpPr>
        <p:spPr>
          <a:xfrm>
            <a:off x="6291072"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User profile vectors</a:t>
            </a:r>
          </a:p>
          <a:p>
            <a:pPr algn="ctr">
              <a:spcAft>
                <a:spcPts val="0"/>
              </a:spcAft>
            </a:pPr>
            <a:r>
              <a:rPr sz="1050" b="0" i="0">
                <a:solidFill>
                  <a:srgbClr val="52514E"/>
                </a:solidFill>
                <a:latin typeface="Abadi"/>
              </a:rPr>
              <a:t>14-d interest weights: ratings x genres of enrolled courses</a:t>
            </a:r>
          </a:p>
        </p:txBody>
      </p:sp>
      <p:sp>
        <p:nvSpPr>
          <p:cNvPr id="10" name="Oval 9"/>
          <p:cNvSpPr/>
          <p:nvPr/>
        </p:nvSpPr>
        <p:spPr>
          <a:xfrm>
            <a:off x="6181344"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3</a:t>
            </a:r>
          </a:p>
        </p:txBody>
      </p:sp>
      <p:sp>
        <p:nvSpPr>
          <p:cNvPr id="11" name="Rounded Rectangle 10"/>
          <p:cNvSpPr/>
          <p:nvPr/>
        </p:nvSpPr>
        <p:spPr>
          <a:xfrm>
            <a:off x="9006840"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Unseen courses</a:t>
            </a:r>
          </a:p>
          <a:p>
            <a:pPr algn="ctr">
              <a:spcAft>
                <a:spcPts val="0"/>
              </a:spcAft>
            </a:pPr>
            <a:r>
              <a:rPr sz="1050" b="0" i="0">
                <a:solidFill>
                  <a:srgbClr val="52514E"/>
                </a:solidFill>
                <a:latin typeface="Abadi"/>
              </a:rPr>
              <a:t>all courses minus the courses the user enrolled in</a:t>
            </a:r>
          </a:p>
        </p:txBody>
      </p:sp>
      <p:sp>
        <p:nvSpPr>
          <p:cNvPr id="12" name="Oval 11"/>
          <p:cNvSpPr/>
          <p:nvPr/>
        </p:nvSpPr>
        <p:spPr>
          <a:xfrm>
            <a:off x="8897112"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4</a:t>
            </a:r>
          </a:p>
        </p:txBody>
      </p:sp>
      <p:sp>
        <p:nvSpPr>
          <p:cNvPr id="13" name="Rounded Rectangle 12"/>
          <p:cNvSpPr/>
          <p:nvPr/>
        </p:nvSpPr>
        <p:spPr>
          <a:xfrm>
            <a:off x="9006840" y="3401568"/>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Interest score</a:t>
            </a:r>
          </a:p>
          <a:p>
            <a:pPr algn="ctr">
              <a:spcAft>
                <a:spcPts val="0"/>
              </a:spcAft>
            </a:pPr>
            <a:r>
              <a:rPr sz="1050" b="0" i="0">
                <a:solidFill>
                  <a:srgbClr val="52514E"/>
                </a:solidFill>
                <a:latin typeface="Abadi"/>
              </a:rPr>
              <a:t>dot product of user profile and course genre vector</a:t>
            </a:r>
          </a:p>
        </p:txBody>
      </p:sp>
      <p:sp>
        <p:nvSpPr>
          <p:cNvPr id="14" name="Oval 13"/>
          <p:cNvSpPr/>
          <p:nvPr/>
        </p:nvSpPr>
        <p:spPr>
          <a:xfrm>
            <a:off x="8897112"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5</a:t>
            </a:r>
          </a:p>
        </p:txBody>
      </p:sp>
      <p:sp>
        <p:nvSpPr>
          <p:cNvPr id="15" name="Rounded Rectangle 14"/>
          <p:cNvSpPr/>
          <p:nvPr/>
        </p:nvSpPr>
        <p:spPr>
          <a:xfrm>
            <a:off x="6291072" y="3401568"/>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Threshold filter</a:t>
            </a:r>
          </a:p>
          <a:p>
            <a:pPr algn="ctr">
              <a:spcAft>
                <a:spcPts val="0"/>
              </a:spcAft>
            </a:pPr>
            <a:r>
              <a:rPr sz="1050" b="0" i="0">
                <a:solidFill>
                  <a:srgbClr val="52514E"/>
                </a:solidFill>
                <a:latin typeface="Abadi"/>
              </a:rPr>
              <a:t>keep unseen courses with score &gt;= 20</a:t>
            </a:r>
          </a:p>
        </p:txBody>
      </p:sp>
      <p:sp>
        <p:nvSpPr>
          <p:cNvPr id="16" name="Oval 15"/>
          <p:cNvSpPr/>
          <p:nvPr/>
        </p:nvSpPr>
        <p:spPr>
          <a:xfrm>
            <a:off x="6181344"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6</a:t>
            </a:r>
          </a:p>
        </p:txBody>
      </p:sp>
      <p:sp>
        <p:nvSpPr>
          <p:cNvPr id="17" name="Document 16"/>
          <p:cNvSpPr/>
          <p:nvPr/>
        </p:nvSpPr>
        <p:spPr>
          <a:xfrm>
            <a:off x="3575304" y="3401568"/>
            <a:ext cx="2331720" cy="1097280"/>
          </a:xfrm>
          <a:prstGeom prst="flowChartDocument">
            <a:avLst/>
          </a:prstGeom>
          <a:solidFill>
            <a:srgbClr val="0B49CB"/>
          </a:solidFill>
          <a:ln w="15875">
            <a:solidFill>
              <a:srgbClr val="0B49CB"/>
            </a:solidFill>
          </a:ln>
          <a:effectLst/>
        </p:spPr>
        <p:style>
          <a:lnRef idx="1">
            <a:schemeClr val="accent1"/>
          </a:lnRef>
          <a:fillRef idx="3">
            <a:schemeClr val="accent1"/>
          </a:fillRef>
          <a:effectRef idx="2">
            <a:schemeClr val="accent1"/>
          </a:effectRef>
          <a:fontRef idx="minor">
            <a:schemeClr val="lt1"/>
          </a:fontRef>
        </p:style>
        <p:txBody>
          <a:bodyPr rtlCol="0" anchor="ctr" tIns="54864" bIns="109728" wrap="square"/>
          <a:lstStyle/>
          <a:p>
            <a:pPr algn="ctr">
              <a:spcAft>
                <a:spcPts val="200"/>
              </a:spcAft>
            </a:pPr>
            <a:r>
              <a:rPr sz="1250" b="1" i="0">
                <a:solidFill>
                  <a:srgbClr val="FFFFFF"/>
                </a:solidFill>
                <a:latin typeface="Abadi"/>
              </a:rPr>
              <a:t>Recommendations</a:t>
            </a:r>
          </a:p>
          <a:p>
            <a:pPr algn="ctr">
              <a:spcAft>
                <a:spcPts val="0"/>
              </a:spcAft>
            </a:pPr>
            <a:r>
              <a:rPr sz="1050" b="0" i="0">
                <a:solidFill>
                  <a:srgbClr val="DCE6FA"/>
                </a:solidFill>
                <a:latin typeface="Abadi"/>
              </a:rPr>
              <a:t>USER, COURSE_ID, SCORE sorted by score</a:t>
            </a:r>
          </a:p>
        </p:txBody>
      </p:sp>
      <p:sp>
        <p:nvSpPr>
          <p:cNvPr id="18" name="Oval 17"/>
          <p:cNvSpPr/>
          <p:nvPr/>
        </p:nvSpPr>
        <p:spPr>
          <a:xfrm>
            <a:off x="3465576"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7</a:t>
            </a:r>
          </a:p>
        </p:txBody>
      </p:sp>
      <p:sp>
        <p:nvSpPr>
          <p:cNvPr id="19" name="Rounded Rectangle 18"/>
          <p:cNvSpPr/>
          <p:nvPr/>
        </p:nvSpPr>
        <p:spPr>
          <a:xfrm>
            <a:off x="859536" y="3401568"/>
            <a:ext cx="2331720" cy="1097280"/>
          </a:xfrm>
          <a:prstGeom prst="roundRect">
            <a:avLst>
              <a:gd name="adj" fmla="val 12000"/>
            </a:avLst>
          </a:prstGeom>
          <a:solidFill>
            <a:srgbClr val="FFFFFF"/>
          </a:solidFill>
          <a:ln w="15875">
            <a:solidFill>
              <a:srgbClr val="2A78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Evaluation</a:t>
            </a:r>
          </a:p>
          <a:p>
            <a:pPr algn="ctr">
              <a:spcAft>
                <a:spcPts val="0"/>
              </a:spcAft>
            </a:pPr>
            <a:r>
              <a:rPr sz="1050" b="0" i="0">
                <a:solidFill>
                  <a:srgbClr val="52514E"/>
                </a:solidFill>
                <a:latin typeface="Abadi"/>
              </a:rPr>
              <a:t>new courses per user and top-10 courses</a:t>
            </a:r>
          </a:p>
        </p:txBody>
      </p:sp>
      <p:sp>
        <p:nvSpPr>
          <p:cNvPr id="20" name="Oval 19"/>
          <p:cNvSpPr/>
          <p:nvPr/>
        </p:nvSpPr>
        <p:spPr>
          <a:xfrm>
            <a:off x="749808"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8</a:t>
            </a:r>
          </a:p>
        </p:txBody>
      </p:sp>
      <p:cxnSp>
        <p:nvCxnSpPr>
          <p:cNvPr id="21" name="Connector 20"/>
          <p:cNvCxnSpPr/>
          <p:nvPr/>
        </p:nvCxnSpPr>
        <p:spPr>
          <a:xfrm>
            <a:off x="3191256"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07024"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22792"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172700" y="2926080"/>
            <a:ext cx="0" cy="475488"/>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8622792"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907024"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191256"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1248" y="4773168"/>
            <a:ext cx="10515600" cy="1581912"/>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9848" y="4882896"/>
            <a:ext cx="10058400" cy="1399032"/>
          </a:xfrm>
          <a:prstGeom prst="rect">
            <a:avLst/>
          </a:prstGeom>
          <a:noFill/>
        </p:spPr>
        <p:txBody>
          <a:bodyPr wrap="square" anchor="t" lIns="0" rIns="0" tIns="0" bIns="0">
            <a:spAutoFit/>
          </a:bodyPr>
          <a:lstStyle/>
          <a:p>
            <a:pPr algn="l" marL="201168" indent="-201168">
              <a:spcAft>
                <a:spcPts val="600"/>
              </a:spcAft>
              <a:buClr>
                <a:srgbClr val="2A78D6"/>
              </a:buClr>
              <a:buFont typeface="Arial"/>
              <a:buChar char="•"/>
            </a:pPr>
            <a:r>
              <a:rPr sz="1400" b="0" i="0">
                <a:solidFill>
                  <a:srgbClr val="262626"/>
                </a:solidFill>
                <a:latin typeface="Abadi"/>
              </a:rPr>
              <a:t>Course genre vectors (307 x 14) and user profile vectors (33,901 x 14) live in the same genre space, so a dot product measures how well a course matches a learner's interests.</a:t>
            </a:r>
          </a:p>
          <a:p>
            <a:pPr algn="l" marL="201168" indent="-201168">
              <a:spcAft>
                <a:spcPts val="600"/>
              </a:spcAft>
              <a:buClr>
                <a:srgbClr val="2A78D6"/>
              </a:buClr>
              <a:buFont typeface="Arial"/>
              <a:buChar char="•"/>
            </a:pPr>
            <a:r>
              <a:rPr sz="1400" b="0" i="0">
                <a:solidFill>
                  <a:srgbClr val="262626"/>
                </a:solidFill>
                <a:latin typeface="Abadi"/>
              </a:rPr>
              <a:t>Only unseen courses are scored; the score threshold controls list length - the lab default of 10 gave 44 courses per user, so it was raised to 20.</a:t>
            </a:r>
          </a:p>
          <a:p>
            <a:pPr algn="l" marL="201168" indent="-201168">
              <a:spcAft>
                <a:spcPts val="600"/>
              </a:spcAft>
              <a:buClr>
                <a:srgbClr val="2A78D6"/>
              </a:buClr>
              <a:buFont typeface="Arial"/>
              <a:buChar char="•"/>
            </a:pPr>
            <a:r>
              <a:rPr sz="1400" b="0" i="0">
                <a:solidFill>
                  <a:srgbClr val="262626"/>
                </a:solidFill>
                <a:latin typeface="Abadi"/>
              </a:rPr>
              <a:t>Evaluation follows the lab questions: average number of new courses per test user and the 10 most frequently recommended courses.</a:t>
            </a:r>
          </a:p>
        </p:txBody>
      </p:sp>
    </p:spTree>
    <p:extLst>
      <p:ext uri="{BB962C8B-B14F-4D97-AF65-F5344CB8AC3E}">
        <p14:creationId xmlns:p14="http://schemas.microsoft.com/office/powerpoint/2010/main" val="2157654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of user profile-based recommender system</a:t>
            </a:r>
          </a:p>
        </p:txBody>
      </p:sp>
      <p:sp>
        <p:nvSpPr>
          <p:cNvPr id="5" name="Rounded Rectangle 4"/>
          <p:cNvSpPr/>
          <p:nvPr/>
        </p:nvSpPr>
        <p:spPr>
          <a:xfrm>
            <a:off x="841248" y="1755648"/>
            <a:ext cx="10515600" cy="530352"/>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24128" y="1755648"/>
            <a:ext cx="10149840" cy="530352"/>
          </a:xfrm>
          <a:prstGeom prst="rect">
            <a:avLst/>
          </a:prstGeom>
          <a:noFill/>
        </p:spPr>
        <p:txBody>
          <a:bodyPr wrap="square" anchor="ctr" lIns="0" rIns="0" tIns="0" bIns="0">
            <a:spAutoFit/>
          </a:bodyPr>
          <a:lstStyle/>
          <a:p>
            <a:pPr algn="l">
              <a:spcAft>
                <a:spcPts val="0"/>
              </a:spcAft>
            </a:pPr>
            <a:r>
              <a:rPr sz="1250" b="1" i="0">
                <a:solidFill>
                  <a:srgbClr val="0B49CB"/>
                </a:solidFill>
                <a:latin typeface="Abadi"/>
              </a:rPr>
              <a:t>Hyper-parameters:  </a:t>
            </a:r>
            <a:r>
              <a:rPr sz="1250" b="0" i="0">
                <a:solidFill>
                  <a:srgbClr val="262626"/>
                </a:solidFill>
                <a:latin typeface="Abadi"/>
              </a:rPr>
              <a:t>recommendation score threshold = 20 (dot product of user profile and course genres); thresholds 5-40 tested, chosen to keep lists under 20 courses.</a:t>
            </a:r>
          </a:p>
        </p:txBody>
      </p:sp>
      <p:sp>
        <p:nvSpPr>
          <p:cNvPr id="7" name="Rounded Rectangle 6"/>
          <p:cNvSpPr/>
          <p:nvPr/>
        </p:nvSpPr>
        <p:spPr>
          <a:xfrm>
            <a:off x="841248" y="2432304"/>
            <a:ext cx="4983480" cy="987552"/>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542032"/>
            <a:ext cx="4654296" cy="768096"/>
          </a:xfrm>
          <a:prstGeom prst="rect">
            <a:avLst/>
          </a:prstGeom>
          <a:noFill/>
        </p:spPr>
        <p:txBody>
          <a:bodyPr wrap="square" anchor="ctr" lIns="0" rIns="0" tIns="0" bIns="0">
            <a:spAutoFit/>
          </a:bodyPr>
          <a:lstStyle/>
          <a:p>
            <a:pPr algn="l">
              <a:spcAft>
                <a:spcPts val="200"/>
              </a:spcAft>
            </a:pPr>
            <a:r>
              <a:rPr sz="3000" b="1" i="0">
                <a:solidFill>
                  <a:srgbClr val="0B49CB"/>
                </a:solidFill>
                <a:latin typeface="Abadi"/>
              </a:rPr>
              <a:t>14.1</a:t>
            </a:r>
          </a:p>
          <a:p>
            <a:pPr algn="l">
              <a:spcAft>
                <a:spcPts val="0"/>
              </a:spcAft>
            </a:pPr>
            <a:r>
              <a:rPr sz="1150" b="0" i="0">
                <a:solidFill>
                  <a:srgbClr val="52514E"/>
                </a:solidFill>
                <a:latin typeface="Abadi"/>
              </a:rPr>
              <a:t>new/unseen courses recommended per test user on average (16,554 of 33,901 users receive at least one)</a:t>
            </a:r>
          </a:p>
        </p:txBody>
      </p:sp>
      <p:sp>
        <p:nvSpPr>
          <p:cNvPr id="9" name="TextBox 8"/>
          <p:cNvSpPr txBox="1"/>
          <p:nvPr/>
        </p:nvSpPr>
        <p:spPr>
          <a:xfrm>
            <a:off x="841248" y="3529584"/>
            <a:ext cx="4983480" cy="292608"/>
          </a:xfrm>
          <a:prstGeom prst="rect">
            <a:avLst/>
          </a:prstGeom>
          <a:noFill/>
        </p:spPr>
        <p:txBody>
          <a:bodyPr wrap="square" anchor="t" lIns="0" rIns="0" tIns="0" bIns="0">
            <a:spAutoFit/>
          </a:bodyPr>
          <a:lstStyle/>
          <a:p>
            <a:pPr algn="l">
              <a:spcAft>
                <a:spcPts val="0"/>
              </a:spcAft>
            </a:pPr>
            <a:r>
              <a:rPr sz="1200" b="1" i="0">
                <a:solidFill>
                  <a:srgbClr val="52514E"/>
                </a:solidFill>
                <a:latin typeface="Abadi"/>
              </a:rPr>
              <a:t>Average new courses per user by score threshold</a:t>
            </a:r>
          </a:p>
        </p:txBody>
      </p:sp>
      <p:graphicFrame>
        <p:nvGraphicFramePr>
          <p:cNvPr id="10" name="Chart 9"/>
          <p:cNvGraphicFramePr>
            <a:graphicFrameLocks noGrp="1"/>
          </p:cNvGraphicFramePr>
          <p:nvPr/>
        </p:nvGraphicFramePr>
        <p:xfrm>
          <a:off x="841248" y="3803904"/>
          <a:ext cx="4983480" cy="2551176"/>
        </p:xfrm>
        <a:graphic>
          <a:graphicData uri="http://schemas.openxmlformats.org/drawingml/2006/chart">
            <c:chart xmlns:c="http://schemas.openxmlformats.org/drawingml/2006/chart" r:id="rId2"/>
          </a:graphicData>
        </a:graphic>
      </p:graphicFrame>
      <p:sp>
        <p:nvSpPr>
          <p:cNvPr id="11" name="TextBox 10"/>
          <p:cNvSpPr txBox="1"/>
          <p:nvPr/>
        </p:nvSpPr>
        <p:spPr>
          <a:xfrm>
            <a:off x="6144768" y="2395728"/>
            <a:ext cx="5212080" cy="320040"/>
          </a:xfrm>
          <a:prstGeom prst="rect">
            <a:avLst/>
          </a:prstGeom>
          <a:noFill/>
        </p:spPr>
        <p:txBody>
          <a:bodyPr wrap="square" anchor="t" lIns="0" rIns="0" tIns="0" bIns="0">
            <a:spAutoFit/>
          </a:bodyPr>
          <a:lstStyle/>
          <a:p>
            <a:pPr algn="l">
              <a:spcAft>
                <a:spcPts val="0"/>
              </a:spcAft>
            </a:pPr>
            <a:r>
              <a:rPr sz="1400" b="1" i="0">
                <a:solidFill>
                  <a:srgbClr val="0B49CB"/>
                </a:solidFill>
                <a:latin typeface="Abadi"/>
              </a:rPr>
              <a:t>Top-10 most frequently recommended courses</a:t>
            </a:r>
          </a:p>
        </p:txBody>
      </p:sp>
      <p:graphicFrame>
        <p:nvGraphicFramePr>
          <p:cNvPr id="12" name="Table 11"/>
          <p:cNvGraphicFramePr>
            <a:graphicFrameLocks noGrp="1"/>
          </p:cNvGraphicFramePr>
          <p:nvPr/>
        </p:nvGraphicFramePr>
        <p:xfrm>
          <a:off x="6144768" y="2761488"/>
          <a:ext cx="5212079" cy="3570732"/>
        </p:xfrm>
        <a:graphic>
          <a:graphicData uri="http://schemas.openxmlformats.org/drawingml/2006/table">
            <a:tbl>
              <a:tblPr firstRow="1" bandRow="0">
                <a:tableStyleId>{2D5ABB26-0587-4C30-8999-92F81FD0307C}</a:tableStyleId>
              </a:tblPr>
              <a:tblGrid>
                <a:gridCol w="365760"/>
                <a:gridCol w="3977639"/>
                <a:gridCol w="868680"/>
              </a:tblGrid>
              <a:tr h="324612">
                <a:tc>
                  <a:txBody>
                    <a:bodyPr wrap="square"/>
                    <a:lstStyle/>
                    <a:p>
                      <a:pPr algn="ctr">
                        <a:spcAft>
                          <a:spcPts val="0"/>
                        </a:spcAft>
                      </a:pPr>
                      <a:r>
                        <a:rPr sz="1100" b="1" i="0">
                          <a:solidFill>
                            <a:srgbClr val="FFFFFF"/>
                          </a:solidFill>
                          <a:latin typeface="Abadi"/>
                        </a:rPr>
                        <a:t>#</a:t>
                      </a:r>
                    </a:p>
                  </a:txBody>
                  <a:tcPr marL="73152" marR="73152" marT="18288" marB="18288" anchor="ctr">
                    <a:solidFill>
                      <a:srgbClr val="0B49CB"/>
                    </a:solidFill>
                  </a:tcPr>
                </a:tc>
                <a:tc>
                  <a:txBody>
                    <a:bodyPr wrap="square"/>
                    <a:lstStyle/>
                    <a:p>
                      <a:pPr algn="l">
                        <a:spcAft>
                          <a:spcPts val="0"/>
                        </a:spcAft>
                      </a:pPr>
                      <a:r>
                        <a:rPr sz="1100" b="1" i="0">
                          <a:solidFill>
                            <a:srgbClr val="FFFFFF"/>
                          </a:solidFill>
                          <a:latin typeface="Abadi"/>
                        </a:rPr>
                        <a:t>Course</a:t>
                      </a:r>
                    </a:p>
                  </a:txBody>
                  <a:tcPr marL="73152" marR="73152" marT="18288" marB="18288" anchor="ctr">
                    <a:solidFill>
                      <a:srgbClr val="0B49CB"/>
                    </a:solidFill>
                  </a:tcPr>
                </a:tc>
                <a:tc>
                  <a:txBody>
                    <a:bodyPr wrap="square"/>
                    <a:lstStyle/>
                    <a:p>
                      <a:pPr algn="r">
                        <a:spcAft>
                          <a:spcPts val="0"/>
                        </a:spcAft>
                      </a:pPr>
                      <a:r>
                        <a:rPr sz="1100" b="1" i="0">
                          <a:solidFill>
                            <a:srgbClr val="FFFFFF"/>
                          </a:solidFill>
                          <a:latin typeface="Abadi"/>
                        </a:rPr>
                        <a:t>Times</a:t>
                      </a:r>
                    </a:p>
                  </a:txBody>
                  <a:tcPr marL="73152" marR="73152" marT="18288" marB="18288" anchor="ctr">
                    <a:solidFill>
                      <a:srgbClr val="0B49CB"/>
                    </a:solidFill>
                  </a:tcPr>
                </a:tc>
              </a:tr>
              <a:tr h="324612">
                <a:tc>
                  <a:txBody>
                    <a:bodyPr wrap="square"/>
                    <a:lstStyle/>
                    <a:p>
                      <a:pPr algn="ctr">
                        <a:spcAft>
                          <a:spcPts val="0"/>
                        </a:spcAft>
                      </a:pPr>
                      <a:r>
                        <a:rPr sz="1100" b="0" i="0">
                          <a:solidFill>
                            <a:srgbClr val="262626"/>
                          </a:solidFill>
                          <a:latin typeface="Abadi"/>
                        </a:rPr>
                        <a:t>1</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Foundations for Big Data Analysis with SQL</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9,138</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2</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Analyzing Big Data with SQL</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9,138</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3</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Getting Started with the Data Apache Spark Makers Build</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8,954</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4</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Analyzing Big Data in R using Apache Spark</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8,769</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5</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Spark Overview for Scala Analytics</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7,970</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6</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Cloud Computing Applications Part 2 Big Data and Applications in the Cloud</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7,853</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7</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Applied Machine Learning in Python</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7,671</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8</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Introduction to Data Science in Python</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7,671</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9</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Accelerating Deep Learning with GPU</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7,633</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10</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Spark Fundamentals II</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7,203</a:t>
                      </a:r>
                    </a:p>
                  </a:txBody>
                  <a:tcPr marL="73152" marR="73152" marT="18288" marB="18288" anchor="ctr">
                    <a:lnL w="0">
                      <a:noFill/>
                    </a:lnL>
                    <a:lnR w="0">
                      <a:noFill/>
                    </a:lnR>
                    <a:lnT w="0">
                      <a:noFill/>
                    </a:lnT>
                    <a:lnB w="9525">
                      <a:solidFill>
                        <a:srgbClr val="E1E0D9"/>
                      </a:solidFill>
                    </a:lnB>
                    <a:solidFill>
                      <a:srgbClr val="F4F4F1"/>
                    </a:solidFill>
                  </a:tcPr>
                </a:tc>
              </a:tr>
            </a:tbl>
          </a:graphicData>
        </a:graphic>
      </p:graphicFrame>
    </p:spTree>
    <p:extLst>
      <p:ext uri="{BB962C8B-B14F-4D97-AF65-F5344CB8AC3E}">
        <p14:creationId xmlns:p14="http://schemas.microsoft.com/office/powerpoint/2010/main" val="3024823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content-based recommender system using course similarity</a:t>
            </a:r>
          </a:p>
        </p:txBody>
      </p:sp>
      <p:sp>
        <p:nvSpPr>
          <p:cNvPr id="5" name="Magnetic Disk 4"/>
          <p:cNvSpPr/>
          <p:nvPr/>
        </p:nvSpPr>
        <p:spPr>
          <a:xfrm>
            <a:off x="859536" y="1828800"/>
            <a:ext cx="2331720" cy="1097280"/>
          </a:xfrm>
          <a:prstGeom prst="flowChartMagneticDisk">
            <a:avLst/>
          </a:prstGeom>
          <a:solidFill>
            <a:srgbClr val="F4F4F1"/>
          </a:solidFill>
          <a:ln w="15875">
            <a:solidFill>
              <a:srgbClr val="C3C2B7"/>
            </a:solidFill>
          </a:ln>
          <a:effectLst/>
        </p:spPr>
        <p:style>
          <a:lnRef idx="1">
            <a:schemeClr val="accent1"/>
          </a:lnRef>
          <a:fillRef idx="3">
            <a:schemeClr val="accent1"/>
          </a:fillRef>
          <a:effectRef idx="2">
            <a:schemeClr val="accent1"/>
          </a:effectRef>
          <a:fontRef idx="minor">
            <a:schemeClr val="lt1"/>
          </a:fontRef>
        </p:style>
        <p:txBody>
          <a:bodyPr rtlCol="0" anchor="ctr" tIns="201168" bIns="54864" wrap="square"/>
          <a:lstStyle/>
          <a:p>
            <a:pPr algn="ctr">
              <a:spcAft>
                <a:spcPts val="200"/>
              </a:spcAft>
            </a:pPr>
            <a:r>
              <a:rPr sz="1250" b="1" i="0">
                <a:solidFill>
                  <a:srgbClr val="262626"/>
                </a:solidFill>
                <a:latin typeface="Abadi"/>
              </a:rPr>
              <a:t>Raw data</a:t>
            </a:r>
          </a:p>
          <a:p>
            <a:pPr algn="ctr">
              <a:spcAft>
                <a:spcPts val="0"/>
              </a:spcAft>
            </a:pPr>
            <a:r>
              <a:rPr sz="1050" b="0" i="0">
                <a:solidFill>
                  <a:srgbClr val="52514E"/>
                </a:solidFill>
                <a:latin typeface="Abadi"/>
              </a:rPr>
              <a:t>course_processed.csv (titles + descriptions), ratings.csv</a:t>
            </a:r>
          </a:p>
        </p:txBody>
      </p:sp>
      <p:sp>
        <p:nvSpPr>
          <p:cNvPr id="6" name="Oval 5"/>
          <p:cNvSpPr/>
          <p:nvPr/>
        </p:nvSpPr>
        <p:spPr>
          <a:xfrm>
            <a:off x="749808"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1</a:t>
            </a:r>
          </a:p>
        </p:txBody>
      </p:sp>
      <p:sp>
        <p:nvSpPr>
          <p:cNvPr id="7" name="Rounded Rectangle 6"/>
          <p:cNvSpPr/>
          <p:nvPr/>
        </p:nvSpPr>
        <p:spPr>
          <a:xfrm>
            <a:off x="3575304"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Text processing</a:t>
            </a:r>
          </a:p>
          <a:p>
            <a:pPr algn="ctr">
              <a:spcAft>
                <a:spcPts val="0"/>
              </a:spcAft>
            </a:pPr>
            <a:r>
              <a:rPr sz="1050" b="0" i="0">
                <a:solidFill>
                  <a:srgbClr val="52514E"/>
                </a:solidFill>
                <a:latin typeface="Abadi"/>
              </a:rPr>
              <a:t>NLTK: tokenize, drop stop words and numbers, keep nouns</a:t>
            </a:r>
          </a:p>
        </p:txBody>
      </p:sp>
      <p:sp>
        <p:nvSpPr>
          <p:cNvPr id="8" name="Oval 7"/>
          <p:cNvSpPr/>
          <p:nvPr/>
        </p:nvSpPr>
        <p:spPr>
          <a:xfrm>
            <a:off x="3465576"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2</a:t>
            </a:r>
          </a:p>
        </p:txBody>
      </p:sp>
      <p:sp>
        <p:nvSpPr>
          <p:cNvPr id="9" name="Rounded Rectangle 8"/>
          <p:cNvSpPr/>
          <p:nvPr/>
        </p:nvSpPr>
        <p:spPr>
          <a:xfrm>
            <a:off x="6291072"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Bag of words</a:t>
            </a:r>
          </a:p>
          <a:p>
            <a:pPr algn="ctr">
              <a:spcAft>
                <a:spcPts val="0"/>
              </a:spcAft>
            </a:pPr>
            <a:r>
              <a:rPr sz="1050" b="0" i="0">
                <a:solidFill>
                  <a:srgbClr val="52514E"/>
                </a:solidFill>
                <a:latin typeface="Abadi"/>
              </a:rPr>
              <a:t>gensim Dictionary + doc2bow: token counts per course</a:t>
            </a:r>
          </a:p>
        </p:txBody>
      </p:sp>
      <p:sp>
        <p:nvSpPr>
          <p:cNvPr id="10" name="Oval 9"/>
          <p:cNvSpPr/>
          <p:nvPr/>
        </p:nvSpPr>
        <p:spPr>
          <a:xfrm>
            <a:off x="6181344"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3</a:t>
            </a:r>
          </a:p>
        </p:txBody>
      </p:sp>
      <p:sp>
        <p:nvSpPr>
          <p:cNvPr id="11" name="Rounded Rectangle 10"/>
          <p:cNvSpPr/>
          <p:nvPr/>
        </p:nvSpPr>
        <p:spPr>
          <a:xfrm>
            <a:off x="9006840"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Similarity matrix</a:t>
            </a:r>
          </a:p>
          <a:p>
            <a:pPr algn="ctr">
              <a:spcAft>
                <a:spcPts val="0"/>
              </a:spcAft>
            </a:pPr>
            <a:r>
              <a:rPr sz="1050" b="0" i="0">
                <a:solidFill>
                  <a:srgbClr val="52514E"/>
                </a:solidFill>
                <a:latin typeface="Abadi"/>
              </a:rPr>
              <a:t>cosine similarity of BoW vectors, 307 x 307</a:t>
            </a:r>
          </a:p>
        </p:txBody>
      </p:sp>
      <p:sp>
        <p:nvSpPr>
          <p:cNvPr id="12" name="Oval 11"/>
          <p:cNvSpPr/>
          <p:nvPr/>
        </p:nvSpPr>
        <p:spPr>
          <a:xfrm>
            <a:off x="8897112"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4</a:t>
            </a:r>
          </a:p>
        </p:txBody>
      </p:sp>
      <p:sp>
        <p:nvSpPr>
          <p:cNvPr id="13" name="Rounded Rectangle 12"/>
          <p:cNvSpPr/>
          <p:nvPr/>
        </p:nvSpPr>
        <p:spPr>
          <a:xfrm>
            <a:off x="9006840" y="3401568"/>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Enrolled vs unseen</a:t>
            </a:r>
          </a:p>
          <a:p>
            <a:pPr algn="ctr">
              <a:spcAft>
                <a:spcPts val="0"/>
              </a:spcAft>
            </a:pPr>
            <a:r>
              <a:rPr sz="1050" b="0" i="0">
                <a:solidFill>
                  <a:srgbClr val="52514E"/>
                </a:solidFill>
                <a:latin typeface="Abadi"/>
              </a:rPr>
              <a:t>similarity of each unseen course to each enrolled course</a:t>
            </a:r>
          </a:p>
        </p:txBody>
      </p:sp>
      <p:sp>
        <p:nvSpPr>
          <p:cNvPr id="14" name="Oval 13"/>
          <p:cNvSpPr/>
          <p:nvPr/>
        </p:nvSpPr>
        <p:spPr>
          <a:xfrm>
            <a:off x="8897112"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5</a:t>
            </a:r>
          </a:p>
        </p:txBody>
      </p:sp>
      <p:sp>
        <p:nvSpPr>
          <p:cNvPr id="15" name="Rounded Rectangle 14"/>
          <p:cNvSpPr/>
          <p:nvPr/>
        </p:nvSpPr>
        <p:spPr>
          <a:xfrm>
            <a:off x="6291072" y="3401568"/>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Best match + threshold</a:t>
            </a:r>
          </a:p>
          <a:p>
            <a:pPr algn="ctr">
              <a:spcAft>
                <a:spcPts val="0"/>
              </a:spcAft>
            </a:pPr>
            <a:r>
              <a:rPr sz="1050" b="0" i="0">
                <a:solidFill>
                  <a:srgbClr val="52514E"/>
                </a:solidFill>
                <a:latin typeface="Abadi"/>
              </a:rPr>
              <a:t>keep the highest similarity; recommend if &gt; 0.6</a:t>
            </a:r>
          </a:p>
        </p:txBody>
      </p:sp>
      <p:sp>
        <p:nvSpPr>
          <p:cNvPr id="16" name="Oval 15"/>
          <p:cNvSpPr/>
          <p:nvPr/>
        </p:nvSpPr>
        <p:spPr>
          <a:xfrm>
            <a:off x="6181344"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6</a:t>
            </a:r>
          </a:p>
        </p:txBody>
      </p:sp>
      <p:sp>
        <p:nvSpPr>
          <p:cNvPr id="17" name="Document 16"/>
          <p:cNvSpPr/>
          <p:nvPr/>
        </p:nvSpPr>
        <p:spPr>
          <a:xfrm>
            <a:off x="3575304" y="3401568"/>
            <a:ext cx="2331720" cy="1097280"/>
          </a:xfrm>
          <a:prstGeom prst="flowChartDocument">
            <a:avLst/>
          </a:prstGeom>
          <a:solidFill>
            <a:srgbClr val="0B49CB"/>
          </a:solidFill>
          <a:ln w="15875">
            <a:solidFill>
              <a:srgbClr val="0B49CB"/>
            </a:solidFill>
          </a:ln>
          <a:effectLst/>
        </p:spPr>
        <p:style>
          <a:lnRef idx="1">
            <a:schemeClr val="accent1"/>
          </a:lnRef>
          <a:fillRef idx="3">
            <a:schemeClr val="accent1"/>
          </a:fillRef>
          <a:effectRef idx="2">
            <a:schemeClr val="accent1"/>
          </a:effectRef>
          <a:fontRef idx="minor">
            <a:schemeClr val="lt1"/>
          </a:fontRef>
        </p:style>
        <p:txBody>
          <a:bodyPr rtlCol="0" anchor="ctr" tIns="54864" bIns="109728" wrap="square"/>
          <a:lstStyle/>
          <a:p>
            <a:pPr algn="ctr">
              <a:spcAft>
                <a:spcPts val="200"/>
              </a:spcAft>
            </a:pPr>
            <a:r>
              <a:rPr sz="1250" b="1" i="0">
                <a:solidFill>
                  <a:srgbClr val="FFFFFF"/>
                </a:solidFill>
                <a:latin typeface="Abadi"/>
              </a:rPr>
              <a:t>Recommendations</a:t>
            </a:r>
          </a:p>
          <a:p>
            <a:pPr algn="ctr">
              <a:spcAft>
                <a:spcPts val="0"/>
              </a:spcAft>
            </a:pPr>
            <a:r>
              <a:rPr sz="1050" b="0" i="0">
                <a:solidFill>
                  <a:srgbClr val="DCE6FA"/>
                </a:solidFill>
                <a:latin typeface="Abadi"/>
              </a:rPr>
              <a:t>USER, COURSE_ID, SCORE sorted by similarity</a:t>
            </a:r>
          </a:p>
        </p:txBody>
      </p:sp>
      <p:sp>
        <p:nvSpPr>
          <p:cNvPr id="18" name="Oval 17"/>
          <p:cNvSpPr/>
          <p:nvPr/>
        </p:nvSpPr>
        <p:spPr>
          <a:xfrm>
            <a:off x="3465576"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7</a:t>
            </a:r>
          </a:p>
        </p:txBody>
      </p:sp>
      <p:sp>
        <p:nvSpPr>
          <p:cNvPr id="19" name="Rounded Rectangle 18"/>
          <p:cNvSpPr/>
          <p:nvPr/>
        </p:nvSpPr>
        <p:spPr>
          <a:xfrm>
            <a:off x="859536" y="3401568"/>
            <a:ext cx="2331720" cy="1097280"/>
          </a:xfrm>
          <a:prstGeom prst="roundRect">
            <a:avLst>
              <a:gd name="adj" fmla="val 12000"/>
            </a:avLst>
          </a:prstGeom>
          <a:solidFill>
            <a:srgbClr val="FFFFFF"/>
          </a:solidFill>
          <a:ln w="15875">
            <a:solidFill>
              <a:srgbClr val="2A78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Evaluation</a:t>
            </a:r>
          </a:p>
          <a:p>
            <a:pPr algn="ctr">
              <a:spcAft>
                <a:spcPts val="0"/>
              </a:spcAft>
            </a:pPr>
            <a:r>
              <a:rPr sz="1050" b="0" i="0">
                <a:solidFill>
                  <a:srgbClr val="52514E"/>
                </a:solidFill>
                <a:latin typeface="Abadi"/>
              </a:rPr>
              <a:t>new courses per user and top-10 courses</a:t>
            </a:r>
          </a:p>
        </p:txBody>
      </p:sp>
      <p:sp>
        <p:nvSpPr>
          <p:cNvPr id="20" name="Oval 19"/>
          <p:cNvSpPr/>
          <p:nvPr/>
        </p:nvSpPr>
        <p:spPr>
          <a:xfrm>
            <a:off x="749808"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8</a:t>
            </a:r>
          </a:p>
        </p:txBody>
      </p:sp>
      <p:cxnSp>
        <p:nvCxnSpPr>
          <p:cNvPr id="21" name="Connector 20"/>
          <p:cNvCxnSpPr/>
          <p:nvPr/>
        </p:nvCxnSpPr>
        <p:spPr>
          <a:xfrm>
            <a:off x="3191256"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07024"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22792"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172700" y="2926080"/>
            <a:ext cx="0" cy="475488"/>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8622792"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907024"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191256"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1248" y="4773168"/>
            <a:ext cx="10515600" cy="1581912"/>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9848" y="4882896"/>
            <a:ext cx="10058400" cy="1399032"/>
          </a:xfrm>
          <a:prstGeom prst="rect">
            <a:avLst/>
          </a:prstGeom>
          <a:noFill/>
        </p:spPr>
        <p:txBody>
          <a:bodyPr wrap="square" anchor="t" lIns="0" rIns="0" tIns="0" bIns="0">
            <a:spAutoFit/>
          </a:bodyPr>
          <a:lstStyle/>
          <a:p>
            <a:pPr algn="l" marL="201168" indent="-201168">
              <a:spcAft>
                <a:spcPts val="600"/>
              </a:spcAft>
              <a:buClr>
                <a:srgbClr val="2A78D6"/>
              </a:buClr>
              <a:buFont typeface="Arial"/>
              <a:buChar char="•"/>
            </a:pPr>
            <a:r>
              <a:rPr sz="1400" b="0" i="0">
                <a:solidFill>
                  <a:srgbClr val="262626"/>
                </a:solidFill>
                <a:latin typeface="Abadi"/>
              </a:rPr>
              <a:t>Each course is represented by the bag of words of its title and description (stop words removed, nouns kept), giving sparse token-count vectors.</a:t>
            </a:r>
          </a:p>
          <a:p>
            <a:pPr algn="l" marL="201168" indent="-201168">
              <a:spcAft>
                <a:spcPts val="600"/>
              </a:spcAft>
              <a:buClr>
                <a:srgbClr val="2A78D6"/>
              </a:buClr>
              <a:buFont typeface="Arial"/>
              <a:buChar char="•"/>
            </a:pPr>
            <a:r>
              <a:rPr sz="1400" b="0" i="0">
                <a:solidFill>
                  <a:srgbClr val="262626"/>
                </a:solidFill>
                <a:latin typeface="Abadi"/>
              </a:rPr>
              <a:t>Cosine similarity between BoW vectors measures content overlap; e.g. Machine Learning with Python vs Machine Learning with R = 0.66.</a:t>
            </a:r>
          </a:p>
          <a:p>
            <a:pPr algn="l" marL="201168" indent="-201168">
              <a:spcAft>
                <a:spcPts val="600"/>
              </a:spcAft>
              <a:buClr>
                <a:srgbClr val="2A78D6"/>
              </a:buClr>
              <a:buFont typeface="Arial"/>
              <a:buChar char="•"/>
            </a:pPr>
            <a:r>
              <a:rPr sz="1400" b="0" i="0">
                <a:solidFill>
                  <a:srgbClr val="262626"/>
                </a:solidFill>
                <a:latin typeface="Abadi"/>
              </a:rPr>
              <a:t>For every test user an unseen course is recommended when its best similarity to one of the user's enrolled courses exceeds 0.6.</a:t>
            </a:r>
          </a:p>
        </p:txBody>
      </p:sp>
    </p:spTree>
    <p:extLst>
      <p:ext uri="{BB962C8B-B14F-4D97-AF65-F5344CB8AC3E}">
        <p14:creationId xmlns:p14="http://schemas.microsoft.com/office/powerpoint/2010/main" val="2153156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of course similarity based recommender system</a:t>
            </a:r>
          </a:p>
        </p:txBody>
      </p:sp>
      <p:sp>
        <p:nvSpPr>
          <p:cNvPr id="5" name="Rounded Rectangle 4"/>
          <p:cNvSpPr/>
          <p:nvPr/>
        </p:nvSpPr>
        <p:spPr>
          <a:xfrm>
            <a:off x="841248" y="1755648"/>
            <a:ext cx="10515600" cy="530352"/>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24128" y="1755648"/>
            <a:ext cx="10149840" cy="530352"/>
          </a:xfrm>
          <a:prstGeom prst="rect">
            <a:avLst/>
          </a:prstGeom>
          <a:noFill/>
        </p:spPr>
        <p:txBody>
          <a:bodyPr wrap="square" anchor="ctr" lIns="0" rIns="0" tIns="0" bIns="0">
            <a:spAutoFit/>
          </a:bodyPr>
          <a:lstStyle/>
          <a:p>
            <a:pPr algn="l">
              <a:spcAft>
                <a:spcPts val="0"/>
              </a:spcAft>
            </a:pPr>
            <a:r>
              <a:rPr sz="1250" b="1" i="0">
                <a:solidFill>
                  <a:srgbClr val="0B49CB"/>
                </a:solidFill>
                <a:latin typeface="Abadi"/>
              </a:rPr>
              <a:t>Hyper-parameters:  </a:t>
            </a:r>
            <a:r>
              <a:rPr sz="1250" b="0" i="0">
                <a:solidFill>
                  <a:srgbClr val="262626"/>
                </a:solidFill>
                <a:latin typeface="Abadi"/>
              </a:rPr>
              <a:t>cosine similarity threshold = 0.6 on the BoW course similarity matrix (an unseen course must exceed it for at least one enrolled course); 0.4-0.8 tested.</a:t>
            </a:r>
          </a:p>
        </p:txBody>
      </p:sp>
      <p:sp>
        <p:nvSpPr>
          <p:cNvPr id="7" name="Rounded Rectangle 6"/>
          <p:cNvSpPr/>
          <p:nvPr/>
        </p:nvSpPr>
        <p:spPr>
          <a:xfrm>
            <a:off x="841248" y="2432304"/>
            <a:ext cx="4983480" cy="987552"/>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542032"/>
            <a:ext cx="4654296" cy="768096"/>
          </a:xfrm>
          <a:prstGeom prst="rect">
            <a:avLst/>
          </a:prstGeom>
          <a:noFill/>
        </p:spPr>
        <p:txBody>
          <a:bodyPr wrap="square" anchor="ctr" lIns="0" rIns="0" tIns="0" bIns="0">
            <a:spAutoFit/>
          </a:bodyPr>
          <a:lstStyle/>
          <a:p>
            <a:pPr algn="l">
              <a:spcAft>
                <a:spcPts val="200"/>
              </a:spcAft>
            </a:pPr>
            <a:r>
              <a:rPr sz="3000" b="1" i="0">
                <a:solidFill>
                  <a:srgbClr val="0B49CB"/>
                </a:solidFill>
                <a:latin typeface="Abadi"/>
              </a:rPr>
              <a:t>8.5</a:t>
            </a:r>
          </a:p>
          <a:p>
            <a:pPr algn="l">
              <a:spcAft>
                <a:spcPts val="0"/>
              </a:spcAft>
            </a:pPr>
            <a:r>
              <a:rPr sz="1150" b="0" i="0">
                <a:solidFill>
                  <a:srgbClr val="52514E"/>
                </a:solidFill>
                <a:latin typeface="Abadi"/>
              </a:rPr>
              <a:t>new/unseen courses recommended per test user on average (29,661 of 33,901 users receive at least one)</a:t>
            </a:r>
          </a:p>
        </p:txBody>
      </p:sp>
      <p:sp>
        <p:nvSpPr>
          <p:cNvPr id="9" name="TextBox 8"/>
          <p:cNvSpPr txBox="1"/>
          <p:nvPr/>
        </p:nvSpPr>
        <p:spPr>
          <a:xfrm>
            <a:off x="841248" y="3529584"/>
            <a:ext cx="4983480" cy="292608"/>
          </a:xfrm>
          <a:prstGeom prst="rect">
            <a:avLst/>
          </a:prstGeom>
          <a:noFill/>
        </p:spPr>
        <p:txBody>
          <a:bodyPr wrap="square" anchor="t" lIns="0" rIns="0" tIns="0" bIns="0">
            <a:spAutoFit/>
          </a:bodyPr>
          <a:lstStyle/>
          <a:p>
            <a:pPr algn="l">
              <a:spcAft>
                <a:spcPts val="0"/>
              </a:spcAft>
            </a:pPr>
            <a:r>
              <a:rPr sz="1200" b="1" i="0">
                <a:solidFill>
                  <a:srgbClr val="52514E"/>
                </a:solidFill>
                <a:latin typeface="Abadi"/>
              </a:rPr>
              <a:t>Average new courses per user by similarity threshold</a:t>
            </a:r>
          </a:p>
        </p:txBody>
      </p:sp>
      <p:graphicFrame>
        <p:nvGraphicFramePr>
          <p:cNvPr id="10" name="Chart 9"/>
          <p:cNvGraphicFramePr>
            <a:graphicFrameLocks noGrp="1"/>
          </p:cNvGraphicFramePr>
          <p:nvPr/>
        </p:nvGraphicFramePr>
        <p:xfrm>
          <a:off x="841248" y="3803904"/>
          <a:ext cx="4983480" cy="2551176"/>
        </p:xfrm>
        <a:graphic>
          <a:graphicData uri="http://schemas.openxmlformats.org/drawingml/2006/chart">
            <c:chart xmlns:c="http://schemas.openxmlformats.org/drawingml/2006/chart" r:id="rId2"/>
          </a:graphicData>
        </a:graphic>
      </p:graphicFrame>
      <p:sp>
        <p:nvSpPr>
          <p:cNvPr id="11" name="TextBox 10"/>
          <p:cNvSpPr txBox="1"/>
          <p:nvPr/>
        </p:nvSpPr>
        <p:spPr>
          <a:xfrm>
            <a:off x="6144768" y="2395728"/>
            <a:ext cx="5212080" cy="320040"/>
          </a:xfrm>
          <a:prstGeom prst="rect">
            <a:avLst/>
          </a:prstGeom>
          <a:noFill/>
        </p:spPr>
        <p:txBody>
          <a:bodyPr wrap="square" anchor="t" lIns="0" rIns="0" tIns="0" bIns="0">
            <a:spAutoFit/>
          </a:bodyPr>
          <a:lstStyle/>
          <a:p>
            <a:pPr algn="l">
              <a:spcAft>
                <a:spcPts val="0"/>
              </a:spcAft>
            </a:pPr>
            <a:r>
              <a:rPr sz="1400" b="1" i="0">
                <a:solidFill>
                  <a:srgbClr val="0B49CB"/>
                </a:solidFill>
                <a:latin typeface="Abadi"/>
              </a:rPr>
              <a:t>Top-10 most frequently recommended courses</a:t>
            </a:r>
          </a:p>
        </p:txBody>
      </p:sp>
      <p:graphicFrame>
        <p:nvGraphicFramePr>
          <p:cNvPr id="12" name="Table 11"/>
          <p:cNvGraphicFramePr>
            <a:graphicFrameLocks noGrp="1"/>
          </p:cNvGraphicFramePr>
          <p:nvPr/>
        </p:nvGraphicFramePr>
        <p:xfrm>
          <a:off x="6144768" y="2761488"/>
          <a:ext cx="5212079" cy="3570732"/>
        </p:xfrm>
        <a:graphic>
          <a:graphicData uri="http://schemas.openxmlformats.org/drawingml/2006/table">
            <a:tbl>
              <a:tblPr firstRow="1" bandRow="0">
                <a:tableStyleId>{2D5ABB26-0587-4C30-8999-92F81FD0307C}</a:tableStyleId>
              </a:tblPr>
              <a:tblGrid>
                <a:gridCol w="365760"/>
                <a:gridCol w="3977639"/>
                <a:gridCol w="868680"/>
              </a:tblGrid>
              <a:tr h="324612">
                <a:tc>
                  <a:txBody>
                    <a:bodyPr wrap="square"/>
                    <a:lstStyle/>
                    <a:p>
                      <a:pPr algn="ctr">
                        <a:spcAft>
                          <a:spcPts val="0"/>
                        </a:spcAft>
                      </a:pPr>
                      <a:r>
                        <a:rPr sz="1100" b="1" i="0">
                          <a:solidFill>
                            <a:srgbClr val="FFFFFF"/>
                          </a:solidFill>
                          <a:latin typeface="Abadi"/>
                        </a:rPr>
                        <a:t>#</a:t>
                      </a:r>
                    </a:p>
                  </a:txBody>
                  <a:tcPr marL="73152" marR="73152" marT="18288" marB="18288" anchor="ctr">
                    <a:solidFill>
                      <a:srgbClr val="0B49CB"/>
                    </a:solidFill>
                  </a:tcPr>
                </a:tc>
                <a:tc>
                  <a:txBody>
                    <a:bodyPr wrap="square"/>
                    <a:lstStyle/>
                    <a:p>
                      <a:pPr algn="l">
                        <a:spcAft>
                          <a:spcPts val="0"/>
                        </a:spcAft>
                      </a:pPr>
                      <a:r>
                        <a:rPr sz="1100" b="1" i="0">
                          <a:solidFill>
                            <a:srgbClr val="FFFFFF"/>
                          </a:solidFill>
                          <a:latin typeface="Abadi"/>
                        </a:rPr>
                        <a:t>Course</a:t>
                      </a:r>
                    </a:p>
                  </a:txBody>
                  <a:tcPr marL="73152" marR="73152" marT="18288" marB="18288" anchor="ctr">
                    <a:solidFill>
                      <a:srgbClr val="0B49CB"/>
                    </a:solidFill>
                  </a:tcPr>
                </a:tc>
                <a:tc>
                  <a:txBody>
                    <a:bodyPr wrap="square"/>
                    <a:lstStyle/>
                    <a:p>
                      <a:pPr algn="r">
                        <a:spcAft>
                          <a:spcPts val="0"/>
                        </a:spcAft>
                      </a:pPr>
                      <a:r>
                        <a:rPr sz="1100" b="1" i="0">
                          <a:solidFill>
                            <a:srgbClr val="FFFFFF"/>
                          </a:solidFill>
                          <a:latin typeface="Abadi"/>
                        </a:rPr>
                        <a:t>Times</a:t>
                      </a:r>
                    </a:p>
                  </a:txBody>
                  <a:tcPr marL="73152" marR="73152" marT="18288" marB="18288" anchor="ctr">
                    <a:solidFill>
                      <a:srgbClr val="0B49CB"/>
                    </a:solidFill>
                  </a:tcPr>
                </a:tc>
              </a:tr>
              <a:tr h="324612">
                <a:tc>
                  <a:txBody>
                    <a:bodyPr wrap="square"/>
                    <a:lstStyle/>
                    <a:p>
                      <a:pPr algn="ctr">
                        <a:spcAft>
                          <a:spcPts val="0"/>
                        </a:spcAft>
                      </a:pPr>
                      <a:r>
                        <a:rPr sz="1100" b="0" i="0">
                          <a:solidFill>
                            <a:srgbClr val="262626"/>
                          </a:solidFill>
                          <a:latin typeface="Abadi"/>
                        </a:rPr>
                        <a:t>1</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Data Science with Open Data</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15,003</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2</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Introduction to Data Science in Python (excourse22)</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14,937</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3</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Introduction to Data Science in Python (excourse62)</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14,937</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4</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A Crash Course in Data Science</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14,641</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5</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Data Science Fundamentals for Data Analysts</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14,641</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6</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Big Data Modeling and Management Systems</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13,551</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7</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Foundations for Big Data Analysis with SQL</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13,512</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8</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Fundamentals of Big Data</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13,291</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9</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Introduction to Big Data</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13,291</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10</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SQL Access for Hadoop</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12,497</a:t>
                      </a:r>
                    </a:p>
                  </a:txBody>
                  <a:tcPr marL="73152" marR="73152" marT="18288" marB="18288" anchor="ctr">
                    <a:lnL w="0">
                      <a:noFill/>
                    </a:lnL>
                    <a:lnR w="0">
                      <a:noFill/>
                    </a:lnR>
                    <a:lnT w="0">
                      <a:noFill/>
                    </a:lnT>
                    <a:lnB w="9525">
                      <a:solidFill>
                        <a:srgbClr val="E1E0D9"/>
                      </a:solidFill>
                    </a:lnB>
                    <a:solidFill>
                      <a:srgbClr val="F4F4F1"/>
                    </a:solidFill>
                  </a:tcPr>
                </a:tc>
              </a:tr>
            </a:tbl>
          </a:graphicData>
        </a:graphic>
      </p:graphicFrame>
    </p:spTree>
    <p:extLst>
      <p:ext uri="{BB962C8B-B14F-4D97-AF65-F5344CB8AC3E}">
        <p14:creationId xmlns:p14="http://schemas.microsoft.com/office/powerpoint/2010/main" val="3676389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clustering-based recommender system</a:t>
            </a:r>
          </a:p>
        </p:txBody>
      </p:sp>
      <p:sp>
        <p:nvSpPr>
          <p:cNvPr id="5" name="Magnetic Disk 4"/>
          <p:cNvSpPr/>
          <p:nvPr/>
        </p:nvSpPr>
        <p:spPr>
          <a:xfrm>
            <a:off x="859536" y="1828800"/>
            <a:ext cx="2331720" cy="1097280"/>
          </a:xfrm>
          <a:prstGeom prst="flowChartMagneticDisk">
            <a:avLst/>
          </a:prstGeom>
          <a:solidFill>
            <a:srgbClr val="F4F4F1"/>
          </a:solidFill>
          <a:ln w="15875">
            <a:solidFill>
              <a:srgbClr val="C3C2B7"/>
            </a:solidFill>
          </a:ln>
          <a:effectLst/>
        </p:spPr>
        <p:style>
          <a:lnRef idx="1">
            <a:schemeClr val="accent1"/>
          </a:lnRef>
          <a:fillRef idx="3">
            <a:schemeClr val="accent1"/>
          </a:fillRef>
          <a:effectRef idx="2">
            <a:schemeClr val="accent1"/>
          </a:effectRef>
          <a:fontRef idx="minor">
            <a:schemeClr val="lt1"/>
          </a:fontRef>
        </p:style>
        <p:txBody>
          <a:bodyPr rtlCol="0" anchor="ctr" tIns="201168" bIns="54864" wrap="square"/>
          <a:lstStyle/>
          <a:p>
            <a:pPr algn="ctr">
              <a:spcAft>
                <a:spcPts val="200"/>
              </a:spcAft>
            </a:pPr>
            <a:r>
              <a:rPr sz="1250" b="1" i="0">
                <a:solidFill>
                  <a:srgbClr val="262626"/>
                </a:solidFill>
                <a:latin typeface="Abadi"/>
              </a:rPr>
              <a:t>User profiles</a:t>
            </a:r>
          </a:p>
          <a:p>
            <a:pPr algn="ctr">
              <a:spcAft>
                <a:spcPts val="0"/>
              </a:spcAft>
            </a:pPr>
            <a:r>
              <a:rPr sz="1050" b="0" i="0">
                <a:solidFill>
                  <a:srgbClr val="52514E"/>
                </a:solidFill>
                <a:latin typeface="Abadi"/>
              </a:rPr>
              <a:t>user_profile.csv: 33,901 users x 14 genre interests</a:t>
            </a:r>
          </a:p>
        </p:txBody>
      </p:sp>
      <p:sp>
        <p:nvSpPr>
          <p:cNvPr id="6" name="Oval 5"/>
          <p:cNvSpPr/>
          <p:nvPr/>
        </p:nvSpPr>
        <p:spPr>
          <a:xfrm>
            <a:off x="749808"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1</a:t>
            </a:r>
          </a:p>
        </p:txBody>
      </p:sp>
      <p:sp>
        <p:nvSpPr>
          <p:cNvPr id="7" name="Rounded Rectangle 6"/>
          <p:cNvSpPr/>
          <p:nvPr/>
        </p:nvSpPr>
        <p:spPr>
          <a:xfrm>
            <a:off x="3575304"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Standardise</a:t>
            </a:r>
          </a:p>
          <a:p>
            <a:pPr algn="ctr">
              <a:spcAft>
                <a:spcPts val="0"/>
              </a:spcAft>
            </a:pPr>
            <a:r>
              <a:rPr sz="1050" b="0" i="0">
                <a:solidFill>
                  <a:srgbClr val="52514E"/>
                </a:solidFill>
                <a:latin typeface="Abadi"/>
              </a:rPr>
              <a:t>StandardScaler: mean 0 and std 1 for every genre feature</a:t>
            </a:r>
          </a:p>
        </p:txBody>
      </p:sp>
      <p:sp>
        <p:nvSpPr>
          <p:cNvPr id="8" name="Oval 7"/>
          <p:cNvSpPr/>
          <p:nvPr/>
        </p:nvSpPr>
        <p:spPr>
          <a:xfrm>
            <a:off x="3465576"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2</a:t>
            </a:r>
          </a:p>
        </p:txBody>
      </p:sp>
      <p:sp>
        <p:nvSpPr>
          <p:cNvPr id="9" name="Rounded Rectangle 8"/>
          <p:cNvSpPr/>
          <p:nvPr/>
        </p:nvSpPr>
        <p:spPr>
          <a:xfrm>
            <a:off x="6291072"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PCA</a:t>
            </a:r>
          </a:p>
          <a:p>
            <a:pPr algn="ctr">
              <a:spcAft>
                <a:spcPts val="0"/>
              </a:spcAft>
            </a:pPr>
            <a:r>
              <a:rPr sz="1050" b="0" i="0">
                <a:solidFill>
                  <a:srgbClr val="52514E"/>
                </a:solidFill>
                <a:latin typeface="Abadi"/>
              </a:rPr>
              <a:t>9 components explain &gt;= 90% of the variance</a:t>
            </a:r>
          </a:p>
        </p:txBody>
      </p:sp>
      <p:sp>
        <p:nvSpPr>
          <p:cNvPr id="10" name="Oval 9"/>
          <p:cNvSpPr/>
          <p:nvPr/>
        </p:nvSpPr>
        <p:spPr>
          <a:xfrm>
            <a:off x="6181344"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3</a:t>
            </a:r>
          </a:p>
        </p:txBody>
      </p:sp>
      <p:sp>
        <p:nvSpPr>
          <p:cNvPr id="11" name="Rounded Rectangle 10"/>
          <p:cNvSpPr/>
          <p:nvPr/>
        </p:nvSpPr>
        <p:spPr>
          <a:xfrm>
            <a:off x="9006840"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K-means</a:t>
            </a:r>
          </a:p>
          <a:p>
            <a:pPr algn="ctr">
              <a:spcAft>
                <a:spcPts val="0"/>
              </a:spcAft>
            </a:pPr>
            <a:r>
              <a:rPr sz="1050" b="0" i="0">
                <a:solidFill>
                  <a:srgbClr val="52514E"/>
                </a:solidFill>
                <a:latin typeface="Abadi"/>
              </a:rPr>
              <a:t>k = 8 from the elbow of the inertia curve</a:t>
            </a:r>
          </a:p>
        </p:txBody>
      </p:sp>
      <p:sp>
        <p:nvSpPr>
          <p:cNvPr id="12" name="Oval 11"/>
          <p:cNvSpPr/>
          <p:nvPr/>
        </p:nvSpPr>
        <p:spPr>
          <a:xfrm>
            <a:off x="8897112"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4</a:t>
            </a:r>
          </a:p>
        </p:txBody>
      </p:sp>
      <p:sp>
        <p:nvSpPr>
          <p:cNvPr id="13" name="Rounded Rectangle 12"/>
          <p:cNvSpPr/>
          <p:nvPr/>
        </p:nvSpPr>
        <p:spPr>
          <a:xfrm>
            <a:off x="9006840" y="3401568"/>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Label test users</a:t>
            </a:r>
          </a:p>
          <a:p>
            <a:pPr algn="ctr">
              <a:spcAft>
                <a:spcPts val="0"/>
              </a:spcAft>
            </a:pPr>
            <a:r>
              <a:rPr sz="1050" b="0" i="0">
                <a:solidFill>
                  <a:srgbClr val="52514E"/>
                </a:solidFill>
                <a:latin typeface="Abadi"/>
              </a:rPr>
              <a:t>join each user's cluster with the enrollments (ratings.csv)</a:t>
            </a:r>
          </a:p>
        </p:txBody>
      </p:sp>
      <p:sp>
        <p:nvSpPr>
          <p:cNvPr id="14" name="Oval 13"/>
          <p:cNvSpPr/>
          <p:nvPr/>
        </p:nvSpPr>
        <p:spPr>
          <a:xfrm>
            <a:off x="8897112"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5</a:t>
            </a:r>
          </a:p>
        </p:txBody>
      </p:sp>
      <p:sp>
        <p:nvSpPr>
          <p:cNvPr id="15" name="Rounded Rectangle 14"/>
          <p:cNvSpPr/>
          <p:nvPr/>
        </p:nvSpPr>
        <p:spPr>
          <a:xfrm>
            <a:off x="6291072" y="3401568"/>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Popular per cluster</a:t>
            </a:r>
          </a:p>
          <a:p>
            <a:pPr algn="ctr">
              <a:spcAft>
                <a:spcPts val="0"/>
              </a:spcAft>
            </a:pPr>
            <a:r>
              <a:rPr sz="1050" b="0" i="0">
                <a:solidFill>
                  <a:srgbClr val="52514E"/>
                </a:solidFill>
                <a:latin typeface="Abadi"/>
              </a:rPr>
              <a:t>courses with &gt;= 500 enrollments in the cluster</a:t>
            </a:r>
          </a:p>
        </p:txBody>
      </p:sp>
      <p:sp>
        <p:nvSpPr>
          <p:cNvPr id="16" name="Oval 15"/>
          <p:cNvSpPr/>
          <p:nvPr/>
        </p:nvSpPr>
        <p:spPr>
          <a:xfrm>
            <a:off x="6181344"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6</a:t>
            </a:r>
          </a:p>
        </p:txBody>
      </p:sp>
      <p:sp>
        <p:nvSpPr>
          <p:cNvPr id="17" name="Document 16"/>
          <p:cNvSpPr/>
          <p:nvPr/>
        </p:nvSpPr>
        <p:spPr>
          <a:xfrm>
            <a:off x="3575304" y="3401568"/>
            <a:ext cx="2331720" cy="1097280"/>
          </a:xfrm>
          <a:prstGeom prst="flowChartDocument">
            <a:avLst/>
          </a:prstGeom>
          <a:solidFill>
            <a:srgbClr val="0B49CB"/>
          </a:solidFill>
          <a:ln w="15875">
            <a:solidFill>
              <a:srgbClr val="0B49CB"/>
            </a:solidFill>
          </a:ln>
          <a:effectLst/>
        </p:spPr>
        <p:style>
          <a:lnRef idx="1">
            <a:schemeClr val="accent1"/>
          </a:lnRef>
          <a:fillRef idx="3">
            <a:schemeClr val="accent1"/>
          </a:fillRef>
          <a:effectRef idx="2">
            <a:schemeClr val="accent1"/>
          </a:effectRef>
          <a:fontRef idx="minor">
            <a:schemeClr val="lt1"/>
          </a:fontRef>
        </p:style>
        <p:txBody>
          <a:bodyPr rtlCol="0" anchor="ctr" tIns="54864" bIns="109728" wrap="square"/>
          <a:lstStyle/>
          <a:p>
            <a:pPr algn="ctr">
              <a:spcAft>
                <a:spcPts val="200"/>
              </a:spcAft>
            </a:pPr>
            <a:r>
              <a:rPr sz="1250" b="1" i="0">
                <a:solidFill>
                  <a:srgbClr val="FFFFFF"/>
                </a:solidFill>
                <a:latin typeface="Abadi"/>
              </a:rPr>
              <a:t>Recommendations</a:t>
            </a:r>
          </a:p>
          <a:p>
            <a:pPr algn="ctr">
              <a:spcAft>
                <a:spcPts val="0"/>
              </a:spcAft>
            </a:pPr>
            <a:r>
              <a:rPr sz="1050" b="0" i="0">
                <a:solidFill>
                  <a:srgbClr val="DCE6FA"/>
                </a:solidFill>
                <a:latin typeface="Abadi"/>
              </a:rPr>
              <a:t>popular courses of the user's cluster not yet taken</a:t>
            </a:r>
          </a:p>
        </p:txBody>
      </p:sp>
      <p:sp>
        <p:nvSpPr>
          <p:cNvPr id="18" name="Oval 17"/>
          <p:cNvSpPr/>
          <p:nvPr/>
        </p:nvSpPr>
        <p:spPr>
          <a:xfrm>
            <a:off x="3465576"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7</a:t>
            </a:r>
          </a:p>
        </p:txBody>
      </p:sp>
      <p:sp>
        <p:nvSpPr>
          <p:cNvPr id="19" name="Rounded Rectangle 18"/>
          <p:cNvSpPr/>
          <p:nvPr/>
        </p:nvSpPr>
        <p:spPr>
          <a:xfrm>
            <a:off x="859536" y="3401568"/>
            <a:ext cx="2331720" cy="1097280"/>
          </a:xfrm>
          <a:prstGeom prst="roundRect">
            <a:avLst>
              <a:gd name="adj" fmla="val 12000"/>
            </a:avLst>
          </a:prstGeom>
          <a:solidFill>
            <a:srgbClr val="FFFFFF"/>
          </a:solidFill>
          <a:ln w="15875">
            <a:solidFill>
              <a:srgbClr val="2A78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Evaluation</a:t>
            </a:r>
          </a:p>
          <a:p>
            <a:pPr algn="ctr">
              <a:spcAft>
                <a:spcPts val="0"/>
              </a:spcAft>
            </a:pPr>
            <a:r>
              <a:rPr sz="1050" b="0" i="0">
                <a:solidFill>
                  <a:srgbClr val="52514E"/>
                </a:solidFill>
                <a:latin typeface="Abadi"/>
              </a:rPr>
              <a:t>new courses per user and top-10 courses</a:t>
            </a:r>
          </a:p>
        </p:txBody>
      </p:sp>
      <p:sp>
        <p:nvSpPr>
          <p:cNvPr id="20" name="Oval 19"/>
          <p:cNvSpPr/>
          <p:nvPr/>
        </p:nvSpPr>
        <p:spPr>
          <a:xfrm>
            <a:off x="749808"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8</a:t>
            </a:r>
          </a:p>
        </p:txBody>
      </p:sp>
      <p:cxnSp>
        <p:nvCxnSpPr>
          <p:cNvPr id="21" name="Connector 20"/>
          <p:cNvCxnSpPr/>
          <p:nvPr/>
        </p:nvCxnSpPr>
        <p:spPr>
          <a:xfrm>
            <a:off x="3191256"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07024"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22792"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172700" y="2926080"/>
            <a:ext cx="0" cy="475488"/>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8622792"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907024"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191256"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1248" y="4773168"/>
            <a:ext cx="10515600" cy="1581912"/>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9848" y="4882896"/>
            <a:ext cx="10058400" cy="1399032"/>
          </a:xfrm>
          <a:prstGeom prst="rect">
            <a:avLst/>
          </a:prstGeom>
          <a:noFill/>
        </p:spPr>
        <p:txBody>
          <a:bodyPr wrap="square" anchor="t" lIns="0" rIns="0" tIns="0" bIns="0">
            <a:spAutoFit/>
          </a:bodyPr>
          <a:lstStyle/>
          <a:p>
            <a:pPr algn="l" marL="201168" indent="-201168">
              <a:spcAft>
                <a:spcPts val="600"/>
              </a:spcAft>
              <a:buClr>
                <a:srgbClr val="2A78D6"/>
              </a:buClr>
              <a:buFont typeface="Arial"/>
              <a:buChar char="•"/>
            </a:pPr>
            <a:r>
              <a:rPr sz="1400" b="0" i="0">
                <a:solidFill>
                  <a:srgbClr val="262626"/>
                </a:solidFill>
                <a:latin typeface="Abadi"/>
              </a:rPr>
              <a:t>K-means was first run on the 14 standardised features (elbow at k = 8), then on 9 PCA components that keep 90% of the variance.</a:t>
            </a:r>
          </a:p>
          <a:p>
            <a:pPr algn="l" marL="201168" indent="-201168">
              <a:spcAft>
                <a:spcPts val="600"/>
              </a:spcAft>
              <a:buClr>
                <a:srgbClr val="2A78D6"/>
              </a:buClr>
              <a:buFont typeface="Arial"/>
              <a:buChar char="•"/>
            </a:pPr>
            <a:r>
              <a:rPr sz="1400" b="0" i="0">
                <a:solidFill>
                  <a:srgbClr val="262626"/>
                </a:solidFill>
                <a:latin typeface="Abadi"/>
              </a:rPr>
              <a:t>Each cluster is a learning community; courses enrolled by many members of the community are its popular courses.</a:t>
            </a:r>
          </a:p>
          <a:p>
            <a:pPr algn="l" marL="201168" indent="-201168">
              <a:spcAft>
                <a:spcPts val="600"/>
              </a:spcAft>
              <a:buClr>
                <a:srgbClr val="2A78D6"/>
              </a:buClr>
              <a:buFont typeface="Arial"/>
              <a:buChar char="•"/>
            </a:pPr>
            <a:r>
              <a:rPr sz="1400" b="0" i="0">
                <a:solidFill>
                  <a:srgbClr val="262626"/>
                </a:solidFill>
                <a:latin typeface="Abadi"/>
              </a:rPr>
              <a:t>Popularity threshold = 500 enrollments within the cluster; the user's own courses are excluded from the recommendations.</a:t>
            </a:r>
          </a:p>
        </p:txBody>
      </p:sp>
    </p:spTree>
    <p:extLst>
      <p:ext uri="{BB962C8B-B14F-4D97-AF65-F5344CB8AC3E}">
        <p14:creationId xmlns:p14="http://schemas.microsoft.com/office/powerpoint/2010/main" val="3552581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of clustering-based recommender system</a:t>
            </a:r>
          </a:p>
        </p:txBody>
      </p:sp>
      <p:sp>
        <p:nvSpPr>
          <p:cNvPr id="5" name="Rounded Rectangle 4"/>
          <p:cNvSpPr/>
          <p:nvPr/>
        </p:nvSpPr>
        <p:spPr>
          <a:xfrm>
            <a:off x="841248" y="1755648"/>
            <a:ext cx="10515600" cy="530352"/>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24128" y="1755648"/>
            <a:ext cx="10149840" cy="530352"/>
          </a:xfrm>
          <a:prstGeom prst="rect">
            <a:avLst/>
          </a:prstGeom>
          <a:noFill/>
        </p:spPr>
        <p:txBody>
          <a:bodyPr wrap="square" anchor="ctr" lIns="0" rIns="0" tIns="0" bIns="0">
            <a:spAutoFit/>
          </a:bodyPr>
          <a:lstStyle/>
          <a:p>
            <a:pPr algn="l">
              <a:spcAft>
                <a:spcPts val="0"/>
              </a:spcAft>
            </a:pPr>
            <a:r>
              <a:rPr sz="1250" b="1" i="0">
                <a:solidFill>
                  <a:srgbClr val="0B49CB"/>
                </a:solidFill>
                <a:latin typeface="Abadi"/>
              </a:rPr>
              <a:t>Hyper-parameters:  </a:t>
            </a:r>
            <a:r>
              <a:rPr sz="1250" b="0" i="0">
                <a:solidFill>
                  <a:srgbClr val="262626"/>
                </a:solidFill>
                <a:latin typeface="Abadi"/>
              </a:rPr>
              <a:t>PCA n_components = 9 (&gt;= 90% variance), K-means k = 8 (elbow), popularity threshold = 500 enrollments per cluster; 100-1,000 tested, with and without PCA.</a:t>
            </a:r>
          </a:p>
        </p:txBody>
      </p:sp>
      <p:sp>
        <p:nvSpPr>
          <p:cNvPr id="7" name="Rounded Rectangle 6"/>
          <p:cNvSpPr/>
          <p:nvPr/>
        </p:nvSpPr>
        <p:spPr>
          <a:xfrm>
            <a:off x="841248" y="2432304"/>
            <a:ext cx="4983480" cy="987552"/>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542032"/>
            <a:ext cx="4654296" cy="768096"/>
          </a:xfrm>
          <a:prstGeom prst="rect">
            <a:avLst/>
          </a:prstGeom>
          <a:noFill/>
        </p:spPr>
        <p:txBody>
          <a:bodyPr wrap="square" anchor="ctr" lIns="0" rIns="0" tIns="0" bIns="0">
            <a:spAutoFit/>
          </a:bodyPr>
          <a:lstStyle/>
          <a:p>
            <a:pPr algn="l">
              <a:spcAft>
                <a:spcPts val="200"/>
              </a:spcAft>
            </a:pPr>
            <a:r>
              <a:rPr sz="3000" b="1" i="0">
                <a:solidFill>
                  <a:srgbClr val="0B49CB"/>
                </a:solidFill>
                <a:latin typeface="Abadi"/>
              </a:rPr>
              <a:t>13.7</a:t>
            </a:r>
          </a:p>
          <a:p>
            <a:pPr algn="l">
              <a:spcAft>
                <a:spcPts val="0"/>
              </a:spcAft>
            </a:pPr>
            <a:r>
              <a:rPr sz="1150" b="0" i="0">
                <a:solidFill>
                  <a:srgbClr val="52514E"/>
                </a:solidFill>
                <a:latin typeface="Abadi"/>
              </a:rPr>
              <a:t>new/unseen courses recommended per test user on average (33,381 of 33,901 users receive at least one)</a:t>
            </a:r>
          </a:p>
        </p:txBody>
      </p:sp>
      <p:sp>
        <p:nvSpPr>
          <p:cNvPr id="9" name="TextBox 8"/>
          <p:cNvSpPr txBox="1"/>
          <p:nvPr/>
        </p:nvSpPr>
        <p:spPr>
          <a:xfrm>
            <a:off x="841248" y="3529584"/>
            <a:ext cx="4983480" cy="292608"/>
          </a:xfrm>
          <a:prstGeom prst="rect">
            <a:avLst/>
          </a:prstGeom>
          <a:noFill/>
        </p:spPr>
        <p:txBody>
          <a:bodyPr wrap="square" anchor="t" lIns="0" rIns="0" tIns="0" bIns="0">
            <a:spAutoFit/>
          </a:bodyPr>
          <a:lstStyle/>
          <a:p>
            <a:pPr algn="l">
              <a:spcAft>
                <a:spcPts val="0"/>
              </a:spcAft>
            </a:pPr>
            <a:r>
              <a:rPr sz="1200" b="1" i="0">
                <a:solidFill>
                  <a:srgbClr val="52514E"/>
                </a:solidFill>
                <a:latin typeface="Abadi"/>
              </a:rPr>
              <a:t>Average new courses per user, with and without PCA</a:t>
            </a:r>
          </a:p>
        </p:txBody>
      </p:sp>
      <p:graphicFrame>
        <p:nvGraphicFramePr>
          <p:cNvPr id="10" name="Chart 9"/>
          <p:cNvGraphicFramePr>
            <a:graphicFrameLocks noGrp="1"/>
          </p:cNvGraphicFramePr>
          <p:nvPr/>
        </p:nvGraphicFramePr>
        <p:xfrm>
          <a:off x="841248" y="3803904"/>
          <a:ext cx="4983480" cy="2551176"/>
        </p:xfrm>
        <a:graphic>
          <a:graphicData uri="http://schemas.openxmlformats.org/drawingml/2006/chart">
            <c:chart xmlns:c="http://schemas.openxmlformats.org/drawingml/2006/chart" r:id="rId2"/>
          </a:graphicData>
        </a:graphic>
      </p:graphicFrame>
      <p:sp>
        <p:nvSpPr>
          <p:cNvPr id="11" name="TextBox 10"/>
          <p:cNvSpPr txBox="1"/>
          <p:nvPr/>
        </p:nvSpPr>
        <p:spPr>
          <a:xfrm>
            <a:off x="6144768" y="2395728"/>
            <a:ext cx="5212080" cy="320040"/>
          </a:xfrm>
          <a:prstGeom prst="rect">
            <a:avLst/>
          </a:prstGeom>
          <a:noFill/>
        </p:spPr>
        <p:txBody>
          <a:bodyPr wrap="square" anchor="t" lIns="0" rIns="0" tIns="0" bIns="0">
            <a:spAutoFit/>
          </a:bodyPr>
          <a:lstStyle/>
          <a:p>
            <a:pPr algn="l">
              <a:spcAft>
                <a:spcPts val="0"/>
              </a:spcAft>
            </a:pPr>
            <a:r>
              <a:rPr sz="1400" b="1" i="0">
                <a:solidFill>
                  <a:srgbClr val="0B49CB"/>
                </a:solidFill>
                <a:latin typeface="Abadi"/>
              </a:rPr>
              <a:t>Top-10 most frequently recommended courses</a:t>
            </a:r>
          </a:p>
        </p:txBody>
      </p:sp>
      <p:graphicFrame>
        <p:nvGraphicFramePr>
          <p:cNvPr id="12" name="Table 11"/>
          <p:cNvGraphicFramePr>
            <a:graphicFrameLocks noGrp="1"/>
          </p:cNvGraphicFramePr>
          <p:nvPr/>
        </p:nvGraphicFramePr>
        <p:xfrm>
          <a:off x="6144768" y="2761488"/>
          <a:ext cx="5212079" cy="3570732"/>
        </p:xfrm>
        <a:graphic>
          <a:graphicData uri="http://schemas.openxmlformats.org/drawingml/2006/table">
            <a:tbl>
              <a:tblPr firstRow="1" bandRow="0">
                <a:tableStyleId>{2D5ABB26-0587-4C30-8999-92F81FD0307C}</a:tableStyleId>
              </a:tblPr>
              <a:tblGrid>
                <a:gridCol w="365760"/>
                <a:gridCol w="3977639"/>
                <a:gridCol w="868680"/>
              </a:tblGrid>
              <a:tr h="324612">
                <a:tc>
                  <a:txBody>
                    <a:bodyPr wrap="square"/>
                    <a:lstStyle/>
                    <a:p>
                      <a:pPr algn="ctr">
                        <a:spcAft>
                          <a:spcPts val="0"/>
                        </a:spcAft>
                      </a:pPr>
                      <a:r>
                        <a:rPr sz="1100" b="1" i="0">
                          <a:solidFill>
                            <a:srgbClr val="FFFFFF"/>
                          </a:solidFill>
                          <a:latin typeface="Abadi"/>
                        </a:rPr>
                        <a:t>#</a:t>
                      </a:r>
                    </a:p>
                  </a:txBody>
                  <a:tcPr marL="73152" marR="73152" marT="18288" marB="18288" anchor="ctr">
                    <a:solidFill>
                      <a:srgbClr val="0B49CB"/>
                    </a:solidFill>
                  </a:tcPr>
                </a:tc>
                <a:tc>
                  <a:txBody>
                    <a:bodyPr wrap="square"/>
                    <a:lstStyle/>
                    <a:p>
                      <a:pPr algn="l">
                        <a:spcAft>
                          <a:spcPts val="0"/>
                        </a:spcAft>
                      </a:pPr>
                      <a:r>
                        <a:rPr sz="1100" b="1" i="0">
                          <a:solidFill>
                            <a:srgbClr val="FFFFFF"/>
                          </a:solidFill>
                          <a:latin typeface="Abadi"/>
                        </a:rPr>
                        <a:t>Course</a:t>
                      </a:r>
                    </a:p>
                  </a:txBody>
                  <a:tcPr marL="73152" marR="73152" marT="18288" marB="18288" anchor="ctr">
                    <a:solidFill>
                      <a:srgbClr val="0B49CB"/>
                    </a:solidFill>
                  </a:tcPr>
                </a:tc>
                <a:tc>
                  <a:txBody>
                    <a:bodyPr wrap="square"/>
                    <a:lstStyle/>
                    <a:p>
                      <a:pPr algn="r">
                        <a:spcAft>
                          <a:spcPts val="0"/>
                        </a:spcAft>
                      </a:pPr>
                      <a:r>
                        <a:rPr sz="1100" b="1" i="0">
                          <a:solidFill>
                            <a:srgbClr val="FFFFFF"/>
                          </a:solidFill>
                          <a:latin typeface="Abadi"/>
                        </a:rPr>
                        <a:t>Times</a:t>
                      </a:r>
                    </a:p>
                  </a:txBody>
                  <a:tcPr marL="73152" marR="73152" marT="18288" marB="18288" anchor="ctr">
                    <a:solidFill>
                      <a:srgbClr val="0B49CB"/>
                    </a:solidFill>
                  </a:tcPr>
                </a:tc>
              </a:tr>
              <a:tr h="324612">
                <a:tc>
                  <a:txBody>
                    <a:bodyPr wrap="square"/>
                    <a:lstStyle/>
                    <a:p>
                      <a:pPr algn="ctr">
                        <a:spcAft>
                          <a:spcPts val="0"/>
                        </a:spcAft>
                      </a:pPr>
                      <a:r>
                        <a:rPr sz="1100" b="0" i="0">
                          <a:solidFill>
                            <a:srgbClr val="262626"/>
                          </a:solidFill>
                          <a:latin typeface="Abadi"/>
                        </a:rPr>
                        <a:t>1</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Blockchain Essentials</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26,721</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2</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Data Science Hands on with Open Source Tools</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23,038</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3</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Introduction to Cloud</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22,828</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4</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Hadoop 101</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22,824</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5</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Deep Learning 101</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22,653</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6</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Data Science Methodology</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22,569</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7</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Statistics 101</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20,691</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8</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Big Data 101</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20,139</a:t>
                      </a:r>
                    </a:p>
                  </a:txBody>
                  <a:tcPr marL="73152" marR="73152" marT="18288" marB="18288" anchor="ctr">
                    <a:lnL w="0">
                      <a:noFill/>
                    </a:lnL>
                    <a:lnR w="0">
                      <a:noFill/>
                    </a:lnR>
                    <a:lnT w="0">
                      <a:noFill/>
                    </a:lnT>
                    <a:lnB w="9525">
                      <a:solidFill>
                        <a:srgbClr val="E1E0D9"/>
                      </a:solidFill>
                    </a:lnB>
                    <a:solidFill>
                      <a:srgbClr val="F4F4F1"/>
                    </a:solidFill>
                  </a:tcPr>
                </a:tc>
              </a:tr>
              <a:tr h="324612">
                <a:tc>
                  <a:txBody>
                    <a:bodyPr wrap="square"/>
                    <a:lstStyle/>
                    <a:p>
                      <a:pPr algn="ctr">
                        <a:spcAft>
                          <a:spcPts val="0"/>
                        </a:spcAft>
                      </a:pPr>
                      <a:r>
                        <a:rPr sz="1100" b="0" i="0">
                          <a:solidFill>
                            <a:srgbClr val="262626"/>
                          </a:solidFill>
                          <a:latin typeface="Abadi"/>
                        </a:rPr>
                        <a:t>9</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100" b="0" i="0">
                          <a:solidFill>
                            <a:srgbClr val="262626"/>
                          </a:solidFill>
                          <a:latin typeface="Abadi"/>
                        </a:rPr>
                        <a:t>Introduction to Data Science</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100" b="0" i="0">
                          <a:solidFill>
                            <a:srgbClr val="262626"/>
                          </a:solidFill>
                          <a:latin typeface="Abadi"/>
                        </a:rPr>
                        <a:t>18,920</a:t>
                      </a:r>
                    </a:p>
                  </a:txBody>
                  <a:tcPr marL="73152" marR="73152" marT="18288" marB="18288" anchor="ctr">
                    <a:lnL w="0">
                      <a:noFill/>
                    </a:lnL>
                    <a:lnR w="0">
                      <a:noFill/>
                    </a:lnR>
                    <a:lnT w="0">
                      <a:noFill/>
                    </a:lnT>
                    <a:lnB w="9525">
                      <a:solidFill>
                        <a:srgbClr val="E1E0D9"/>
                      </a:solidFill>
                    </a:lnB>
                    <a:solidFill>
                      <a:srgbClr val="FFFFFF"/>
                    </a:solidFill>
                  </a:tcPr>
                </a:tc>
              </a:tr>
              <a:tr h="324612">
                <a:tc>
                  <a:txBody>
                    <a:bodyPr wrap="square"/>
                    <a:lstStyle/>
                    <a:p>
                      <a:pPr algn="ctr">
                        <a:spcAft>
                          <a:spcPts val="0"/>
                        </a:spcAft>
                      </a:pPr>
                      <a:r>
                        <a:rPr sz="1100" b="0" i="0">
                          <a:solidFill>
                            <a:srgbClr val="262626"/>
                          </a:solidFill>
                          <a:latin typeface="Abadi"/>
                        </a:rPr>
                        <a:t>10</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100" b="0" i="0">
                          <a:solidFill>
                            <a:srgbClr val="262626"/>
                          </a:solidFill>
                          <a:latin typeface="Abadi"/>
                        </a:rPr>
                        <a:t>Python for Data Science</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100" b="0" i="0">
                          <a:solidFill>
                            <a:srgbClr val="262626"/>
                          </a:solidFill>
                          <a:latin typeface="Abadi"/>
                        </a:rPr>
                        <a:t>18,490</a:t>
                      </a:r>
                    </a:p>
                  </a:txBody>
                  <a:tcPr marL="73152" marR="73152" marT="18288" marB="18288" anchor="ctr">
                    <a:lnL w="0">
                      <a:noFill/>
                    </a:lnL>
                    <a:lnR w="0">
                      <a:noFill/>
                    </a:lnR>
                    <a:lnT w="0">
                      <a:noFill/>
                    </a:lnT>
                    <a:lnB w="9525">
                      <a:solidFill>
                        <a:srgbClr val="E1E0D9"/>
                      </a:solidFill>
                    </a:lnB>
                    <a:solidFill>
                      <a:srgbClr val="F4F4F1"/>
                    </a:solidFill>
                  </a:tcPr>
                </a:tc>
              </a:tr>
            </a:tbl>
          </a:graphicData>
        </a:graphic>
      </p:graphicFrame>
    </p:spTree>
    <p:extLst>
      <p:ext uri="{BB962C8B-B14F-4D97-AF65-F5344CB8AC3E}">
        <p14:creationId xmlns:p14="http://schemas.microsoft.com/office/powerpoint/2010/main" val="2115997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Collaborative-filtering Recommender System using Supervised Learning</a:t>
            </a:r>
            <a:endParaRPr lang="en-US" dirty="0"/>
          </a:p>
        </p:txBody>
      </p:sp>
      <p:pic>
        <p:nvPicPr>
          <p:cNvPr id="43" name="Picture 2" descr="Support-vector machine - Wikipedia">
            <a:extLst>
              <a:ext uri="{FF2B5EF4-FFF2-40B4-BE49-F238E27FC236}">
                <a16:creationId xmlns:a16="http://schemas.microsoft.com/office/drawing/2014/main" id="{CA660427-DE61-394E-804E-5C0107163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2071" y="5432400"/>
            <a:ext cx="1470757" cy="142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572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KNN based recommender system</a:t>
            </a:r>
          </a:p>
        </p:txBody>
      </p:sp>
      <p:sp>
        <p:nvSpPr>
          <p:cNvPr id="5" name="Magnetic Disk 4"/>
          <p:cNvSpPr/>
          <p:nvPr/>
        </p:nvSpPr>
        <p:spPr>
          <a:xfrm>
            <a:off x="859536" y="1828800"/>
            <a:ext cx="2331720" cy="1097280"/>
          </a:xfrm>
          <a:prstGeom prst="flowChartMagneticDisk">
            <a:avLst/>
          </a:prstGeom>
          <a:solidFill>
            <a:srgbClr val="F4F4F1"/>
          </a:solidFill>
          <a:ln w="15875">
            <a:solidFill>
              <a:srgbClr val="C3C2B7"/>
            </a:solidFill>
          </a:ln>
          <a:effectLst/>
        </p:spPr>
        <p:style>
          <a:lnRef idx="1">
            <a:schemeClr val="accent1"/>
          </a:lnRef>
          <a:fillRef idx="3">
            <a:schemeClr val="accent1"/>
          </a:fillRef>
          <a:effectRef idx="2">
            <a:schemeClr val="accent1"/>
          </a:effectRef>
          <a:fontRef idx="minor">
            <a:schemeClr val="lt1"/>
          </a:fontRef>
        </p:style>
        <p:txBody>
          <a:bodyPr rtlCol="0" anchor="ctr" tIns="201168" bIns="54864" wrap="square"/>
          <a:lstStyle/>
          <a:p>
            <a:pPr algn="ctr">
              <a:spcAft>
                <a:spcPts val="200"/>
              </a:spcAft>
            </a:pPr>
            <a:r>
              <a:rPr sz="1250" b="1" i="0">
                <a:solidFill>
                  <a:srgbClr val="262626"/>
                </a:solidFill>
                <a:latin typeface="Abadi"/>
              </a:rPr>
              <a:t>Enrollment history</a:t>
            </a:r>
          </a:p>
          <a:p>
            <a:pPr algn="ctr">
              <a:spcAft>
                <a:spcPts val="0"/>
              </a:spcAft>
            </a:pPr>
            <a:r>
              <a:rPr sz="1050" b="0" i="0">
                <a:solidFill>
                  <a:srgbClr val="52514E"/>
                </a:solidFill>
                <a:latin typeface="Abadi"/>
              </a:rPr>
              <a:t>ratings.csv: 233,306 (user, course, rating 3-5)</a:t>
            </a:r>
          </a:p>
        </p:txBody>
      </p:sp>
      <p:sp>
        <p:nvSpPr>
          <p:cNvPr id="6" name="Oval 5"/>
          <p:cNvSpPr/>
          <p:nvPr/>
        </p:nvSpPr>
        <p:spPr>
          <a:xfrm>
            <a:off x="749808"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1</a:t>
            </a:r>
          </a:p>
        </p:txBody>
      </p:sp>
      <p:sp>
        <p:nvSpPr>
          <p:cNvPr id="7" name="Rounded Rectangle 6"/>
          <p:cNvSpPr/>
          <p:nvPr/>
        </p:nvSpPr>
        <p:spPr>
          <a:xfrm>
            <a:off x="3575304"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Surprise dataset</a:t>
            </a:r>
          </a:p>
          <a:p>
            <a:pPr algn="ctr">
              <a:spcAft>
                <a:spcPts val="0"/>
              </a:spcAft>
            </a:pPr>
            <a:r>
              <a:rPr sz="1050" b="0" i="0">
                <a:solidFill>
                  <a:srgbClr val="52514E"/>
                </a:solidFill>
                <a:latin typeface="Abadi"/>
              </a:rPr>
              <a:t>Reader(rating_scale=(3, 5)); 70% train / 30% test split</a:t>
            </a:r>
          </a:p>
        </p:txBody>
      </p:sp>
      <p:sp>
        <p:nvSpPr>
          <p:cNvPr id="8" name="Oval 7"/>
          <p:cNvSpPr/>
          <p:nvPr/>
        </p:nvSpPr>
        <p:spPr>
          <a:xfrm>
            <a:off x="3465576"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2</a:t>
            </a:r>
          </a:p>
        </p:txBody>
      </p:sp>
      <p:sp>
        <p:nvSpPr>
          <p:cNvPr id="9" name="Rounded Rectangle 8"/>
          <p:cNvSpPr/>
          <p:nvPr/>
        </p:nvSpPr>
        <p:spPr>
          <a:xfrm>
            <a:off x="6291072"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Item-item similarity</a:t>
            </a:r>
          </a:p>
          <a:p>
            <a:pPr algn="ctr">
              <a:spcAft>
                <a:spcPts val="0"/>
              </a:spcAft>
            </a:pPr>
            <a:r>
              <a:rPr sz="1050" b="0" i="0">
                <a:solidFill>
                  <a:srgbClr val="52514E"/>
                </a:solidFill>
                <a:latin typeface="Abadi"/>
              </a:rPr>
              <a:t>cosine, MSD or Pearson between course rating vectors (126 x 126)</a:t>
            </a:r>
          </a:p>
        </p:txBody>
      </p:sp>
      <p:sp>
        <p:nvSpPr>
          <p:cNvPr id="10" name="Oval 9"/>
          <p:cNvSpPr/>
          <p:nvPr/>
        </p:nvSpPr>
        <p:spPr>
          <a:xfrm>
            <a:off x="6181344"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3</a:t>
            </a:r>
          </a:p>
        </p:txBody>
      </p:sp>
      <p:sp>
        <p:nvSpPr>
          <p:cNvPr id="11" name="Rounded Rectangle 10"/>
          <p:cNvSpPr/>
          <p:nvPr/>
        </p:nvSpPr>
        <p:spPr>
          <a:xfrm>
            <a:off x="9006840"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k nearest neighbours</a:t>
            </a:r>
          </a:p>
          <a:p>
            <a:pPr algn="ctr">
              <a:spcAft>
                <a:spcPts val="0"/>
              </a:spcAft>
            </a:pPr>
            <a:r>
              <a:rPr sz="1050" b="0" i="0">
                <a:solidFill>
                  <a:srgbClr val="52514E"/>
                </a:solidFill>
                <a:latin typeface="Abadi"/>
              </a:rPr>
              <a:t>the k most similar courses that the user has rated</a:t>
            </a:r>
          </a:p>
        </p:txBody>
      </p:sp>
      <p:sp>
        <p:nvSpPr>
          <p:cNvPr id="12" name="Oval 11"/>
          <p:cNvSpPr/>
          <p:nvPr/>
        </p:nvSpPr>
        <p:spPr>
          <a:xfrm>
            <a:off x="8897112"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4</a:t>
            </a:r>
          </a:p>
        </p:txBody>
      </p:sp>
      <p:sp>
        <p:nvSpPr>
          <p:cNvPr id="13" name="Rounded Rectangle 12"/>
          <p:cNvSpPr/>
          <p:nvPr/>
        </p:nvSpPr>
        <p:spPr>
          <a:xfrm>
            <a:off x="9006840" y="3401568"/>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Predict rating</a:t>
            </a:r>
          </a:p>
          <a:p>
            <a:pPr algn="ctr">
              <a:spcAft>
                <a:spcPts val="0"/>
              </a:spcAft>
            </a:pPr>
            <a:r>
              <a:rPr sz="1050" b="0" i="0">
                <a:solidFill>
                  <a:srgbClr val="52514E"/>
                </a:solidFill>
                <a:latin typeface="Abadi"/>
              </a:rPr>
              <a:t>similarity-weighted average of the user's ratings of those neighbours</a:t>
            </a:r>
          </a:p>
        </p:txBody>
      </p:sp>
      <p:sp>
        <p:nvSpPr>
          <p:cNvPr id="14" name="Oval 13"/>
          <p:cNvSpPr/>
          <p:nvPr/>
        </p:nvSpPr>
        <p:spPr>
          <a:xfrm>
            <a:off x="8897112"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5</a:t>
            </a:r>
          </a:p>
        </p:txBody>
      </p:sp>
      <p:sp>
        <p:nvSpPr>
          <p:cNvPr id="15" name="Rounded Rectangle 14"/>
          <p:cNvSpPr/>
          <p:nvPr/>
        </p:nvSpPr>
        <p:spPr>
          <a:xfrm>
            <a:off x="6291072" y="3401568"/>
            <a:ext cx="2331720" cy="1097280"/>
          </a:xfrm>
          <a:prstGeom prst="roundRect">
            <a:avLst>
              <a:gd name="adj" fmla="val 12000"/>
            </a:avLst>
          </a:prstGeom>
          <a:solidFill>
            <a:srgbClr val="FFFFFF"/>
          </a:solidFill>
          <a:ln w="15875">
            <a:solidFill>
              <a:srgbClr val="2A78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Evaluate + tune</a:t>
            </a:r>
          </a:p>
          <a:p>
            <a:pPr algn="ctr">
              <a:spcAft>
                <a:spcPts val="0"/>
              </a:spcAft>
            </a:pPr>
            <a:r>
              <a:rPr sz="1050" b="0" i="0">
                <a:solidFill>
                  <a:srgbClr val="52514E"/>
                </a:solidFill>
                <a:latin typeface="Abadi"/>
              </a:rPr>
              <a:t>test RMSE; grid search similarity x k (best: cosine, k = 40)</a:t>
            </a:r>
          </a:p>
        </p:txBody>
      </p:sp>
      <p:sp>
        <p:nvSpPr>
          <p:cNvPr id="16" name="Oval 15"/>
          <p:cNvSpPr/>
          <p:nvPr/>
        </p:nvSpPr>
        <p:spPr>
          <a:xfrm>
            <a:off x="6181344"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6</a:t>
            </a:r>
          </a:p>
        </p:txBody>
      </p:sp>
      <p:sp>
        <p:nvSpPr>
          <p:cNvPr id="17" name="Rounded Rectangle 16"/>
          <p:cNvSpPr/>
          <p:nvPr/>
        </p:nvSpPr>
        <p:spPr>
          <a:xfrm>
            <a:off x="3575304" y="3401568"/>
            <a:ext cx="2331720" cy="1097280"/>
          </a:xfrm>
          <a:prstGeom prst="roundRect">
            <a:avLst>
              <a:gd name="adj" fmla="val 12000"/>
            </a:avLst>
          </a:prstGeom>
          <a:solidFill>
            <a:srgbClr val="FFFFFF"/>
          </a:solidFill>
          <a:ln w="15875">
            <a:solidFill>
              <a:srgbClr val="2A78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Baseline check</a:t>
            </a:r>
          </a:p>
          <a:p>
            <a:pPr algn="ctr">
              <a:spcAft>
                <a:spcPts val="0"/>
              </a:spcAft>
            </a:pPr>
            <a:r>
              <a:rPr sz="1050" b="0" i="0">
                <a:solidFill>
                  <a:srgbClr val="52514E"/>
                </a:solidFill>
                <a:latin typeface="Abadi"/>
              </a:rPr>
              <a:t>compare with the global-mean RMSE (0.8172) on the same test set</a:t>
            </a:r>
          </a:p>
        </p:txBody>
      </p:sp>
      <p:sp>
        <p:nvSpPr>
          <p:cNvPr id="18" name="Oval 17"/>
          <p:cNvSpPr/>
          <p:nvPr/>
        </p:nvSpPr>
        <p:spPr>
          <a:xfrm>
            <a:off x="3465576"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7</a:t>
            </a:r>
          </a:p>
        </p:txBody>
      </p:sp>
      <p:sp>
        <p:nvSpPr>
          <p:cNvPr id="19" name="Document 18"/>
          <p:cNvSpPr/>
          <p:nvPr/>
        </p:nvSpPr>
        <p:spPr>
          <a:xfrm>
            <a:off x="859536" y="3401568"/>
            <a:ext cx="2331720" cy="1097280"/>
          </a:xfrm>
          <a:prstGeom prst="flowChartDocument">
            <a:avLst/>
          </a:prstGeom>
          <a:solidFill>
            <a:srgbClr val="0B49CB"/>
          </a:solidFill>
          <a:ln w="15875">
            <a:solidFill>
              <a:srgbClr val="0B49CB"/>
            </a:solidFill>
          </a:ln>
          <a:effectLst/>
        </p:spPr>
        <p:style>
          <a:lnRef idx="1">
            <a:schemeClr val="accent1"/>
          </a:lnRef>
          <a:fillRef idx="3">
            <a:schemeClr val="accent1"/>
          </a:fillRef>
          <a:effectRef idx="2">
            <a:schemeClr val="accent1"/>
          </a:effectRef>
          <a:fontRef idx="minor">
            <a:schemeClr val="lt1"/>
          </a:fontRef>
        </p:style>
        <p:txBody>
          <a:bodyPr rtlCol="0" anchor="ctr" tIns="54864" bIns="109728" wrap="square"/>
          <a:lstStyle/>
          <a:p>
            <a:pPr algn="ctr">
              <a:spcAft>
                <a:spcPts val="200"/>
              </a:spcAft>
            </a:pPr>
            <a:r>
              <a:rPr sz="1250" b="1" i="0">
                <a:solidFill>
                  <a:srgbClr val="FFFFFF"/>
                </a:solidFill>
                <a:latin typeface="Abadi"/>
              </a:rPr>
              <a:t>Recommend</a:t>
            </a:r>
          </a:p>
          <a:p>
            <a:pPr algn="ctr">
              <a:spcAft>
                <a:spcPts val="0"/>
              </a:spcAft>
            </a:pPr>
            <a:r>
              <a:rPr sz="1050" b="0" i="0">
                <a:solidFill>
                  <a:srgbClr val="DCE6FA"/>
                </a:solidFill>
                <a:latin typeface="Abadi"/>
              </a:rPr>
              <a:t>unseen courses with the highest predicted rating</a:t>
            </a:r>
          </a:p>
        </p:txBody>
      </p:sp>
      <p:sp>
        <p:nvSpPr>
          <p:cNvPr id="20" name="Oval 19"/>
          <p:cNvSpPr/>
          <p:nvPr/>
        </p:nvSpPr>
        <p:spPr>
          <a:xfrm>
            <a:off x="749808"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8</a:t>
            </a:r>
          </a:p>
        </p:txBody>
      </p:sp>
      <p:cxnSp>
        <p:nvCxnSpPr>
          <p:cNvPr id="21" name="Connector 20"/>
          <p:cNvCxnSpPr/>
          <p:nvPr/>
        </p:nvCxnSpPr>
        <p:spPr>
          <a:xfrm>
            <a:off x="3191256"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07024"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22792"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172700" y="2926080"/>
            <a:ext cx="0" cy="475488"/>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8622792"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907024"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191256"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1248" y="4773168"/>
            <a:ext cx="10515600" cy="1581912"/>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9848" y="4882896"/>
            <a:ext cx="10058400" cy="1399032"/>
          </a:xfrm>
          <a:prstGeom prst="rect">
            <a:avLst/>
          </a:prstGeom>
          <a:noFill/>
        </p:spPr>
        <p:txBody>
          <a:bodyPr wrap="square" anchor="t" lIns="0" rIns="0" tIns="0" bIns="0">
            <a:spAutoFit/>
          </a:bodyPr>
          <a:lstStyle/>
          <a:p>
            <a:pPr algn="l" marL="201168" indent="-201168">
              <a:spcAft>
                <a:spcPts val="600"/>
              </a:spcAft>
              <a:buClr>
                <a:srgbClr val="2A78D6"/>
              </a:buClr>
              <a:buFont typeface="Arial"/>
              <a:buChar char="•"/>
            </a:pPr>
            <a:r>
              <a:rPr sz="1400" b="0" i="0">
                <a:solidFill>
                  <a:srgbClr val="262626"/>
                </a:solidFill>
                <a:latin typeface="Abadi"/>
              </a:rPr>
              <a:t>Item-based KNN: the course-course similarity matrix is tiny (126 x 126), while a user-based model would need a 33,901 x 33,901 matrix.</a:t>
            </a:r>
          </a:p>
          <a:p>
            <a:pPr algn="l" marL="201168" indent="-201168">
              <a:spcAft>
                <a:spcPts val="600"/>
              </a:spcAft>
              <a:buClr>
                <a:srgbClr val="2A78D6"/>
              </a:buClr>
              <a:buFont typeface="Arial"/>
              <a:buChar char="•"/>
            </a:pPr>
            <a:r>
              <a:rPr sz="1400" b="0" i="0">
                <a:solidFill>
                  <a:srgbClr val="262626"/>
                </a:solidFill>
                <a:latin typeface="Abadi"/>
              </a:rPr>
              <a:t>Prediction: r(u, i) = sum of sim(i, j) x r(u, j) / sum of sim(i, j) over the k most similar courses j rated by u; grid search over cosine / MSD / Pearson and k = 10-80.</a:t>
            </a:r>
          </a:p>
          <a:p>
            <a:pPr algn="l" marL="201168" indent="-201168">
              <a:spcAft>
                <a:spcPts val="600"/>
              </a:spcAft>
              <a:buClr>
                <a:srgbClr val="2A78D6"/>
              </a:buClr>
              <a:buFont typeface="Arial"/>
              <a:buChar char="•"/>
            </a:pPr>
            <a:r>
              <a:rPr sz="1400" b="0" i="0">
                <a:solidFill>
                  <a:srgbClr val="262626"/>
                </a:solidFill>
                <a:latin typeface="Abadi"/>
              </a:rPr>
              <a:t>Best: cosine, k = 40, test RMSE 0.8955 vs 0.8172 for the global mean (ratings.csv carries no signal - see findings). Lab fix: Reader scale (3, 5) instead of (2, 3).</a:t>
            </a:r>
          </a:p>
        </p:txBody>
      </p:sp>
    </p:spTree>
    <p:extLst>
      <p:ext uri="{BB962C8B-B14F-4D97-AF65-F5344CB8AC3E}">
        <p14:creationId xmlns:p14="http://schemas.microsoft.com/office/powerpoint/2010/main" val="743261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NMF based recommender system</a:t>
            </a:r>
          </a:p>
        </p:txBody>
      </p:sp>
      <p:sp>
        <p:nvSpPr>
          <p:cNvPr id="5" name="Magnetic Disk 4"/>
          <p:cNvSpPr/>
          <p:nvPr/>
        </p:nvSpPr>
        <p:spPr>
          <a:xfrm>
            <a:off x="859536" y="1828800"/>
            <a:ext cx="2331720" cy="1097280"/>
          </a:xfrm>
          <a:prstGeom prst="flowChartMagneticDisk">
            <a:avLst/>
          </a:prstGeom>
          <a:solidFill>
            <a:srgbClr val="F4F4F1"/>
          </a:solidFill>
          <a:ln w="15875">
            <a:solidFill>
              <a:srgbClr val="C3C2B7"/>
            </a:solidFill>
          </a:ln>
          <a:effectLst/>
        </p:spPr>
        <p:style>
          <a:lnRef idx="1">
            <a:schemeClr val="accent1"/>
          </a:lnRef>
          <a:fillRef idx="3">
            <a:schemeClr val="accent1"/>
          </a:fillRef>
          <a:effectRef idx="2">
            <a:schemeClr val="accent1"/>
          </a:effectRef>
          <a:fontRef idx="minor">
            <a:schemeClr val="lt1"/>
          </a:fontRef>
        </p:style>
        <p:txBody>
          <a:bodyPr rtlCol="0" anchor="ctr" tIns="201168" bIns="54864" wrap="square"/>
          <a:lstStyle/>
          <a:p>
            <a:pPr algn="ctr">
              <a:spcAft>
                <a:spcPts val="200"/>
              </a:spcAft>
            </a:pPr>
            <a:r>
              <a:rPr sz="1250" b="1" i="0">
                <a:solidFill>
                  <a:srgbClr val="262626"/>
                </a:solidFill>
                <a:latin typeface="Abadi"/>
              </a:rPr>
              <a:t>Enrollment history</a:t>
            </a:r>
          </a:p>
          <a:p>
            <a:pPr algn="ctr">
              <a:spcAft>
                <a:spcPts val="0"/>
              </a:spcAft>
            </a:pPr>
            <a:r>
              <a:rPr sz="1050" b="0" i="0">
                <a:solidFill>
                  <a:srgbClr val="52514E"/>
                </a:solidFill>
                <a:latin typeface="Abadi"/>
              </a:rPr>
              <a:t>ratings.csv: 233,306 (user, course, rating 3-5)</a:t>
            </a:r>
          </a:p>
        </p:txBody>
      </p:sp>
      <p:sp>
        <p:nvSpPr>
          <p:cNvPr id="6" name="Oval 5"/>
          <p:cNvSpPr/>
          <p:nvPr/>
        </p:nvSpPr>
        <p:spPr>
          <a:xfrm>
            <a:off x="749808"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1</a:t>
            </a:r>
          </a:p>
        </p:txBody>
      </p:sp>
      <p:sp>
        <p:nvSpPr>
          <p:cNvPr id="7" name="Rounded Rectangle 6"/>
          <p:cNvSpPr/>
          <p:nvPr/>
        </p:nvSpPr>
        <p:spPr>
          <a:xfrm>
            <a:off x="3575304"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User-item matrix</a:t>
            </a:r>
          </a:p>
          <a:p>
            <a:pPr algn="ctr">
              <a:spcAft>
                <a:spcPts val="0"/>
              </a:spcAft>
            </a:pPr>
            <a:r>
              <a:rPr sz="1050" b="0" i="0">
                <a:solidFill>
                  <a:srgbClr val="52514E"/>
                </a:solidFill>
                <a:latin typeface="Abadi"/>
              </a:rPr>
              <a:t>33,901 x 126 sparse matrix; same 70/30 split as KNN</a:t>
            </a:r>
          </a:p>
        </p:txBody>
      </p:sp>
      <p:sp>
        <p:nvSpPr>
          <p:cNvPr id="8" name="Oval 7"/>
          <p:cNvSpPr/>
          <p:nvPr/>
        </p:nvSpPr>
        <p:spPr>
          <a:xfrm>
            <a:off x="3465576"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2</a:t>
            </a:r>
          </a:p>
        </p:txBody>
      </p:sp>
      <p:sp>
        <p:nvSpPr>
          <p:cNvPr id="9" name="Rounded Rectangle 8"/>
          <p:cNvSpPr/>
          <p:nvPr/>
        </p:nvSpPr>
        <p:spPr>
          <a:xfrm>
            <a:off x="6291072"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Factorise</a:t>
            </a:r>
          </a:p>
          <a:p>
            <a:pPr algn="ctr">
              <a:spcAft>
                <a:spcPts val="0"/>
              </a:spcAft>
            </a:pPr>
            <a:r>
              <a:rPr sz="1050" b="0" i="0">
                <a:solidFill>
                  <a:srgbClr val="52514E"/>
                </a:solidFill>
                <a:latin typeface="Abadi"/>
              </a:rPr>
              <a:t>R ~ U x I^T with non-negative user (U) and item (I) factor matrices</a:t>
            </a:r>
          </a:p>
        </p:txBody>
      </p:sp>
      <p:sp>
        <p:nvSpPr>
          <p:cNvPr id="10" name="Oval 9"/>
          <p:cNvSpPr/>
          <p:nvPr/>
        </p:nvSpPr>
        <p:spPr>
          <a:xfrm>
            <a:off x="6181344"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3</a:t>
            </a:r>
          </a:p>
        </p:txBody>
      </p:sp>
      <p:sp>
        <p:nvSpPr>
          <p:cNvPr id="11" name="Rounded Rectangle 10"/>
          <p:cNvSpPr/>
          <p:nvPr/>
        </p:nvSpPr>
        <p:spPr>
          <a:xfrm>
            <a:off x="9006840"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Train with SGD</a:t>
            </a:r>
          </a:p>
          <a:p>
            <a:pPr algn="ctr">
              <a:spcAft>
                <a:spcPts val="0"/>
              </a:spcAft>
            </a:pPr>
            <a:r>
              <a:rPr sz="1050" b="0" i="0">
                <a:solidFill>
                  <a:srgbClr val="52514E"/>
                </a:solidFill>
                <a:latin typeface="Abadi"/>
              </a:rPr>
              <a:t>minimise squared error on the known ratings; k = 8-64 factors</a:t>
            </a:r>
          </a:p>
        </p:txBody>
      </p:sp>
      <p:sp>
        <p:nvSpPr>
          <p:cNvPr id="12" name="Oval 11"/>
          <p:cNvSpPr/>
          <p:nvPr/>
        </p:nvSpPr>
        <p:spPr>
          <a:xfrm>
            <a:off x="8897112"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4</a:t>
            </a:r>
          </a:p>
        </p:txBody>
      </p:sp>
      <p:sp>
        <p:nvSpPr>
          <p:cNvPr id="13" name="Rounded Rectangle 12"/>
          <p:cNvSpPr/>
          <p:nvPr/>
        </p:nvSpPr>
        <p:spPr>
          <a:xfrm>
            <a:off x="9006840" y="3401568"/>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Predict rating</a:t>
            </a:r>
          </a:p>
          <a:p>
            <a:pPr algn="ctr">
              <a:spcAft>
                <a:spcPts val="0"/>
              </a:spcAft>
            </a:pPr>
            <a:r>
              <a:rPr sz="1050" b="0" i="0">
                <a:solidFill>
                  <a:srgbClr val="52514E"/>
                </a:solidFill>
                <a:latin typeface="Abadi"/>
              </a:rPr>
              <a:t>dot product of the user's and the course's latent factors</a:t>
            </a:r>
          </a:p>
        </p:txBody>
      </p:sp>
      <p:sp>
        <p:nvSpPr>
          <p:cNvPr id="14" name="Oval 13"/>
          <p:cNvSpPr/>
          <p:nvPr/>
        </p:nvSpPr>
        <p:spPr>
          <a:xfrm>
            <a:off x="8897112"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5</a:t>
            </a:r>
          </a:p>
        </p:txBody>
      </p:sp>
      <p:sp>
        <p:nvSpPr>
          <p:cNvPr id="15" name="Rounded Rectangle 14"/>
          <p:cNvSpPr/>
          <p:nvPr/>
        </p:nvSpPr>
        <p:spPr>
          <a:xfrm>
            <a:off x="6291072" y="3401568"/>
            <a:ext cx="2331720" cy="1097280"/>
          </a:xfrm>
          <a:prstGeom prst="roundRect">
            <a:avLst>
              <a:gd name="adj" fmla="val 12000"/>
            </a:avLst>
          </a:prstGeom>
          <a:solidFill>
            <a:srgbClr val="FFFFFF"/>
          </a:solidFill>
          <a:ln w="15875">
            <a:solidFill>
              <a:srgbClr val="2A78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Evaluate + tune</a:t>
            </a:r>
          </a:p>
          <a:p>
            <a:pPr algn="ctr">
              <a:spcAft>
                <a:spcPts val="0"/>
              </a:spcAft>
            </a:pPr>
            <a:r>
              <a:rPr sz="1050" b="0" i="0">
                <a:solidFill>
                  <a:srgbClr val="52514E"/>
                </a:solidFill>
                <a:latin typeface="Abadi"/>
              </a:rPr>
              <a:t>test RMSE; grid search factors x epochs x init (best: 16 factors, 20 epochs)</a:t>
            </a:r>
          </a:p>
        </p:txBody>
      </p:sp>
      <p:sp>
        <p:nvSpPr>
          <p:cNvPr id="16" name="Oval 15"/>
          <p:cNvSpPr/>
          <p:nvPr/>
        </p:nvSpPr>
        <p:spPr>
          <a:xfrm>
            <a:off x="6181344"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6</a:t>
            </a:r>
          </a:p>
        </p:txBody>
      </p:sp>
      <p:sp>
        <p:nvSpPr>
          <p:cNvPr id="17" name="Rounded Rectangle 16"/>
          <p:cNvSpPr/>
          <p:nvPr/>
        </p:nvSpPr>
        <p:spPr>
          <a:xfrm>
            <a:off x="3575304" y="3401568"/>
            <a:ext cx="2331720" cy="1097280"/>
          </a:xfrm>
          <a:prstGeom prst="roundRect">
            <a:avLst>
              <a:gd name="adj" fmla="val 12000"/>
            </a:avLst>
          </a:prstGeom>
          <a:solidFill>
            <a:srgbClr val="FFFFFF"/>
          </a:solidFill>
          <a:ln w="15875">
            <a:solidFill>
              <a:srgbClr val="2A78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Baseline check</a:t>
            </a:r>
          </a:p>
          <a:p>
            <a:pPr algn="ctr">
              <a:spcAft>
                <a:spcPts val="0"/>
              </a:spcAft>
            </a:pPr>
            <a:r>
              <a:rPr sz="1050" b="0" i="0">
                <a:solidFill>
                  <a:srgbClr val="52514E"/>
                </a:solidFill>
                <a:latin typeface="Abadi"/>
              </a:rPr>
              <a:t>compare with the global-mean RMSE (0.8172) on the same test set</a:t>
            </a:r>
          </a:p>
        </p:txBody>
      </p:sp>
      <p:sp>
        <p:nvSpPr>
          <p:cNvPr id="18" name="Oval 17"/>
          <p:cNvSpPr/>
          <p:nvPr/>
        </p:nvSpPr>
        <p:spPr>
          <a:xfrm>
            <a:off x="3465576"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7</a:t>
            </a:r>
          </a:p>
        </p:txBody>
      </p:sp>
      <p:sp>
        <p:nvSpPr>
          <p:cNvPr id="19" name="Document 18"/>
          <p:cNvSpPr/>
          <p:nvPr/>
        </p:nvSpPr>
        <p:spPr>
          <a:xfrm>
            <a:off x="859536" y="3401568"/>
            <a:ext cx="2331720" cy="1097280"/>
          </a:xfrm>
          <a:prstGeom prst="flowChartDocument">
            <a:avLst/>
          </a:prstGeom>
          <a:solidFill>
            <a:srgbClr val="0B49CB"/>
          </a:solidFill>
          <a:ln w="15875">
            <a:solidFill>
              <a:srgbClr val="0B49CB"/>
            </a:solidFill>
          </a:ln>
          <a:effectLst/>
        </p:spPr>
        <p:style>
          <a:lnRef idx="1">
            <a:schemeClr val="accent1"/>
          </a:lnRef>
          <a:fillRef idx="3">
            <a:schemeClr val="accent1"/>
          </a:fillRef>
          <a:effectRef idx="2">
            <a:schemeClr val="accent1"/>
          </a:effectRef>
          <a:fontRef idx="minor">
            <a:schemeClr val="lt1"/>
          </a:fontRef>
        </p:style>
        <p:txBody>
          <a:bodyPr rtlCol="0" anchor="ctr" tIns="54864" bIns="109728" wrap="square"/>
          <a:lstStyle/>
          <a:p>
            <a:pPr algn="ctr">
              <a:spcAft>
                <a:spcPts val="200"/>
              </a:spcAft>
            </a:pPr>
            <a:r>
              <a:rPr sz="1250" b="1" i="0">
                <a:solidFill>
                  <a:srgbClr val="FFFFFF"/>
                </a:solidFill>
                <a:latin typeface="Abadi"/>
              </a:rPr>
              <a:t>Recommend</a:t>
            </a:r>
          </a:p>
          <a:p>
            <a:pPr algn="ctr">
              <a:spcAft>
                <a:spcPts val="0"/>
              </a:spcAft>
            </a:pPr>
            <a:r>
              <a:rPr sz="1050" b="0" i="0">
                <a:solidFill>
                  <a:srgbClr val="DCE6FA"/>
                </a:solidFill>
                <a:latin typeface="Abadi"/>
              </a:rPr>
              <a:t>unseen courses with the highest predicted rating</a:t>
            </a:r>
          </a:p>
        </p:txBody>
      </p:sp>
      <p:sp>
        <p:nvSpPr>
          <p:cNvPr id="20" name="Oval 19"/>
          <p:cNvSpPr/>
          <p:nvPr/>
        </p:nvSpPr>
        <p:spPr>
          <a:xfrm>
            <a:off x="749808"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8</a:t>
            </a:r>
          </a:p>
        </p:txBody>
      </p:sp>
      <p:cxnSp>
        <p:nvCxnSpPr>
          <p:cNvPr id="21" name="Connector 20"/>
          <p:cNvCxnSpPr/>
          <p:nvPr/>
        </p:nvCxnSpPr>
        <p:spPr>
          <a:xfrm>
            <a:off x="3191256"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07024"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22792"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172700" y="2926080"/>
            <a:ext cx="0" cy="475488"/>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8622792"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907024"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191256"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1248" y="4773168"/>
            <a:ext cx="10515600" cy="1581912"/>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9848" y="4882896"/>
            <a:ext cx="10058400" cy="1399032"/>
          </a:xfrm>
          <a:prstGeom prst="rect">
            <a:avLst/>
          </a:prstGeom>
          <a:noFill/>
        </p:spPr>
        <p:txBody>
          <a:bodyPr wrap="square" anchor="t" lIns="0" rIns="0" tIns="0" bIns="0">
            <a:spAutoFit/>
          </a:bodyPr>
          <a:lstStyle/>
          <a:p>
            <a:pPr algn="l" marL="201168" indent="-201168">
              <a:spcAft>
                <a:spcPts val="600"/>
              </a:spcAft>
              <a:buClr>
                <a:srgbClr val="2A78D6"/>
              </a:buClr>
              <a:buFont typeface="Arial"/>
              <a:buChar char="•"/>
            </a:pPr>
            <a:r>
              <a:rPr sz="1400" b="0" i="0">
                <a:solidFill>
                  <a:srgbClr val="262626"/>
                </a:solidFill>
                <a:latin typeface="Abadi"/>
              </a:rPr>
              <a:t>NMF compresses the 33,901 x 126 rating matrix into k latent factors per user and per course, so no large similarity matrix has to be kept in memory; factors are learned by SGD on the observed ratings only.</a:t>
            </a:r>
          </a:p>
          <a:p>
            <a:pPr algn="l" marL="201168" indent="-201168">
              <a:spcAft>
                <a:spcPts val="600"/>
              </a:spcAft>
              <a:buClr>
                <a:srgbClr val="2A78D6"/>
              </a:buClr>
              <a:buFont typeface="Arial"/>
              <a:buChar char="•"/>
            </a:pPr>
            <a:r>
              <a:rPr sz="1400" b="0" i="0">
                <a:solidFill>
                  <a:srgbClr val="262626"/>
                </a:solidFill>
                <a:latin typeface="Abadi"/>
              </a:rPr>
              <a:t>The lab's hint (init_high = 5) starts the factor dot products far above 5, so every prediction is clipped to 5 (RMSE 1.2806); the default init range (0, 1) was added to the grid.</a:t>
            </a:r>
          </a:p>
          <a:p>
            <a:pPr algn="l" marL="201168" indent="-201168">
              <a:spcAft>
                <a:spcPts val="600"/>
              </a:spcAft>
              <a:buClr>
                <a:srgbClr val="2A78D6"/>
              </a:buClr>
              <a:buFont typeface="Arial"/>
              <a:buChar char="•"/>
            </a:pPr>
            <a:r>
              <a:rPr sz="1400" b="0" i="0">
                <a:solidFill>
                  <a:srgbClr val="262626"/>
                </a:solidFill>
                <a:latin typeface="Abadi"/>
              </a:rPr>
              <a:t>Best: 16 factors, 20 epochs, init (0, 1) - test RMSE 0.9505 vs 0.8172 for the global mean, on the same test ratings as KNN.</a:t>
            </a:r>
          </a:p>
        </p:txBody>
      </p:sp>
    </p:spTree>
    <p:extLst>
      <p:ext uri="{BB962C8B-B14F-4D97-AF65-F5344CB8AC3E}">
        <p14:creationId xmlns:p14="http://schemas.microsoft.com/office/powerpoint/2010/main" val="1175939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Neural Network Embedding based recommender system</a:t>
            </a:r>
          </a:p>
        </p:txBody>
      </p:sp>
      <p:sp>
        <p:nvSpPr>
          <p:cNvPr id="5" name="Magnetic Disk 4"/>
          <p:cNvSpPr/>
          <p:nvPr/>
        </p:nvSpPr>
        <p:spPr>
          <a:xfrm>
            <a:off x="859536" y="1828800"/>
            <a:ext cx="2331720" cy="1097280"/>
          </a:xfrm>
          <a:prstGeom prst="flowChartMagneticDisk">
            <a:avLst/>
          </a:prstGeom>
          <a:solidFill>
            <a:srgbClr val="F4F4F1"/>
          </a:solidFill>
          <a:ln w="15875">
            <a:solidFill>
              <a:srgbClr val="C3C2B7"/>
            </a:solidFill>
          </a:ln>
          <a:effectLst/>
        </p:spPr>
        <p:style>
          <a:lnRef idx="1">
            <a:schemeClr val="accent1"/>
          </a:lnRef>
          <a:fillRef idx="3">
            <a:schemeClr val="accent1"/>
          </a:fillRef>
          <a:effectRef idx="2">
            <a:schemeClr val="accent1"/>
          </a:effectRef>
          <a:fontRef idx="minor">
            <a:schemeClr val="lt1"/>
          </a:fontRef>
        </p:style>
        <p:txBody>
          <a:bodyPr rtlCol="0" anchor="ctr" tIns="201168" bIns="54864" wrap="square"/>
          <a:lstStyle/>
          <a:p>
            <a:pPr algn="ctr">
              <a:spcAft>
                <a:spcPts val="200"/>
              </a:spcAft>
            </a:pPr>
            <a:r>
              <a:rPr sz="1250" b="1" i="0">
                <a:solidFill>
                  <a:srgbClr val="262626"/>
                </a:solidFill>
                <a:latin typeface="Abadi"/>
              </a:rPr>
              <a:t>Enrollment history</a:t>
            </a:r>
          </a:p>
          <a:p>
            <a:pPr algn="ctr">
              <a:spcAft>
                <a:spcPts val="0"/>
              </a:spcAft>
            </a:pPr>
            <a:r>
              <a:rPr sz="1050" b="0" i="0">
                <a:solidFill>
                  <a:srgbClr val="52514E"/>
                </a:solidFill>
                <a:latin typeface="Abadi"/>
              </a:rPr>
              <a:t>ratings (m03 lab 05).csv: 233,306 (user, course, rating 2 or 3)</a:t>
            </a:r>
          </a:p>
        </p:txBody>
      </p:sp>
      <p:sp>
        <p:nvSpPr>
          <p:cNvPr id="6" name="Oval 5"/>
          <p:cNvSpPr/>
          <p:nvPr/>
        </p:nvSpPr>
        <p:spPr>
          <a:xfrm>
            <a:off x="749808"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1</a:t>
            </a:r>
          </a:p>
        </p:txBody>
      </p:sp>
      <p:sp>
        <p:nvSpPr>
          <p:cNvPr id="7" name="Rounded Rectangle 6"/>
          <p:cNvSpPr/>
          <p:nvPr/>
        </p:nvSpPr>
        <p:spPr>
          <a:xfrm>
            <a:off x="3575304"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Encode + scale</a:t>
            </a:r>
          </a:p>
          <a:p>
            <a:pPr algn="ctr">
              <a:spcAft>
                <a:spcPts val="0"/>
              </a:spcAft>
            </a:pPr>
            <a:r>
              <a:rPr sz="1050" b="0" i="0">
                <a:solidFill>
                  <a:srgbClr val="52514E"/>
                </a:solidFill>
                <a:latin typeface="Abadi"/>
              </a:rPr>
              <a:t>user and course ids to indices; ratings scaled to 0-1; 80/10/10 split</a:t>
            </a:r>
          </a:p>
        </p:txBody>
      </p:sp>
      <p:sp>
        <p:nvSpPr>
          <p:cNvPr id="8" name="Oval 7"/>
          <p:cNvSpPr/>
          <p:nvPr/>
        </p:nvSpPr>
        <p:spPr>
          <a:xfrm>
            <a:off x="3465576"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2</a:t>
            </a:r>
          </a:p>
        </p:txBody>
      </p:sp>
      <p:sp>
        <p:nvSpPr>
          <p:cNvPr id="9" name="Rounded Rectangle 8"/>
          <p:cNvSpPr/>
          <p:nvPr/>
        </p:nvSpPr>
        <p:spPr>
          <a:xfrm>
            <a:off x="6291072"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Embedding layers</a:t>
            </a:r>
          </a:p>
          <a:p>
            <a:pPr algn="ctr">
              <a:spcAft>
                <a:spcPts val="0"/>
              </a:spcAft>
            </a:pPr>
            <a:r>
              <a:rPr sz="1050" b="0" i="0">
                <a:solidFill>
                  <a:srgbClr val="52514E"/>
                </a:solidFill>
                <a:latin typeface="Abadi"/>
              </a:rPr>
              <a:t>user (33,901 -&gt; 16-d) and course (126 -&gt; 16-d) embeddings + biases</a:t>
            </a:r>
          </a:p>
        </p:txBody>
      </p:sp>
      <p:sp>
        <p:nvSpPr>
          <p:cNvPr id="10" name="Oval 9"/>
          <p:cNvSpPr/>
          <p:nvPr/>
        </p:nvSpPr>
        <p:spPr>
          <a:xfrm>
            <a:off x="6181344"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3</a:t>
            </a:r>
          </a:p>
        </p:txBody>
      </p:sp>
      <p:sp>
        <p:nvSpPr>
          <p:cNvPr id="11" name="Rounded Rectangle 10"/>
          <p:cNvSpPr/>
          <p:nvPr/>
        </p:nvSpPr>
        <p:spPr>
          <a:xfrm>
            <a:off x="9006840" y="1828800"/>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Interaction</a:t>
            </a:r>
          </a:p>
          <a:p>
            <a:pPr algn="ctr">
              <a:spcAft>
                <a:spcPts val="0"/>
              </a:spcAft>
            </a:pPr>
            <a:r>
              <a:rPr sz="1050" b="0" i="0">
                <a:solidFill>
                  <a:srgbClr val="52514E"/>
                </a:solidFill>
                <a:latin typeface="Abadi"/>
              </a:rPr>
              <a:t>dot product of the embeddings + user bias + course bias -&gt; ReLU</a:t>
            </a:r>
          </a:p>
        </p:txBody>
      </p:sp>
      <p:sp>
        <p:nvSpPr>
          <p:cNvPr id="12" name="Oval 11"/>
          <p:cNvSpPr/>
          <p:nvPr/>
        </p:nvSpPr>
        <p:spPr>
          <a:xfrm>
            <a:off x="8897112" y="1700784"/>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4</a:t>
            </a:r>
          </a:p>
        </p:txBody>
      </p:sp>
      <p:sp>
        <p:nvSpPr>
          <p:cNvPr id="13" name="Rounded Rectangle 12"/>
          <p:cNvSpPr/>
          <p:nvPr/>
        </p:nvSpPr>
        <p:spPr>
          <a:xfrm>
            <a:off x="9006840" y="3401568"/>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Train</a:t>
            </a:r>
          </a:p>
          <a:p>
            <a:pPr algn="ctr">
              <a:spcAft>
                <a:spcPts val="0"/>
              </a:spcAft>
            </a:pPr>
            <a:r>
              <a:rPr sz="1050" b="0" i="0">
                <a:solidFill>
                  <a:srgbClr val="52514E"/>
                </a:solidFill>
                <a:latin typeface="Abadi"/>
              </a:rPr>
              <a:t>Adam, MSE loss, batch 64, 10 epochs, validation loss monitored</a:t>
            </a:r>
          </a:p>
        </p:txBody>
      </p:sp>
      <p:sp>
        <p:nvSpPr>
          <p:cNvPr id="14" name="Oval 13"/>
          <p:cNvSpPr/>
          <p:nvPr/>
        </p:nvSpPr>
        <p:spPr>
          <a:xfrm>
            <a:off x="8897112"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5</a:t>
            </a:r>
          </a:p>
        </p:txBody>
      </p:sp>
      <p:sp>
        <p:nvSpPr>
          <p:cNvPr id="15" name="Rounded Rectangle 14"/>
          <p:cNvSpPr/>
          <p:nvPr/>
        </p:nvSpPr>
        <p:spPr>
          <a:xfrm>
            <a:off x="6291072" y="3401568"/>
            <a:ext cx="2331720" cy="1097280"/>
          </a:xfrm>
          <a:prstGeom prst="roundRect">
            <a:avLst>
              <a:gd name="adj" fmla="val 12000"/>
            </a:avLst>
          </a:prstGeom>
          <a:solidFill>
            <a:srgbClr val="FFFFFF"/>
          </a:solidFill>
          <a:ln w="15875">
            <a:solidFill>
              <a:srgbClr val="2A78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Evaluate</a:t>
            </a:r>
          </a:p>
          <a:p>
            <a:pPr algn="ctr">
              <a:spcAft>
                <a:spcPts val="0"/>
              </a:spcAft>
            </a:pPr>
            <a:r>
              <a:rPr sz="1050" b="0" i="0">
                <a:solidFill>
                  <a:srgbClr val="52514E"/>
                </a:solidFill>
                <a:latin typeface="Abadi"/>
              </a:rPr>
              <a:t>test RMSE 0.1192 vs 0.2085 for the global mean</a:t>
            </a:r>
          </a:p>
        </p:txBody>
      </p:sp>
      <p:sp>
        <p:nvSpPr>
          <p:cNvPr id="16" name="Oval 15"/>
          <p:cNvSpPr/>
          <p:nvPr/>
        </p:nvSpPr>
        <p:spPr>
          <a:xfrm>
            <a:off x="6181344"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6</a:t>
            </a:r>
          </a:p>
        </p:txBody>
      </p:sp>
      <p:sp>
        <p:nvSpPr>
          <p:cNvPr id="17" name="Rounded Rectangle 16"/>
          <p:cNvSpPr/>
          <p:nvPr/>
        </p:nvSpPr>
        <p:spPr>
          <a:xfrm>
            <a:off x="3575304" y="3401568"/>
            <a:ext cx="2331720" cy="1097280"/>
          </a:xfrm>
          <a:prstGeom prst="roundRect">
            <a:avLst>
              <a:gd name="adj" fmla="val 12000"/>
            </a:avLst>
          </a:prstGeom>
          <a:solidFill>
            <a:srgbClr val="EEF4FD"/>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lstStyle/>
          <a:p>
            <a:pPr algn="ctr">
              <a:spcAft>
                <a:spcPts val="200"/>
              </a:spcAft>
            </a:pPr>
            <a:r>
              <a:rPr sz="1250" b="1" i="0">
                <a:solidFill>
                  <a:srgbClr val="262626"/>
                </a:solidFill>
                <a:latin typeface="Abadi"/>
              </a:rPr>
              <a:t>Improve: V2</a:t>
            </a:r>
          </a:p>
          <a:p>
            <a:pPr algn="ctr">
              <a:spcAft>
                <a:spcPts val="0"/>
              </a:spcAft>
            </a:pPr>
            <a:r>
              <a:rPr sz="1050" b="0" i="0">
                <a:solidFill>
                  <a:srgbClr val="52514E"/>
                </a:solidFill>
                <a:latin typeface="Abadi"/>
              </a:rPr>
              <a:t>per-example dot product + dense layer, early stopping: RMSE 0.0740</a:t>
            </a:r>
          </a:p>
        </p:txBody>
      </p:sp>
      <p:sp>
        <p:nvSpPr>
          <p:cNvPr id="18" name="Oval 17"/>
          <p:cNvSpPr/>
          <p:nvPr/>
        </p:nvSpPr>
        <p:spPr>
          <a:xfrm>
            <a:off x="3465576"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7</a:t>
            </a:r>
          </a:p>
        </p:txBody>
      </p:sp>
      <p:sp>
        <p:nvSpPr>
          <p:cNvPr id="19" name="Document 18"/>
          <p:cNvSpPr/>
          <p:nvPr/>
        </p:nvSpPr>
        <p:spPr>
          <a:xfrm>
            <a:off x="859536" y="3401568"/>
            <a:ext cx="2331720" cy="1097280"/>
          </a:xfrm>
          <a:prstGeom prst="flowChartDocument">
            <a:avLst/>
          </a:prstGeom>
          <a:solidFill>
            <a:srgbClr val="0B49CB"/>
          </a:solidFill>
          <a:ln w="15875">
            <a:solidFill>
              <a:srgbClr val="0B49CB"/>
            </a:solidFill>
          </a:ln>
          <a:effectLst/>
        </p:spPr>
        <p:style>
          <a:lnRef idx="1">
            <a:schemeClr val="accent1"/>
          </a:lnRef>
          <a:fillRef idx="3">
            <a:schemeClr val="accent1"/>
          </a:fillRef>
          <a:effectRef idx="2">
            <a:schemeClr val="accent1"/>
          </a:effectRef>
          <a:fontRef idx="minor">
            <a:schemeClr val="lt1"/>
          </a:fontRef>
        </p:style>
        <p:txBody>
          <a:bodyPr rtlCol="0" anchor="ctr" tIns="54864" bIns="109728" wrap="square"/>
          <a:lstStyle/>
          <a:p>
            <a:pPr algn="ctr">
              <a:spcAft>
                <a:spcPts val="200"/>
              </a:spcAft>
            </a:pPr>
            <a:r>
              <a:rPr sz="1250" b="1" i="0">
                <a:solidFill>
                  <a:srgbClr val="FFFFFF"/>
                </a:solidFill>
                <a:latin typeface="Abadi"/>
              </a:rPr>
              <a:t>Latent features</a:t>
            </a:r>
          </a:p>
          <a:p>
            <a:pPr algn="ctr">
              <a:spcAft>
                <a:spcPts val="0"/>
              </a:spcAft>
            </a:pPr>
            <a:r>
              <a:rPr sz="1050" b="0" i="0">
                <a:solidFill>
                  <a:srgbClr val="DCE6FA"/>
                </a:solidFill>
                <a:latin typeface="Abadi"/>
              </a:rPr>
              <a:t>user and course embeddings reused for regression / classification</a:t>
            </a:r>
          </a:p>
        </p:txBody>
      </p:sp>
      <p:sp>
        <p:nvSpPr>
          <p:cNvPr id="20" name="Oval 19"/>
          <p:cNvSpPr/>
          <p:nvPr/>
        </p:nvSpPr>
        <p:spPr>
          <a:xfrm>
            <a:off x="749808" y="3273551"/>
            <a:ext cx="310896" cy="310896"/>
          </a:xfrm>
          <a:prstGeom prst="ellipse">
            <a:avLst/>
          </a:prstGeom>
          <a:solidFill>
            <a:srgbClr val="0B49C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100" b="1" i="0">
                <a:solidFill>
                  <a:srgbClr val="FFFFFF"/>
                </a:solidFill>
                <a:latin typeface="Abadi"/>
              </a:rPr>
              <a:t>8</a:t>
            </a:r>
          </a:p>
        </p:txBody>
      </p:sp>
      <p:cxnSp>
        <p:nvCxnSpPr>
          <p:cNvPr id="21" name="Connector 20"/>
          <p:cNvCxnSpPr/>
          <p:nvPr/>
        </p:nvCxnSpPr>
        <p:spPr>
          <a:xfrm>
            <a:off x="3191256"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07024"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22792" y="2377440"/>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172700" y="2926080"/>
            <a:ext cx="0" cy="475488"/>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8622792"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907024"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191256" y="3950207"/>
            <a:ext cx="384048"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1248" y="4773168"/>
            <a:ext cx="10515600" cy="1581912"/>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9848" y="4882896"/>
            <a:ext cx="10058400" cy="1399032"/>
          </a:xfrm>
          <a:prstGeom prst="rect">
            <a:avLst/>
          </a:prstGeom>
          <a:noFill/>
        </p:spPr>
        <p:txBody>
          <a:bodyPr wrap="square" anchor="t" lIns="0" rIns="0" tIns="0" bIns="0">
            <a:spAutoFit/>
          </a:bodyPr>
          <a:lstStyle/>
          <a:p>
            <a:pPr algn="l" marL="201168" indent="-201168">
              <a:spcAft>
                <a:spcPts val="600"/>
              </a:spcAft>
              <a:buClr>
                <a:srgbClr val="2A78D6"/>
              </a:buClr>
              <a:buFont typeface="Arial"/>
              <a:buChar char="•"/>
            </a:pPr>
            <a:r>
              <a:rPr sz="1400" b="0" i="0">
                <a:solidFill>
                  <a:srgbClr val="262626"/>
                </a:solidFill>
                <a:latin typeface="Abadi"/>
              </a:rPr>
              <a:t>The one-hot user and course inputs are mapped to dense 16-d embedding vectors - the neural counterpart of the NMF factor matrices.</a:t>
            </a:r>
          </a:p>
          <a:p>
            <a:pPr algn="l" marL="201168" indent="-201168">
              <a:spcAft>
                <a:spcPts val="600"/>
              </a:spcAft>
              <a:buClr>
                <a:srgbClr val="2A78D6"/>
              </a:buClr>
              <a:buFont typeface="Arial"/>
              <a:buChar char="•"/>
            </a:pPr>
            <a:r>
              <a:rPr sz="1400" b="0" i="0">
                <a:solidFill>
                  <a:srgbClr val="262626"/>
                </a:solidFill>
                <a:latin typeface="Abadi"/>
              </a:rPr>
              <a:t>Finding: the lab's tf.tensordot(user, item, 2) sums the dot products over the whole batch. RecommenderNetV2 (per-example dot product + dense layer) cuts the test RMSE to 0.0740.</a:t>
            </a:r>
          </a:p>
          <a:p>
            <a:pPr algn="l" marL="201168" indent="-201168">
              <a:spcAft>
                <a:spcPts val="600"/>
              </a:spcAft>
              <a:buClr>
                <a:srgbClr val="2A78D6"/>
              </a:buClr>
              <a:buFont typeface="Arial"/>
              <a:buChar char="•"/>
            </a:pPr>
            <a:r>
              <a:rPr sz="1400" b="0" i="0">
                <a:solidFill>
                  <a:srgbClr val="262626"/>
                </a:solidFill>
                <a:latin typeface="Abadi"/>
              </a:rPr>
              <a:t>The embedding matrices (33,901 x 16 and 126 x 16) are the extracted latent features used by the regression and classification labs.</a:t>
            </a:r>
          </a:p>
        </p:txBody>
      </p:sp>
    </p:spTree>
    <p:extLst>
      <p:ext uri="{BB962C8B-B14F-4D97-AF65-F5344CB8AC3E}">
        <p14:creationId xmlns:p14="http://schemas.microsoft.com/office/powerpoint/2010/main" val="2181004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Compare the performance of collaborative-filtering models</a:t>
            </a:r>
          </a:p>
        </p:txBody>
      </p:sp>
      <p:sp>
        <p:nvSpPr>
          <p:cNvPr id="5" name="TextBox 4"/>
          <p:cNvSpPr txBox="1"/>
          <p:nvPr/>
        </p:nvSpPr>
        <p:spPr>
          <a:xfrm>
            <a:off x="841248" y="1755648"/>
            <a:ext cx="5074920" cy="548640"/>
          </a:xfrm>
          <a:prstGeom prst="rect">
            <a:avLst/>
          </a:prstGeom>
          <a:noFill/>
        </p:spPr>
        <p:txBody>
          <a:bodyPr wrap="square" anchor="t" lIns="0" rIns="0" tIns="0" bIns="0">
            <a:spAutoFit/>
          </a:bodyPr>
          <a:lstStyle/>
          <a:p>
            <a:pPr algn="l">
              <a:spcAft>
                <a:spcPts val="0"/>
              </a:spcAft>
            </a:pPr>
            <a:r>
              <a:rPr sz="1400" b="1" i="0">
                <a:solidFill>
                  <a:srgbClr val="0B49CB"/>
                </a:solidFill>
                <a:latin typeface="Abadi"/>
              </a:rPr>
              <a:t>Lab-05 ratings (2/3): the file with real signal</a:t>
            </a:r>
          </a:p>
          <a:p>
            <a:pPr algn="l">
              <a:spcAft>
                <a:spcPts val="0"/>
              </a:spcAft>
            </a:pPr>
            <a:r>
              <a:rPr sz="1100" b="0" i="0">
                <a:solidFill>
                  <a:srgbClr val="52514E"/>
                </a:solidFill>
                <a:latin typeface="Abadi"/>
              </a:rPr>
              <a:t>test RMSE, same 70/30 split for every model, rating units, lower is better</a:t>
            </a:r>
          </a:p>
        </p:txBody>
      </p:sp>
      <p:graphicFrame>
        <p:nvGraphicFramePr>
          <p:cNvPr id="6" name="Chart 5"/>
          <p:cNvGraphicFramePr>
            <a:graphicFrameLocks noGrp="1"/>
          </p:cNvGraphicFramePr>
          <p:nvPr/>
        </p:nvGraphicFramePr>
        <p:xfrm>
          <a:off x="841248" y="2331720"/>
          <a:ext cx="5074920" cy="2651760"/>
        </p:xfrm>
        <a:graphic>
          <a:graphicData uri="http://schemas.openxmlformats.org/drawingml/2006/chart">
            <c:chart xmlns:c="http://schemas.openxmlformats.org/drawingml/2006/chart" r:id="rId3"/>
          </a:graphicData>
        </a:graphic>
      </p:graphicFrame>
      <p:sp>
        <p:nvSpPr>
          <p:cNvPr id="7" name="TextBox 6"/>
          <p:cNvSpPr txBox="1"/>
          <p:nvPr/>
        </p:nvSpPr>
        <p:spPr>
          <a:xfrm>
            <a:off x="6281928" y="1755648"/>
            <a:ext cx="5074920" cy="548640"/>
          </a:xfrm>
          <a:prstGeom prst="rect">
            <a:avLst/>
          </a:prstGeom>
          <a:noFill/>
        </p:spPr>
        <p:txBody>
          <a:bodyPr wrap="square" anchor="t" lIns="0" rIns="0" tIns="0" bIns="0">
            <a:spAutoFit/>
          </a:bodyPr>
          <a:lstStyle/>
          <a:p>
            <a:pPr algn="l">
              <a:spcAft>
                <a:spcPts val="0"/>
              </a:spcAft>
            </a:pPr>
            <a:r>
              <a:rPr sz="1400" b="1" i="0">
                <a:solidFill>
                  <a:srgbClr val="0B49CB"/>
                </a:solidFill>
                <a:latin typeface="Abadi"/>
              </a:rPr>
              <a:t>ratings.csv (3/4/5): random ratings</a:t>
            </a:r>
          </a:p>
          <a:p>
            <a:pPr algn="l">
              <a:spcAft>
                <a:spcPts val="0"/>
              </a:spcAft>
            </a:pPr>
            <a:r>
              <a:rPr sz="1100" b="0" i="0">
                <a:solidFill>
                  <a:srgbClr val="52514E"/>
                </a:solidFill>
                <a:latin typeface="Abadi"/>
              </a:rPr>
              <a:t>test RMSE, same 70/30 split for every model, rating units, lower is better</a:t>
            </a:r>
          </a:p>
        </p:txBody>
      </p:sp>
      <p:graphicFrame>
        <p:nvGraphicFramePr>
          <p:cNvPr id="8" name="Chart 7"/>
          <p:cNvGraphicFramePr>
            <a:graphicFrameLocks noGrp="1"/>
          </p:cNvGraphicFramePr>
          <p:nvPr/>
        </p:nvGraphicFramePr>
        <p:xfrm>
          <a:off x="6281928" y="2331720"/>
          <a:ext cx="5074920" cy="2651760"/>
        </p:xfrm>
        <a:graphic>
          <a:graphicData uri="http://schemas.openxmlformats.org/drawingml/2006/chart">
            <c:chart xmlns:c="http://schemas.openxmlformats.org/drawingml/2006/chart" r:id="rId4"/>
          </a:graphicData>
        </a:graphic>
      </p:graphicFrame>
      <p:sp>
        <p:nvSpPr>
          <p:cNvPr id="9" name="Rounded Rectangle 8"/>
          <p:cNvSpPr/>
          <p:nvPr/>
        </p:nvSpPr>
        <p:spPr>
          <a:xfrm>
            <a:off x="841248" y="5074920"/>
            <a:ext cx="10515600" cy="1280160"/>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69848" y="5120640"/>
            <a:ext cx="10058400" cy="1188720"/>
          </a:xfrm>
          <a:prstGeom prst="rect">
            <a:avLst/>
          </a:prstGeom>
          <a:noFill/>
        </p:spPr>
        <p:txBody>
          <a:bodyPr wrap="square" anchor="t" lIns="0" rIns="0" tIns="0" bIns="0">
            <a:spAutoFit/>
          </a:bodyPr>
          <a:lstStyle/>
          <a:p>
            <a:pPr algn="l" marL="201168" indent="-201168">
              <a:spcAft>
                <a:spcPts val="400"/>
              </a:spcAft>
              <a:buClr>
                <a:srgbClr val="2A78D6"/>
              </a:buClr>
              <a:buFont typeface="Arial"/>
              <a:buChar char="•"/>
            </a:pPr>
            <a:r>
              <a:rPr sz="1200" b="1" i="0">
                <a:solidFill>
                  <a:srgbClr val="262626"/>
                </a:solidFill>
                <a:latin typeface="Abadi"/>
              </a:rPr>
              <a:t>Signal file: </a:t>
            </a:r>
            <a:r>
              <a:rPr sz="1200" b="0" i="0">
                <a:solidFill>
                  <a:srgbClr val="262626"/>
                </a:solidFill>
                <a:latin typeface="Abadi"/>
              </a:rPr>
              <a:t>RecommenderNetV2 is best (0.1048, 50% below the global mean 0.2104), then the lab RecommenderNet (0.1517); KNN and NMF improve 8% and 8%; untuned SVD (100 factors) overfits.</a:t>
            </a:r>
          </a:p>
          <a:p>
            <a:pPr algn="l" marL="201168" indent="-201168">
              <a:spcAft>
                <a:spcPts val="400"/>
              </a:spcAft>
              <a:buClr>
                <a:srgbClr val="2A78D6"/>
              </a:buClr>
              <a:buFont typeface="Arial"/>
              <a:buChar char="•"/>
            </a:pPr>
            <a:r>
              <a:rPr sz="1200" b="1" i="0">
                <a:solidFill>
                  <a:srgbClr val="262626"/>
                </a:solidFill>
                <a:latin typeface="Abadi"/>
              </a:rPr>
              <a:t>ratings.csv: </a:t>
            </a:r>
            <a:r>
              <a:rPr sz="1200" b="0" i="0">
                <a:solidFill>
                  <a:srgbClr val="262626"/>
                </a:solidFill>
                <a:latin typeface="Abadi"/>
              </a:rPr>
              <a:t>the ratings are random, so the global mean (0.8138) is the best possible score; models that fit noise score worse. Lab runs agree: KNN 0.8955 and NMF 0.9505 vs baseline 0.8172.</a:t>
            </a:r>
          </a:p>
          <a:p>
            <a:pPr algn="l" marL="201168" indent="-201168">
              <a:spcAft>
                <a:spcPts val="400"/>
              </a:spcAft>
              <a:buClr>
                <a:srgbClr val="2A78D6"/>
              </a:buClr>
              <a:buFont typeface="Arial"/>
              <a:buChar char="•"/>
            </a:pPr>
            <a:r>
              <a:rPr sz="1200" b="1" i="0">
                <a:solidFill>
                  <a:srgbClr val="262626"/>
                </a:solidFill>
                <a:latin typeface="Abadi"/>
              </a:rPr>
              <a:t>Metric: </a:t>
            </a:r>
            <a:r>
              <a:rPr sz="1200" b="0" i="0">
                <a:solidFill>
                  <a:srgbClr val="262626"/>
                </a:solidFill>
                <a:latin typeface="Abadi"/>
              </a:rPr>
              <a:t>RMSE = square root of the mean squared difference between predicted and true ratings on held-out data - the evaluation metric of every collaborative-filtering lab.</a:t>
            </a:r>
          </a:p>
        </p:txBody>
      </p:sp>
    </p:spTree>
    <p:extLst>
      <p:ext uri="{BB962C8B-B14F-4D97-AF65-F5344CB8AC3E}">
        <p14:creationId xmlns:p14="http://schemas.microsoft.com/office/powerpoint/2010/main" val="4130130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dirty="0">
              <a:solidFill>
                <a:srgbClr val="0B49CB"/>
              </a:solidFill>
            </a:endParaRPr>
          </a:p>
        </p:txBody>
      </p:sp>
      <p:sp>
        <p:nvSpPr>
          <p:cNvPr id="10" name="Rounded Rectangle 9"/>
          <p:cNvSpPr/>
          <p:nvPr/>
        </p:nvSpPr>
        <p:spPr>
          <a:xfrm>
            <a:off x="768096" y="1481328"/>
            <a:ext cx="5989320" cy="3657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7031736" y="1481328"/>
            <a:ext cx="4398264" cy="3657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6695" y="1645920"/>
            <a:ext cx="5532120" cy="3383280"/>
          </a:xfrm>
          <a:prstGeom prst="rect">
            <a:avLst/>
          </a:prstGeom>
          <a:noFill/>
        </p:spPr>
        <p:txBody>
          <a:bodyPr wrap="square" anchor="t" lIns="0" rIns="0" tIns="0" bIns="0">
            <a:spAutoFit/>
          </a:bodyPr>
          <a:lstStyle/>
          <a:p>
            <a:pPr algn="l">
              <a:spcAft>
                <a:spcPts val="800"/>
              </a:spcAft>
            </a:pPr>
            <a:r>
              <a:rPr sz="1800" b="1" i="0">
                <a:solidFill>
                  <a:srgbClr val="0B49CB"/>
                </a:solidFill>
                <a:latin typeface="Abadi"/>
              </a:rPr>
              <a:t>Key findings</a:t>
            </a:r>
          </a:p>
          <a:p>
            <a:pPr algn="l" marL="201168" indent="-201168">
              <a:spcAft>
                <a:spcPts val="600"/>
              </a:spcAft>
              <a:buClr>
                <a:srgbClr val="2A78D6"/>
              </a:buClr>
              <a:buFont typeface="Arial"/>
              <a:buChar char="•"/>
            </a:pPr>
            <a:r>
              <a:rPr sz="1350" b="0" i="0">
                <a:solidFill>
                  <a:srgbClr val="262626"/>
                </a:solidFill>
                <a:latin typeface="Abadi"/>
              </a:rPr>
              <a:t>H1 confirmed: the top-20 courses take 63% of all enrollments, and 25% of learners took a single course.</a:t>
            </a:r>
          </a:p>
          <a:p>
            <a:pPr algn="l" marL="201168" indent="-201168">
              <a:spcAft>
                <a:spcPts val="600"/>
              </a:spcAft>
              <a:buClr>
                <a:srgbClr val="2A78D6"/>
              </a:buClr>
              <a:buFont typeface="Arial"/>
              <a:buChar char="•"/>
            </a:pPr>
            <a:r>
              <a:rPr sz="1350" b="0" i="0">
                <a:solidFill>
                  <a:srgbClr val="262626"/>
                </a:solidFill>
                <a:latin typeface="Abadi"/>
              </a:rPr>
              <a:t>H2 confirmed: after tuning, the profile, similarity and clustering recommenders suggest 14.1, 8.5 and 13.7 new courses per learner, reaching 49%, 87% and 98% of learners.</a:t>
            </a:r>
          </a:p>
          <a:p>
            <a:pPr algn="l" marL="201168" indent="-201168">
              <a:spcAft>
                <a:spcPts val="600"/>
              </a:spcAft>
              <a:buClr>
                <a:srgbClr val="2A78D6"/>
              </a:buClr>
              <a:buFont typeface="Arial"/>
              <a:buChar char="•"/>
            </a:pPr>
            <a:r>
              <a:rPr sz="1350" b="0" i="0">
                <a:solidFill>
                  <a:srgbClr val="262626"/>
                </a:solidFill>
                <a:latin typeface="Abadi"/>
              </a:rPr>
              <a:t>H3 confirmed where the data has signal: RecommenderNetV2 cuts RMSE by 50% vs the global mean and beats KNN and NMF. On ratings.csv, whose ratings are random, no model beats the mean (0.814).</a:t>
            </a:r>
          </a:p>
          <a:p>
            <a:pPr algn="l" marL="201168" indent="-201168">
              <a:spcAft>
                <a:spcPts val="600"/>
              </a:spcAft>
              <a:buClr>
                <a:srgbClr val="2A78D6"/>
              </a:buClr>
              <a:buFont typeface="Arial"/>
              <a:buChar char="•"/>
            </a:pPr>
            <a:r>
              <a:rPr sz="1350" b="0" i="0">
                <a:solidFill>
                  <a:srgbClr val="262626"/>
                </a:solidFill>
                <a:latin typeface="Abadi"/>
              </a:rPr>
              <a:t>Data checks and tuning matter as much as the model: default thresholds gave 41-44 courses per learner, and a randomised rating file makes every model look broken.</a:t>
            </a:r>
          </a:p>
        </p:txBody>
      </p:sp>
      <p:sp>
        <p:nvSpPr>
          <p:cNvPr id="13" name="TextBox 12"/>
          <p:cNvSpPr txBox="1"/>
          <p:nvPr/>
        </p:nvSpPr>
        <p:spPr>
          <a:xfrm>
            <a:off x="7260336" y="1645920"/>
            <a:ext cx="3941064" cy="3383280"/>
          </a:xfrm>
          <a:prstGeom prst="rect">
            <a:avLst/>
          </a:prstGeom>
          <a:noFill/>
        </p:spPr>
        <p:txBody>
          <a:bodyPr wrap="square" anchor="t" lIns="0" rIns="0" tIns="0" bIns="0">
            <a:spAutoFit/>
          </a:bodyPr>
          <a:lstStyle/>
          <a:p>
            <a:pPr algn="l">
              <a:spcAft>
                <a:spcPts val="800"/>
              </a:spcAft>
            </a:pPr>
            <a:r>
              <a:rPr sz="1800" b="1" i="0">
                <a:solidFill>
                  <a:srgbClr val="0B49CB"/>
                </a:solidFill>
                <a:latin typeface="Abadi"/>
              </a:rPr>
              <a:t>Recommendations</a:t>
            </a:r>
          </a:p>
          <a:p>
            <a:pPr algn="l" marL="201168" indent="-201168">
              <a:spcAft>
                <a:spcPts val="600"/>
              </a:spcAft>
              <a:buClr>
                <a:srgbClr val="2A78D6"/>
              </a:buClr>
              <a:buFont typeface="Arial"/>
              <a:buChar char="•"/>
            </a:pPr>
            <a:r>
              <a:rPr sz="1350" b="0" i="0">
                <a:solidFill>
                  <a:srgbClr val="262626"/>
                </a:solidFill>
                <a:latin typeface="Abadi"/>
              </a:rPr>
              <a:t>Serve new and one-course learners with content-based recommendations (profile or similarity): they need no rating history.</a:t>
            </a:r>
          </a:p>
          <a:p>
            <a:pPr algn="l" marL="201168" indent="-201168">
              <a:spcAft>
                <a:spcPts val="600"/>
              </a:spcAft>
              <a:buClr>
                <a:srgbClr val="2A78D6"/>
              </a:buClr>
              <a:buFont typeface="Arial"/>
              <a:buChar char="•"/>
            </a:pPr>
            <a:r>
              <a:rPr sz="1350" b="0" i="0">
                <a:solidFill>
                  <a:srgbClr val="262626"/>
                </a:solidFill>
                <a:latin typeface="Abadi"/>
              </a:rPr>
              <a:t>Use the neural embedding model for learners with history, with item-based KNN as a simple, explainable fallback.</a:t>
            </a:r>
          </a:p>
          <a:p>
            <a:pPr algn="l" marL="201168" indent="-201168">
              <a:spcAft>
                <a:spcPts val="600"/>
              </a:spcAft>
              <a:buClr>
                <a:srgbClr val="2A78D6"/>
              </a:buClr>
              <a:buFont typeface="Arial"/>
              <a:buChar char="•"/>
            </a:pPr>
            <a:r>
              <a:rPr sz="1350" b="0" i="0">
                <a:solidFill>
                  <a:srgbClr val="262626"/>
                </a:solidFill>
                <a:latin typeface="Abadi"/>
              </a:rPr>
              <a:t>Blend both in a hybrid ranker, cap lists with a per-user top-N (10-20), deduplicate course versions and add diversity for long-tail courses.</a:t>
            </a:r>
          </a:p>
          <a:p>
            <a:pPr algn="l" marL="201168" indent="-201168">
              <a:spcAft>
                <a:spcPts val="600"/>
              </a:spcAft>
              <a:buClr>
                <a:srgbClr val="2A78D6"/>
              </a:buClr>
              <a:buFont typeface="Arial"/>
              <a:buChar char="•"/>
            </a:pPr>
            <a:r>
              <a:rPr sz="1350" b="0" i="0">
                <a:solidFill>
                  <a:srgbClr val="262626"/>
                </a:solidFill>
                <a:latin typeface="Abadi"/>
              </a:rPr>
              <a:t>Next: ranking metrics (precision@k, recall@k) on a time-based split, then an A/B test of click-through and completion.</a:t>
            </a:r>
          </a:p>
        </p:txBody>
      </p:sp>
      <p:sp>
        <p:nvSpPr>
          <p:cNvPr id="14" name="Rounded Rectangle 13"/>
          <p:cNvSpPr/>
          <p:nvPr/>
        </p:nvSpPr>
        <p:spPr>
          <a:xfrm>
            <a:off x="768096" y="5367528"/>
            <a:ext cx="10661904" cy="658368"/>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96695" y="5367528"/>
            <a:ext cx="10204704" cy="658368"/>
          </a:xfrm>
          <a:prstGeom prst="rect">
            <a:avLst/>
          </a:prstGeom>
          <a:noFill/>
        </p:spPr>
        <p:txBody>
          <a:bodyPr wrap="square" anchor="ctr" lIns="0" rIns="0" tIns="0" bIns="0">
            <a:spAutoFit/>
          </a:bodyPr>
          <a:lstStyle/>
          <a:p>
            <a:pPr algn="l">
              <a:spcAft>
                <a:spcPts val="0"/>
              </a:spcAft>
            </a:pPr>
            <a:r>
              <a:rPr sz="1400" b="1" i="0">
                <a:solidFill>
                  <a:srgbClr val="0B49CB"/>
                </a:solidFill>
                <a:latin typeface="Abadi"/>
              </a:rPr>
              <a:t>Bottom line: </a:t>
            </a:r>
            <a:r>
              <a:rPr sz="1400" b="0" i="0">
                <a:solidFill>
                  <a:srgbClr val="262626"/>
                </a:solidFill>
                <a:latin typeface="Abadi"/>
              </a:rPr>
              <a:t>start every learner with content-based recommendations, switch to the neural embedding model once they have a rating history, and judge every model against a baseline on validated data.</a:t>
            </a:r>
          </a:p>
        </p:txBody>
      </p:sp>
    </p:spTree>
    <p:extLst>
      <p:ext uri="{BB962C8B-B14F-4D97-AF65-F5344CB8AC3E}">
        <p14:creationId xmlns:p14="http://schemas.microsoft.com/office/powerpoint/2010/main" val="1630123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
        <p:nvSpPr>
          <p:cNvPr id="12" name="Rounded Rectangle 11"/>
          <p:cNvSpPr/>
          <p:nvPr/>
        </p:nvSpPr>
        <p:spPr>
          <a:xfrm>
            <a:off x="768096" y="1481328"/>
            <a:ext cx="3371088" cy="21259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9264" y="1618488"/>
            <a:ext cx="2968752" cy="1851660"/>
          </a:xfrm>
          <a:prstGeom prst="rect">
            <a:avLst/>
          </a:prstGeom>
          <a:noFill/>
        </p:spPr>
        <p:txBody>
          <a:bodyPr wrap="square" anchor="t" lIns="0" rIns="0" tIns="0" bIns="0">
            <a:spAutoFit/>
          </a:bodyPr>
          <a:lstStyle/>
          <a:p>
            <a:pPr algn="l">
              <a:spcAft>
                <a:spcPts val="600"/>
              </a:spcAft>
            </a:pPr>
            <a:r>
              <a:rPr sz="1400" b="1" i="0">
                <a:solidFill>
                  <a:srgbClr val="0B49CB"/>
                </a:solidFill>
                <a:latin typeface="Abadi"/>
              </a:rPr>
              <a:t>Lab notebooks</a:t>
            </a:r>
          </a:p>
          <a:p>
            <a:pPr algn="l">
              <a:spcAft>
                <a:spcPts val="0"/>
              </a:spcAft>
            </a:pPr>
            <a:r>
              <a:rPr sz="1300" b="0" i="0">
                <a:solidFill>
                  <a:srgbClr val="262626"/>
                </a:solidFill>
                <a:latin typeface="Abadi"/>
              </a:rPr>
              <a:t>11 labs solved and executed: m01/06, 07, 10 (EDA, bag of words, similarity); m02/03, 05, 06 (profile, similarity, clustering); m03/03-07 (KNN, NMF, neural network, regression, classification).</a:t>
            </a:r>
          </a:p>
        </p:txBody>
      </p:sp>
      <p:sp>
        <p:nvSpPr>
          <p:cNvPr id="14" name="Rounded Rectangle 13"/>
          <p:cNvSpPr/>
          <p:nvPr/>
        </p:nvSpPr>
        <p:spPr>
          <a:xfrm>
            <a:off x="4413504" y="1481328"/>
            <a:ext cx="3371088" cy="21259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614672" y="1618488"/>
            <a:ext cx="2968752" cy="1851660"/>
          </a:xfrm>
          <a:prstGeom prst="rect">
            <a:avLst/>
          </a:prstGeom>
          <a:noFill/>
        </p:spPr>
        <p:txBody>
          <a:bodyPr wrap="square" anchor="t" lIns="0" rIns="0" tIns="0" bIns="0">
            <a:spAutoFit/>
          </a:bodyPr>
          <a:lstStyle/>
          <a:p>
            <a:pPr algn="l">
              <a:spcAft>
                <a:spcPts val="600"/>
              </a:spcAft>
            </a:pPr>
            <a:r>
              <a:rPr sz="1400" b="1" i="0">
                <a:solidFill>
                  <a:srgbClr val="0B49CB"/>
                </a:solidFill>
                <a:latin typeface="Abadi"/>
              </a:rPr>
              <a:t>Benchmark notebook</a:t>
            </a:r>
          </a:p>
          <a:p>
            <a:pPr algn="l">
              <a:spcAft>
                <a:spcPts val="0"/>
              </a:spcAft>
            </a:pPr>
            <a:r>
              <a:rPr sz="1300" b="0" i="0">
                <a:solidFill>
                  <a:srgbClr val="262626"/>
                </a:solidFill>
                <a:latin typeface="Abadi"/>
              </a:rPr>
              <a:t>m03/08 - Extra - Benchmark of Collaborative Filtering Models.ipynb retrains KNN, NMF, SVD, both neural networks and Ridge on one identical 70/30 split of each rating file.</a:t>
            </a:r>
          </a:p>
        </p:txBody>
      </p:sp>
      <p:sp>
        <p:nvSpPr>
          <p:cNvPr id="16" name="Rounded Rectangle 15"/>
          <p:cNvSpPr/>
          <p:nvPr/>
        </p:nvSpPr>
        <p:spPr>
          <a:xfrm>
            <a:off x="8058912" y="1481328"/>
            <a:ext cx="3371088" cy="21259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60080" y="1618488"/>
            <a:ext cx="2968752" cy="1851660"/>
          </a:xfrm>
          <a:prstGeom prst="rect">
            <a:avLst/>
          </a:prstGeom>
          <a:noFill/>
        </p:spPr>
        <p:txBody>
          <a:bodyPr wrap="square" anchor="t" lIns="0" rIns="0" tIns="0" bIns="0">
            <a:spAutoFit/>
          </a:bodyPr>
          <a:lstStyle/>
          <a:p>
            <a:pPr algn="l">
              <a:spcAft>
                <a:spcPts val="600"/>
              </a:spcAft>
            </a:pPr>
            <a:r>
              <a:rPr sz="1400" b="1" i="0">
                <a:solidFill>
                  <a:srgbClr val="0B49CB"/>
                </a:solidFill>
                <a:latin typeface="Abadi"/>
              </a:rPr>
              <a:t>Results</a:t>
            </a:r>
          </a:p>
          <a:p>
            <a:pPr algn="l">
              <a:spcAft>
                <a:spcPts val="0"/>
              </a:spcAft>
            </a:pPr>
            <a:r>
              <a:rPr sz="1300" b="0" i="0">
                <a:solidFill>
                  <a:srgbClr val="262626"/>
                </a:solidFill>
                <a:latin typeface="Abadi"/>
              </a:rPr>
              <a:t>results/*.csv - the small summaries each notebook exports (threshold sweeps, top-10 lists, RMSE tables). Every number in this deck is read from them.</a:t>
            </a:r>
          </a:p>
        </p:txBody>
      </p:sp>
      <p:sp>
        <p:nvSpPr>
          <p:cNvPr id="18" name="Rounded Rectangle 17"/>
          <p:cNvSpPr/>
          <p:nvPr/>
        </p:nvSpPr>
        <p:spPr>
          <a:xfrm>
            <a:off x="768096" y="3881628"/>
            <a:ext cx="3371088" cy="21259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018788"/>
            <a:ext cx="2968752" cy="1851660"/>
          </a:xfrm>
          <a:prstGeom prst="rect">
            <a:avLst/>
          </a:prstGeom>
          <a:noFill/>
        </p:spPr>
        <p:txBody>
          <a:bodyPr wrap="square" anchor="t" lIns="0" rIns="0" tIns="0" bIns="0">
            <a:spAutoFit/>
          </a:bodyPr>
          <a:lstStyle/>
          <a:p>
            <a:pPr algn="l">
              <a:spcAft>
                <a:spcPts val="600"/>
              </a:spcAft>
            </a:pPr>
            <a:r>
              <a:rPr sz="1400" b="1" i="0">
                <a:solidFill>
                  <a:srgbClr val="0B49CB"/>
                </a:solidFill>
                <a:latin typeface="Abadi"/>
              </a:rPr>
              <a:t>Report source</a:t>
            </a:r>
          </a:p>
          <a:p>
            <a:pPr algn="l">
              <a:spcAft>
                <a:spcPts val="0"/>
              </a:spcAft>
            </a:pPr>
            <a:r>
              <a:rPr sz="1300" b="0" i="0">
                <a:solidFill>
                  <a:srgbClr val="262626"/>
                </a:solidFill>
                <a:latin typeface="Abadi"/>
              </a:rPr>
              <a:t>m05/Final Project Submission/source: build_report.py fills the course template from the results; export_pdf.ps1 saves this PDF with PowerPoint.</a:t>
            </a:r>
          </a:p>
        </p:txBody>
      </p:sp>
      <p:sp>
        <p:nvSpPr>
          <p:cNvPr id="20" name="Rounded Rectangle 19"/>
          <p:cNvSpPr/>
          <p:nvPr/>
        </p:nvSpPr>
        <p:spPr>
          <a:xfrm>
            <a:off x="4413504" y="3881628"/>
            <a:ext cx="3371088" cy="21259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614672" y="4018788"/>
            <a:ext cx="2968752" cy="1851660"/>
          </a:xfrm>
          <a:prstGeom prst="rect">
            <a:avLst/>
          </a:prstGeom>
          <a:noFill/>
        </p:spPr>
        <p:txBody>
          <a:bodyPr wrap="square" anchor="t" lIns="0" rIns="0" tIns="0" bIns="0">
            <a:spAutoFit/>
          </a:bodyPr>
          <a:lstStyle/>
          <a:p>
            <a:pPr algn="l">
              <a:spcAft>
                <a:spcPts val="600"/>
              </a:spcAft>
            </a:pPr>
            <a:r>
              <a:rPr sz="1400" b="1" i="0">
                <a:solidFill>
                  <a:srgbClr val="0B49CB"/>
                </a:solidFill>
                <a:latin typeface="Abadi"/>
              </a:rPr>
              <a:t>Environment</a:t>
            </a:r>
          </a:p>
          <a:p>
            <a:pPr algn="l">
              <a:spcAft>
                <a:spcPts val="0"/>
              </a:spcAft>
            </a:pPr>
            <a:r>
              <a:rPr sz="1300" b="0" i="0">
                <a:solidFill>
                  <a:srgbClr val="262626"/>
                </a:solidFill>
                <a:latin typeface="Abadi"/>
              </a:rPr>
              <a:t>Python 3.11, pandas 2.2, scikit-learn 1.5, scikit-surprise 1.1.4, TensorFlow 2.17 (Keras 3), gensim 4.3, NLTK 3.9, wordcloud 1.9, python-pptx 1.0.</a:t>
            </a:r>
          </a:p>
        </p:txBody>
      </p:sp>
      <p:sp>
        <p:nvSpPr>
          <p:cNvPr id="22" name="Rounded Rectangle 21"/>
          <p:cNvSpPr/>
          <p:nvPr/>
        </p:nvSpPr>
        <p:spPr>
          <a:xfrm>
            <a:off x="8058912" y="3881628"/>
            <a:ext cx="3371088" cy="21259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60080" y="4018788"/>
            <a:ext cx="2968752" cy="320040"/>
          </a:xfrm>
          <a:prstGeom prst="rect">
            <a:avLst/>
          </a:prstGeom>
          <a:noFill/>
        </p:spPr>
        <p:txBody>
          <a:bodyPr wrap="square" anchor="t" lIns="0" rIns="0" tIns="0" bIns="0">
            <a:spAutoFit/>
          </a:bodyPr>
          <a:lstStyle/>
          <a:p>
            <a:pPr algn="l">
              <a:spcAft>
                <a:spcPts val="0"/>
              </a:spcAft>
            </a:pPr>
            <a:r>
              <a:rPr sz="1400" b="1" i="0">
                <a:solidFill>
                  <a:srgbClr val="0B49CB"/>
                </a:solidFill>
                <a:latin typeface="Abadi"/>
              </a:rPr>
              <a:t>Key code: profile scoring</a:t>
            </a:r>
          </a:p>
        </p:txBody>
      </p:sp>
      <p:sp>
        <p:nvSpPr>
          <p:cNvPr id="24" name="TextBox 23"/>
          <p:cNvSpPr txBox="1"/>
          <p:nvPr/>
        </p:nvSpPr>
        <p:spPr>
          <a:xfrm>
            <a:off x="8260080" y="4430268"/>
            <a:ext cx="2968752" cy="1485900"/>
          </a:xfrm>
          <a:prstGeom prst="rect">
            <a:avLst/>
          </a:prstGeom>
          <a:noFill/>
        </p:spPr>
        <p:txBody>
          <a:bodyPr wrap="square" anchor="t" lIns="0" rIns="0" tIns="0" bIns="0">
            <a:spAutoFit/>
          </a:bodyPr>
          <a:lstStyle/>
          <a:p>
            <a:pPr algn="l">
              <a:spcAft>
                <a:spcPts val="200"/>
              </a:spcAft>
            </a:pPr>
            <a:r>
              <a:rPr sz="1050" b="0" i="0">
                <a:solidFill>
                  <a:srgbClr val="898781"/>
                </a:solidFill>
                <a:latin typeface="Consolas"/>
              </a:rPr>
              <a:t># interest score of every course</a:t>
            </a:r>
          </a:p>
          <a:p>
            <a:pPr algn="l">
              <a:spcAft>
                <a:spcPts val="200"/>
              </a:spcAft>
            </a:pPr>
            <a:r>
              <a:rPr sz="1050" b="0" i="0">
                <a:solidFill>
                  <a:srgbClr val="898781"/>
                </a:solidFill>
                <a:latin typeface="Consolas"/>
              </a:rPr>
              <a:t># for every learner, vectorised</a:t>
            </a:r>
          </a:p>
          <a:p>
            <a:pPr algn="l">
              <a:spcAft>
                <a:spcPts val="200"/>
              </a:spcAft>
            </a:pPr>
            <a:r>
              <a:rPr sz="1050" b="0" i="0">
                <a:solidFill>
                  <a:srgbClr val="262626"/>
                </a:solidFill>
                <a:latin typeface="Consolas"/>
              </a:rPr>
              <a:t>scores = profiles @ genres.T</a:t>
            </a:r>
          </a:p>
          <a:p>
            <a:pPr algn="l">
              <a:spcAft>
                <a:spcPts val="200"/>
              </a:spcAft>
            </a:pPr>
            <a:r>
              <a:rPr sz="1050" b="0" i="0">
                <a:solidFill>
                  <a:srgbClr val="262626"/>
                </a:solidFill>
                <a:latin typeface="Consolas"/>
              </a:rPr>
              <a:t>scores = scores.mask(enrolled)</a:t>
            </a:r>
          </a:p>
          <a:p>
            <a:pPr algn="l">
              <a:spcAft>
                <a:spcPts val="200"/>
              </a:spcAft>
            </a:pPr>
            <a:r>
              <a:rPr sz="1050" b="0" i="0">
                <a:solidFill>
                  <a:srgbClr val="262626"/>
                </a:solidFill>
                <a:latin typeface="Consolas"/>
              </a:rPr>
              <a:t>recs = scores &gt;= 20</a:t>
            </a:r>
          </a:p>
          <a:p>
            <a:pPr algn="l">
              <a:spcAft>
                <a:spcPts val="200"/>
              </a:spcAft>
            </a:pPr>
            <a:r>
              <a:rPr sz="1050" b="0" i="0">
                <a:solidFill>
                  <a:srgbClr val="262626"/>
                </a:solidFill>
                <a:latin typeface="Consolas"/>
              </a:rPr>
              <a:t>recs.sum(axis=1).mean()  # 14.1</a:t>
            </a:r>
          </a:p>
        </p:txBody>
      </p:sp>
    </p:spTree>
    <p:extLst>
      <p:ext uri="{BB962C8B-B14F-4D97-AF65-F5344CB8AC3E}">
        <p14:creationId xmlns:p14="http://schemas.microsoft.com/office/powerpoint/2010/main" val="3410008520"/>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Comparing the three content-based recommender systems</a:t>
            </a:r>
          </a:p>
        </p:txBody>
      </p:sp>
      <p:graphicFrame>
        <p:nvGraphicFramePr>
          <p:cNvPr id="5" name="Table 4"/>
          <p:cNvGraphicFramePr>
            <a:graphicFrameLocks noGrp="1"/>
          </p:cNvGraphicFramePr>
          <p:nvPr/>
        </p:nvGraphicFramePr>
        <p:xfrm>
          <a:off x="841248" y="1783080"/>
          <a:ext cx="10515600" cy="2103120"/>
        </p:xfrm>
        <a:graphic>
          <a:graphicData uri="http://schemas.openxmlformats.org/drawingml/2006/table">
            <a:tbl>
              <a:tblPr firstRow="1" bandRow="0">
                <a:tableStyleId>{2D5ABB26-0587-4C30-8999-92F81FD0307C}</a:tableStyleId>
              </a:tblPr>
              <a:tblGrid>
                <a:gridCol w="3063240"/>
                <a:gridCol w="2487168"/>
                <a:gridCol w="2487168"/>
                <a:gridCol w="2478024"/>
              </a:tblGrid>
              <a:tr h="420624">
                <a:tc>
                  <a:txBody>
                    <a:bodyPr wrap="square"/>
                    <a:lstStyle/>
                    <a:p>
                      <a:pPr algn="l">
                        <a:spcAft>
                          <a:spcPts val="0"/>
                        </a:spcAft>
                      </a:pPr>
                      <a:r>
                        <a:rPr sz="1250" b="1" i="0">
                          <a:solidFill>
                            <a:srgbClr val="FFFFFF"/>
                          </a:solidFill>
                          <a:latin typeface="Abadi"/>
                        </a:rPr>
                        <a:t>Metric</a:t>
                      </a:r>
                    </a:p>
                  </a:txBody>
                  <a:tcPr marL="73152" marR="73152" marT="18288" marB="18288" anchor="ctr">
                    <a:solidFill>
                      <a:srgbClr val="0B49CB"/>
                    </a:solidFill>
                  </a:tcPr>
                </a:tc>
                <a:tc>
                  <a:txBody>
                    <a:bodyPr wrap="square"/>
                    <a:lstStyle/>
                    <a:p>
                      <a:pPr algn="ctr">
                        <a:spcAft>
                          <a:spcPts val="0"/>
                        </a:spcAft>
                      </a:pPr>
                      <a:r>
                        <a:rPr sz="1250" b="1" i="0">
                          <a:solidFill>
                            <a:srgbClr val="FFFFFF"/>
                          </a:solidFill>
                          <a:latin typeface="Abadi"/>
                        </a:rPr>
                        <a:t>User profile + genres</a:t>
                      </a:r>
                    </a:p>
                  </a:txBody>
                  <a:tcPr marL="73152" marR="73152" marT="18288" marB="18288" anchor="ctr">
                    <a:solidFill>
                      <a:srgbClr val="0B49CB"/>
                    </a:solidFill>
                  </a:tcPr>
                </a:tc>
                <a:tc>
                  <a:txBody>
                    <a:bodyPr wrap="square"/>
                    <a:lstStyle/>
                    <a:p>
                      <a:pPr algn="ctr">
                        <a:spcAft>
                          <a:spcPts val="0"/>
                        </a:spcAft>
                      </a:pPr>
                      <a:r>
                        <a:rPr sz="1250" b="1" i="0">
                          <a:solidFill>
                            <a:srgbClr val="FFFFFF"/>
                          </a:solidFill>
                          <a:latin typeface="Abadi"/>
                        </a:rPr>
                        <a:t>Course similarity (BoW)</a:t>
                      </a:r>
                    </a:p>
                  </a:txBody>
                  <a:tcPr marL="73152" marR="73152" marT="18288" marB="18288" anchor="ctr">
                    <a:solidFill>
                      <a:srgbClr val="0B49CB"/>
                    </a:solidFill>
                  </a:tcPr>
                </a:tc>
                <a:tc>
                  <a:txBody>
                    <a:bodyPr wrap="square"/>
                    <a:lstStyle/>
                    <a:p>
                      <a:pPr algn="ctr">
                        <a:spcAft>
                          <a:spcPts val="0"/>
                        </a:spcAft>
                      </a:pPr>
                      <a:r>
                        <a:rPr sz="1250" b="1" i="0">
                          <a:solidFill>
                            <a:srgbClr val="FFFFFF"/>
                          </a:solidFill>
                          <a:latin typeface="Abadi"/>
                        </a:rPr>
                        <a:t>User clustering (PCA + K-means)</a:t>
                      </a:r>
                    </a:p>
                  </a:txBody>
                  <a:tcPr marL="73152" marR="73152" marT="18288" marB="18288" anchor="ctr">
                    <a:solidFill>
                      <a:srgbClr val="0B49CB"/>
                    </a:solidFill>
                  </a:tcPr>
                </a:tc>
              </a:tr>
              <a:tr h="420624">
                <a:tc>
                  <a:txBody>
                    <a:bodyPr wrap="square"/>
                    <a:lstStyle/>
                    <a:p>
                      <a:pPr algn="l">
                        <a:spcAft>
                          <a:spcPts val="0"/>
                        </a:spcAft>
                      </a:pPr>
                      <a:r>
                        <a:rPr sz="1250" b="1" i="0">
                          <a:solidFill>
                            <a:srgbClr val="262626"/>
                          </a:solidFill>
                          <a:latin typeface="Abadi"/>
                        </a:rPr>
                        <a:t>Avg new courses per user</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ctr">
                        <a:spcAft>
                          <a:spcPts val="0"/>
                        </a:spcAft>
                      </a:pPr>
                      <a:r>
                        <a:rPr sz="1250" b="0" i="0">
                          <a:solidFill>
                            <a:srgbClr val="262626"/>
                          </a:solidFill>
                          <a:latin typeface="Abadi"/>
                        </a:rPr>
                        <a:t>14.1</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ctr">
                        <a:spcAft>
                          <a:spcPts val="0"/>
                        </a:spcAft>
                      </a:pPr>
                      <a:r>
                        <a:rPr sz="1250" b="0" i="0">
                          <a:solidFill>
                            <a:srgbClr val="262626"/>
                          </a:solidFill>
                          <a:latin typeface="Abadi"/>
                        </a:rPr>
                        <a:t>8.5</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ctr">
                        <a:spcAft>
                          <a:spcPts val="0"/>
                        </a:spcAft>
                      </a:pPr>
                      <a:r>
                        <a:rPr sz="1250" b="0" i="0">
                          <a:solidFill>
                            <a:srgbClr val="262626"/>
                          </a:solidFill>
                          <a:latin typeface="Abadi"/>
                        </a:rPr>
                        <a:t>13.7</a:t>
                      </a:r>
                    </a:p>
                  </a:txBody>
                  <a:tcPr marL="73152" marR="73152" marT="18288" marB="18288" anchor="ctr">
                    <a:lnL w="0">
                      <a:noFill/>
                    </a:lnL>
                    <a:lnR w="0">
                      <a:noFill/>
                    </a:lnR>
                    <a:lnT w="0">
                      <a:noFill/>
                    </a:lnT>
                    <a:lnB w="9525">
                      <a:solidFill>
                        <a:srgbClr val="E1E0D9"/>
                      </a:solidFill>
                    </a:lnB>
                    <a:solidFill>
                      <a:srgbClr val="FFFFFF"/>
                    </a:solidFill>
                  </a:tcPr>
                </a:tc>
              </a:tr>
              <a:tr h="420624">
                <a:tc>
                  <a:txBody>
                    <a:bodyPr wrap="square"/>
                    <a:lstStyle/>
                    <a:p>
                      <a:pPr algn="l">
                        <a:spcAft>
                          <a:spcPts val="0"/>
                        </a:spcAft>
                      </a:pPr>
                      <a:r>
                        <a:rPr sz="1250" b="1" i="0">
                          <a:solidFill>
                            <a:srgbClr val="262626"/>
                          </a:solidFill>
                          <a:latin typeface="Abadi"/>
                        </a:rPr>
                        <a:t>Learners reached (at least one course)</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ctr">
                        <a:spcAft>
                          <a:spcPts val="0"/>
                        </a:spcAft>
                      </a:pPr>
                      <a:r>
                        <a:rPr sz="1250" b="0" i="0">
                          <a:solidFill>
                            <a:srgbClr val="262626"/>
                          </a:solidFill>
                          <a:latin typeface="Abadi"/>
                        </a:rPr>
                        <a:t>16,554 (49%)</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ctr">
                        <a:spcAft>
                          <a:spcPts val="0"/>
                        </a:spcAft>
                      </a:pPr>
                      <a:r>
                        <a:rPr sz="1250" b="0" i="0">
                          <a:solidFill>
                            <a:srgbClr val="262626"/>
                          </a:solidFill>
                          <a:latin typeface="Abadi"/>
                        </a:rPr>
                        <a:t>29,661 (87%)</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ctr">
                        <a:spcAft>
                          <a:spcPts val="0"/>
                        </a:spcAft>
                      </a:pPr>
                      <a:r>
                        <a:rPr sz="1250" b="0" i="0">
                          <a:solidFill>
                            <a:srgbClr val="262626"/>
                          </a:solidFill>
                          <a:latin typeface="Abadi"/>
                        </a:rPr>
                        <a:t>33,381 (98%)</a:t>
                      </a:r>
                    </a:p>
                  </a:txBody>
                  <a:tcPr marL="73152" marR="73152" marT="18288" marB="18288" anchor="ctr">
                    <a:lnL w="0">
                      <a:noFill/>
                    </a:lnL>
                    <a:lnR w="0">
                      <a:noFill/>
                    </a:lnR>
                    <a:lnT w="0">
                      <a:noFill/>
                    </a:lnT>
                    <a:lnB w="9525">
                      <a:solidFill>
                        <a:srgbClr val="E1E0D9"/>
                      </a:solidFill>
                    </a:lnB>
                    <a:solidFill>
                      <a:srgbClr val="F4F4F1"/>
                    </a:solidFill>
                  </a:tcPr>
                </a:tc>
              </a:tr>
              <a:tr h="420624">
                <a:tc>
                  <a:txBody>
                    <a:bodyPr wrap="square"/>
                    <a:lstStyle/>
                    <a:p>
                      <a:pPr algn="l">
                        <a:spcAft>
                          <a:spcPts val="0"/>
                        </a:spcAft>
                      </a:pPr>
                      <a:r>
                        <a:rPr sz="1250" b="1" i="0">
                          <a:solidFill>
                            <a:srgbClr val="262626"/>
                          </a:solidFill>
                          <a:latin typeface="Abadi"/>
                        </a:rPr>
                        <a:t>Catalogue coverage (distinct courses)</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ctr">
                        <a:spcAft>
                          <a:spcPts val="0"/>
                        </a:spcAft>
                      </a:pPr>
                      <a:r>
                        <a:rPr sz="1250" b="0" i="0">
                          <a:solidFill>
                            <a:srgbClr val="262626"/>
                          </a:solidFill>
                          <a:latin typeface="Abadi"/>
                        </a:rPr>
                        <a:t>280 of 307 (91%)</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ctr">
                        <a:spcAft>
                          <a:spcPts val="0"/>
                        </a:spcAft>
                      </a:pPr>
                      <a:r>
                        <a:rPr sz="1250" b="0" i="0">
                          <a:solidFill>
                            <a:srgbClr val="262626"/>
                          </a:solidFill>
                          <a:latin typeface="Abadi"/>
                        </a:rPr>
                        <a:t>63 of 307 (21%)</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ctr">
                        <a:spcAft>
                          <a:spcPts val="0"/>
                        </a:spcAft>
                      </a:pPr>
                      <a:r>
                        <a:rPr sz="1250" b="0" i="0">
                          <a:solidFill>
                            <a:srgbClr val="262626"/>
                          </a:solidFill>
                          <a:latin typeface="Abadi"/>
                        </a:rPr>
                        <a:t>50 of 307 (16%)</a:t>
                      </a:r>
                    </a:p>
                  </a:txBody>
                  <a:tcPr marL="73152" marR="73152" marT="18288" marB="18288" anchor="ctr">
                    <a:lnL w="0">
                      <a:noFill/>
                    </a:lnL>
                    <a:lnR w="0">
                      <a:noFill/>
                    </a:lnR>
                    <a:lnT w="0">
                      <a:noFill/>
                    </a:lnT>
                    <a:lnB w="9525">
                      <a:solidFill>
                        <a:srgbClr val="E1E0D9"/>
                      </a:solidFill>
                    </a:lnB>
                    <a:solidFill>
                      <a:srgbClr val="FFFFFF"/>
                    </a:solidFill>
                  </a:tcPr>
                </a:tc>
              </a:tr>
              <a:tr h="420624">
                <a:tc>
                  <a:txBody>
                    <a:bodyPr wrap="square"/>
                    <a:lstStyle/>
                    <a:p>
                      <a:pPr algn="l">
                        <a:spcAft>
                          <a:spcPts val="0"/>
                        </a:spcAft>
                      </a:pPr>
                      <a:r>
                        <a:rPr sz="1250" b="1" i="0">
                          <a:solidFill>
                            <a:srgbClr val="262626"/>
                          </a:solidFill>
                          <a:latin typeface="Abadi"/>
                        </a:rPr>
                        <a:t>Total recommendations</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ctr">
                        <a:spcAft>
                          <a:spcPts val="0"/>
                        </a:spcAft>
                      </a:pPr>
                      <a:r>
                        <a:rPr sz="1250" b="0" i="0">
                          <a:solidFill>
                            <a:srgbClr val="262626"/>
                          </a:solidFill>
                          <a:latin typeface="Abadi"/>
                        </a:rPr>
                        <a:t>479,131</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ctr">
                        <a:spcAft>
                          <a:spcPts val="0"/>
                        </a:spcAft>
                      </a:pPr>
                      <a:r>
                        <a:rPr sz="1250" b="0" i="0">
                          <a:solidFill>
                            <a:srgbClr val="262626"/>
                          </a:solidFill>
                          <a:latin typeface="Abadi"/>
                        </a:rPr>
                        <a:t>289,738</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ctr">
                        <a:spcAft>
                          <a:spcPts val="0"/>
                        </a:spcAft>
                      </a:pPr>
                      <a:r>
                        <a:rPr sz="1250" b="0" i="0">
                          <a:solidFill>
                            <a:srgbClr val="262626"/>
                          </a:solidFill>
                          <a:latin typeface="Abadi"/>
                        </a:rPr>
                        <a:t>466,094</a:t>
                      </a:r>
                    </a:p>
                  </a:txBody>
                  <a:tcPr marL="73152" marR="73152" marT="18288" marB="18288" anchor="ctr">
                    <a:lnL w="0">
                      <a:noFill/>
                    </a:lnL>
                    <a:lnR w="0">
                      <a:noFill/>
                    </a:lnR>
                    <a:lnT w="0">
                      <a:noFill/>
                    </a:lnT>
                    <a:lnB w="9525">
                      <a:solidFill>
                        <a:srgbClr val="E1E0D9"/>
                      </a:solidFill>
                    </a:lnB>
                    <a:solidFill>
                      <a:srgbClr val="F4F4F1"/>
                    </a:solidFill>
                  </a:tcPr>
                </a:tc>
              </a:tr>
            </a:tbl>
          </a:graphicData>
        </a:graphic>
      </p:graphicFrame>
      <p:sp>
        <p:nvSpPr>
          <p:cNvPr id="6" name="Rounded Rectangle 5"/>
          <p:cNvSpPr/>
          <p:nvPr/>
        </p:nvSpPr>
        <p:spPr>
          <a:xfrm>
            <a:off x="841248" y="4206240"/>
            <a:ext cx="10515600" cy="2103120"/>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69848" y="4315968"/>
            <a:ext cx="10058400" cy="1920240"/>
          </a:xfrm>
          <a:prstGeom prst="rect">
            <a:avLst/>
          </a:prstGeom>
          <a:noFill/>
        </p:spPr>
        <p:txBody>
          <a:bodyPr wrap="square" anchor="t" lIns="0" rIns="0" tIns="0" bIns="0">
            <a:spAutoFit/>
          </a:bodyPr>
          <a:lstStyle/>
          <a:p>
            <a:pPr algn="l">
              <a:spcAft>
                <a:spcPts val="600"/>
              </a:spcAft>
            </a:pPr>
            <a:r>
              <a:rPr sz="1500" b="1" i="0">
                <a:solidFill>
                  <a:srgbClr val="0B49CB"/>
                </a:solidFill>
                <a:latin typeface="Abadi"/>
              </a:rPr>
              <a:t>Innovative insight: the three content-based recommenders behave very differently</a:t>
            </a:r>
          </a:p>
          <a:p>
            <a:pPr algn="l" marL="201168" indent="-201168">
              <a:spcAft>
                <a:spcPts val="500"/>
              </a:spcAft>
              <a:buClr>
                <a:srgbClr val="2A78D6"/>
              </a:buClr>
              <a:buFont typeface="Arial"/>
              <a:buChar char="•"/>
            </a:pPr>
            <a:r>
              <a:rPr sz="1300" b="0" i="0">
                <a:solidFill>
                  <a:srgbClr val="262626"/>
                </a:solidFill>
                <a:latin typeface="Abadi"/>
              </a:rPr>
              <a:t>User clustering (PCA + K-means) reaches the most learners, and User profile + genres spreads recommendations over the widest part of the catalogue.</a:t>
            </a:r>
          </a:p>
          <a:p>
            <a:pPr algn="l" marL="201168" indent="-201168">
              <a:spcAft>
                <a:spcPts val="500"/>
              </a:spcAft>
              <a:buClr>
                <a:srgbClr val="2A78D6"/>
              </a:buClr>
              <a:buFont typeface="Arial"/>
              <a:buChar char="•"/>
            </a:pPr>
            <a:r>
              <a:rPr sz="1300" b="0" i="0">
                <a:solidFill>
                  <a:srgbClr val="262626"/>
                </a:solidFill>
                <a:latin typeface="Abadi"/>
              </a:rPr>
              <a:t>Clustering recommends what is already popular in a learner's group, so it reinforces the popularity bias seen in the EDA; similarity and profile methods expose more long-tail courses.</a:t>
            </a:r>
          </a:p>
          <a:p>
            <a:pPr algn="l" marL="201168" indent="-201168">
              <a:spcAft>
                <a:spcPts val="500"/>
              </a:spcAft>
              <a:buClr>
                <a:srgbClr val="2A78D6"/>
              </a:buClr>
              <a:buFont typeface="Arial"/>
              <a:buChar char="•"/>
            </a:pPr>
            <a:r>
              <a:rPr sz="1300" b="0" i="0">
                <a:solidFill>
                  <a:srgbClr val="262626"/>
                </a:solidFill>
                <a:latin typeface="Abadi"/>
              </a:rPr>
              <a:t>Only 2 courses appear in more than one top-10 list, so the methods are complementary: a hybrid (e.g. profile score re-ranked by similarity) is a natural next step.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Embedding features: regression and classification results</a:t>
            </a:r>
          </a:p>
        </p:txBody>
      </p:sp>
      <p:sp>
        <p:nvSpPr>
          <p:cNvPr id="5" name="TextBox 4"/>
          <p:cNvSpPr txBox="1"/>
          <p:nvPr/>
        </p:nvSpPr>
        <p:spPr>
          <a:xfrm>
            <a:off x="841248" y="1783080"/>
            <a:ext cx="5074920" cy="365760"/>
          </a:xfrm>
          <a:prstGeom prst="rect">
            <a:avLst/>
          </a:prstGeom>
          <a:noFill/>
        </p:spPr>
        <p:txBody>
          <a:bodyPr wrap="square" anchor="t" lIns="0" rIns="0" tIns="0" bIns="0">
            <a:spAutoFit/>
          </a:bodyPr>
          <a:lstStyle/>
          <a:p>
            <a:pPr algn="l">
              <a:spcAft>
                <a:spcPts val="0"/>
              </a:spcAft>
            </a:pPr>
            <a:r>
              <a:rPr sz="1500" b="1" i="0">
                <a:solidFill>
                  <a:srgbClr val="0B49CB"/>
                </a:solidFill>
                <a:latin typeface="Abadi"/>
              </a:rPr>
              <a:t>Regression: predict the rating score</a:t>
            </a:r>
          </a:p>
        </p:txBody>
      </p:sp>
      <p:graphicFrame>
        <p:nvGraphicFramePr>
          <p:cNvPr id="6" name="Table 5"/>
          <p:cNvGraphicFramePr>
            <a:graphicFrameLocks noGrp="1"/>
          </p:cNvGraphicFramePr>
          <p:nvPr/>
        </p:nvGraphicFramePr>
        <p:xfrm>
          <a:off x="841248" y="2194560"/>
          <a:ext cx="5074920" cy="2304288"/>
        </p:xfrm>
        <a:graphic>
          <a:graphicData uri="http://schemas.openxmlformats.org/drawingml/2006/table">
            <a:tbl>
              <a:tblPr firstRow="1" bandRow="0">
                <a:tableStyleId>{2D5ABB26-0587-4C30-8999-92F81FD0307C}</a:tableStyleId>
              </a:tblPr>
              <a:tblGrid>
                <a:gridCol w="1965960"/>
                <a:gridCol w="2057400"/>
                <a:gridCol w="1051560"/>
              </a:tblGrid>
              <a:tr h="329184">
                <a:tc>
                  <a:txBody>
                    <a:bodyPr wrap="square"/>
                    <a:lstStyle/>
                    <a:p>
                      <a:pPr algn="l">
                        <a:spcAft>
                          <a:spcPts val="0"/>
                        </a:spcAft>
                      </a:pPr>
                      <a:r>
                        <a:rPr sz="1050" b="1" i="0">
                          <a:solidFill>
                            <a:srgbClr val="FFFFFF"/>
                          </a:solidFill>
                          <a:latin typeface="Abadi"/>
                        </a:rPr>
                        <a:t>Model</a:t>
                      </a:r>
                    </a:p>
                  </a:txBody>
                  <a:tcPr marL="73152" marR="73152" marT="18288" marB="18288" anchor="ctr">
                    <a:solidFill>
                      <a:srgbClr val="0B49CB"/>
                    </a:solidFill>
                  </a:tcPr>
                </a:tc>
                <a:tc>
                  <a:txBody>
                    <a:bodyPr wrap="square"/>
                    <a:lstStyle/>
                    <a:p>
                      <a:pPr algn="l">
                        <a:spcAft>
                          <a:spcPts val="0"/>
                        </a:spcAft>
                      </a:pPr>
                      <a:r>
                        <a:rPr sz="1050" b="1" i="0">
                          <a:solidFill>
                            <a:srgbClr val="FFFFFF"/>
                          </a:solidFill>
                          <a:latin typeface="Abadi"/>
                        </a:rPr>
                        <a:t>Best hyper-parameters</a:t>
                      </a:r>
                    </a:p>
                  </a:txBody>
                  <a:tcPr marL="73152" marR="73152" marT="18288" marB="18288" anchor="ctr">
                    <a:solidFill>
                      <a:srgbClr val="0B49CB"/>
                    </a:solidFill>
                  </a:tcPr>
                </a:tc>
                <a:tc>
                  <a:txBody>
                    <a:bodyPr wrap="square"/>
                    <a:lstStyle/>
                    <a:p>
                      <a:pPr algn="r">
                        <a:spcAft>
                          <a:spcPts val="0"/>
                        </a:spcAft>
                      </a:pPr>
                      <a:r>
                        <a:rPr sz="1050" b="1" i="0">
                          <a:solidFill>
                            <a:srgbClr val="FFFFFF"/>
                          </a:solidFill>
                          <a:latin typeface="Abadi"/>
                        </a:rPr>
                        <a:t>Test RMSE</a:t>
                      </a:r>
                    </a:p>
                  </a:txBody>
                  <a:tcPr marL="73152" marR="73152" marT="18288" marB="18288" anchor="ctr">
                    <a:solidFill>
                      <a:srgbClr val="0B49CB"/>
                    </a:solidFill>
                  </a:tcPr>
                </a:tc>
              </a:tr>
              <a:tr h="329184">
                <a:tc>
                  <a:txBody>
                    <a:bodyPr wrap="square"/>
                    <a:lstStyle/>
                    <a:p>
                      <a:pPr algn="l">
                        <a:spcAft>
                          <a:spcPts val="0"/>
                        </a:spcAft>
                      </a:pPr>
                      <a:r>
                        <a:rPr sz="1050" b="0" i="0">
                          <a:solidFill>
                            <a:srgbClr val="262626"/>
                          </a:solidFill>
                          <a:latin typeface="Abadi"/>
                        </a:rPr>
                        <a:t>Lasso</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050" b="0" i="0">
                          <a:solidFill>
                            <a:srgbClr val="262626"/>
                          </a:solidFill>
                          <a:latin typeface="Abadi"/>
                        </a:rPr>
                        <a:t>alpha: 0.001</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0.8138</a:t>
                      </a:r>
                    </a:p>
                  </a:txBody>
                  <a:tcPr marL="73152" marR="73152" marT="18288" marB="18288" anchor="ctr">
                    <a:lnL w="0">
                      <a:noFill/>
                    </a:lnL>
                    <a:lnR w="0">
                      <a:noFill/>
                    </a:lnR>
                    <a:lnT w="0">
                      <a:noFill/>
                    </a:lnT>
                    <a:lnB w="9525">
                      <a:solidFill>
                        <a:srgbClr val="E1E0D9"/>
                      </a:solidFill>
                    </a:lnB>
                    <a:solidFill>
                      <a:srgbClr val="FFFFFF"/>
                    </a:solidFill>
                  </a:tcPr>
                </a:tc>
              </a:tr>
              <a:tr h="329184">
                <a:tc>
                  <a:txBody>
                    <a:bodyPr wrap="square"/>
                    <a:lstStyle/>
                    <a:p>
                      <a:pPr algn="l">
                        <a:spcAft>
                          <a:spcPts val="0"/>
                        </a:spcAft>
                      </a:pPr>
                      <a:r>
                        <a:rPr sz="1050" b="0" i="0">
                          <a:solidFill>
                            <a:srgbClr val="262626"/>
                          </a:solidFill>
                          <a:latin typeface="Abadi"/>
                        </a:rPr>
                        <a:t>ElasticNet</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050" b="0" i="0">
                          <a:solidFill>
                            <a:srgbClr val="262626"/>
                          </a:solidFill>
                          <a:latin typeface="Abadi"/>
                        </a:rPr>
                        <a:t>alpha: 0.001, l1_ratio: 0.5</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0.8138</a:t>
                      </a:r>
                    </a:p>
                  </a:txBody>
                  <a:tcPr marL="73152" marR="73152" marT="18288" marB="18288" anchor="ctr">
                    <a:lnL w="0">
                      <a:noFill/>
                    </a:lnL>
                    <a:lnR w="0">
                      <a:noFill/>
                    </a:lnR>
                    <a:lnT w="0">
                      <a:noFill/>
                    </a:lnT>
                    <a:lnB w="9525">
                      <a:solidFill>
                        <a:srgbClr val="E1E0D9"/>
                      </a:solidFill>
                    </a:lnB>
                    <a:solidFill>
                      <a:srgbClr val="F4F4F1"/>
                    </a:solidFill>
                  </a:tcPr>
                </a:tc>
              </a:tr>
              <a:tr h="329184">
                <a:tc>
                  <a:txBody>
                    <a:bodyPr wrap="square"/>
                    <a:lstStyle/>
                    <a:p>
                      <a:pPr algn="l">
                        <a:spcAft>
                          <a:spcPts val="0"/>
                        </a:spcAft>
                      </a:pPr>
                      <a:r>
                        <a:rPr sz="1050" b="0" i="0">
                          <a:solidFill>
                            <a:srgbClr val="262626"/>
                          </a:solidFill>
                          <a:latin typeface="Abadi"/>
                        </a:rPr>
                        <a:t>Global-mean baseline</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050" b="0" i="0">
                          <a:solidFill>
                            <a:srgbClr val="262626"/>
                          </a:solidFill>
                          <a:latin typeface="Abadi"/>
                        </a:rPr>
                        <a:t>-</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0.8138</a:t>
                      </a:r>
                    </a:p>
                  </a:txBody>
                  <a:tcPr marL="73152" marR="73152" marT="18288" marB="18288" anchor="ctr">
                    <a:lnL w="0">
                      <a:noFill/>
                    </a:lnL>
                    <a:lnR w="0">
                      <a:noFill/>
                    </a:lnR>
                    <a:lnT w="0">
                      <a:noFill/>
                    </a:lnT>
                    <a:lnB w="9525">
                      <a:solidFill>
                        <a:srgbClr val="E1E0D9"/>
                      </a:solidFill>
                    </a:lnB>
                    <a:solidFill>
                      <a:srgbClr val="FFFFFF"/>
                    </a:solidFill>
                  </a:tcPr>
                </a:tc>
              </a:tr>
              <a:tr h="329184">
                <a:tc>
                  <a:txBody>
                    <a:bodyPr wrap="square"/>
                    <a:lstStyle/>
                    <a:p>
                      <a:pPr algn="l">
                        <a:spcAft>
                          <a:spcPts val="0"/>
                        </a:spcAft>
                      </a:pPr>
                      <a:r>
                        <a:rPr sz="1050" b="0" i="0">
                          <a:solidFill>
                            <a:srgbClr val="262626"/>
                          </a:solidFill>
                          <a:latin typeface="Abadi"/>
                        </a:rPr>
                        <a:t>Ridge</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050" b="0" i="0">
                          <a:solidFill>
                            <a:srgbClr val="262626"/>
                          </a:solidFill>
                          <a:latin typeface="Abadi"/>
                        </a:rPr>
                        <a:t>alpha: 100</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0.8138</a:t>
                      </a:r>
                    </a:p>
                  </a:txBody>
                  <a:tcPr marL="73152" marR="73152" marT="18288" marB="18288" anchor="ctr">
                    <a:lnL w="0">
                      <a:noFill/>
                    </a:lnL>
                    <a:lnR w="0">
                      <a:noFill/>
                    </a:lnR>
                    <a:lnT w="0">
                      <a:noFill/>
                    </a:lnT>
                    <a:lnB w="9525">
                      <a:solidFill>
                        <a:srgbClr val="E1E0D9"/>
                      </a:solidFill>
                    </a:lnB>
                    <a:solidFill>
                      <a:srgbClr val="F4F4F1"/>
                    </a:solidFill>
                  </a:tcPr>
                </a:tc>
              </a:tr>
              <a:tr h="329184">
                <a:tc>
                  <a:txBody>
                    <a:bodyPr wrap="square"/>
                    <a:lstStyle/>
                    <a:p>
                      <a:pPr algn="l">
                        <a:spcAft>
                          <a:spcPts val="0"/>
                        </a:spcAft>
                      </a:pPr>
                      <a:r>
                        <a:rPr sz="1050" b="0" i="0">
                          <a:solidFill>
                            <a:srgbClr val="262626"/>
                          </a:solidFill>
                          <a:latin typeface="Abadi"/>
                        </a:rPr>
                        <a:t>LinearRegression</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l">
                        <a:spcAft>
                          <a:spcPts val="0"/>
                        </a:spcAft>
                      </a:pPr>
                      <a:r>
                        <a:rPr sz="1050" b="0" i="0">
                          <a:solidFill>
                            <a:srgbClr val="262626"/>
                          </a:solidFill>
                          <a:latin typeface="Abadi"/>
                        </a:rPr>
                        <a:t>-</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0.8138</a:t>
                      </a:r>
                    </a:p>
                  </a:txBody>
                  <a:tcPr marL="73152" marR="73152" marT="18288" marB="18288" anchor="ctr">
                    <a:lnL w="0">
                      <a:noFill/>
                    </a:lnL>
                    <a:lnR w="0">
                      <a:noFill/>
                    </a:lnR>
                    <a:lnT w="0">
                      <a:noFill/>
                    </a:lnT>
                    <a:lnB w="9525">
                      <a:solidFill>
                        <a:srgbClr val="E1E0D9"/>
                      </a:solidFill>
                    </a:lnB>
                    <a:solidFill>
                      <a:srgbClr val="FFFFFF"/>
                    </a:solidFill>
                  </a:tcPr>
                </a:tc>
              </a:tr>
              <a:tr h="329184">
                <a:tc>
                  <a:txBody>
                    <a:bodyPr wrap="square"/>
                    <a:lstStyle/>
                    <a:p>
                      <a:pPr algn="l">
                        <a:spcAft>
                          <a:spcPts val="0"/>
                        </a:spcAft>
                      </a:pPr>
                      <a:r>
                        <a:rPr sz="1050" b="0" i="0">
                          <a:solidFill>
                            <a:srgbClr val="262626"/>
                          </a:solidFill>
                          <a:latin typeface="Abadi"/>
                        </a:rPr>
                        <a:t>HistGradientBoosting</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l">
                        <a:spcAft>
                          <a:spcPts val="0"/>
                        </a:spcAft>
                      </a:pPr>
                      <a:r>
                        <a:rPr sz="1050" b="0" i="0">
                          <a:solidFill>
                            <a:srgbClr val="262626"/>
                          </a:solidFill>
                          <a:latin typeface="Abadi"/>
                        </a:rPr>
                        <a:t>learning_rate: 0.05, max_depth: 3</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0.8138</a:t>
                      </a:r>
                    </a:p>
                  </a:txBody>
                  <a:tcPr marL="73152" marR="73152" marT="18288" marB="18288" anchor="ctr">
                    <a:lnL w="0">
                      <a:noFill/>
                    </a:lnL>
                    <a:lnR w="0">
                      <a:noFill/>
                    </a:lnR>
                    <a:lnT w="0">
                      <a:noFill/>
                    </a:lnT>
                    <a:lnB w="9525">
                      <a:solidFill>
                        <a:srgbClr val="E1E0D9"/>
                      </a:solidFill>
                    </a:lnB>
                    <a:solidFill>
                      <a:srgbClr val="F4F4F1"/>
                    </a:solidFill>
                  </a:tcPr>
                </a:tc>
              </a:tr>
            </a:tbl>
          </a:graphicData>
        </a:graphic>
      </p:graphicFrame>
      <p:sp>
        <p:nvSpPr>
          <p:cNvPr id="7" name="TextBox 6"/>
          <p:cNvSpPr txBox="1"/>
          <p:nvPr/>
        </p:nvSpPr>
        <p:spPr>
          <a:xfrm>
            <a:off x="6281928" y="1783080"/>
            <a:ext cx="5074920" cy="365760"/>
          </a:xfrm>
          <a:prstGeom prst="rect">
            <a:avLst/>
          </a:prstGeom>
          <a:noFill/>
        </p:spPr>
        <p:txBody>
          <a:bodyPr wrap="square" anchor="t" lIns="0" rIns="0" tIns="0" bIns="0">
            <a:spAutoFit/>
          </a:bodyPr>
          <a:lstStyle/>
          <a:p>
            <a:pPr algn="l">
              <a:spcAft>
                <a:spcPts val="0"/>
              </a:spcAft>
            </a:pPr>
            <a:r>
              <a:rPr sz="1500" b="1" i="0">
                <a:solidFill>
                  <a:srgbClr val="0B49CB"/>
                </a:solidFill>
                <a:latin typeface="Abadi"/>
              </a:rPr>
              <a:t>Classification: predict the rating class (3 / 4 / 5)</a:t>
            </a:r>
          </a:p>
        </p:txBody>
      </p:sp>
      <p:graphicFrame>
        <p:nvGraphicFramePr>
          <p:cNvPr id="8" name="Table 7"/>
          <p:cNvGraphicFramePr>
            <a:graphicFrameLocks noGrp="1"/>
          </p:cNvGraphicFramePr>
          <p:nvPr/>
        </p:nvGraphicFramePr>
        <p:xfrm>
          <a:off x="6281928" y="2194560"/>
          <a:ext cx="5074920" cy="2633472"/>
        </p:xfrm>
        <a:graphic>
          <a:graphicData uri="http://schemas.openxmlformats.org/drawingml/2006/table">
            <a:tbl>
              <a:tblPr firstRow="1" bandRow="0">
                <a:tableStyleId>{2D5ABB26-0587-4C30-8999-92F81FD0307C}</a:tableStyleId>
              </a:tblPr>
              <a:tblGrid>
                <a:gridCol w="2240280"/>
                <a:gridCol w="914400"/>
                <a:gridCol w="914400"/>
                <a:gridCol w="1005840"/>
              </a:tblGrid>
              <a:tr h="329184">
                <a:tc>
                  <a:txBody>
                    <a:bodyPr wrap="square"/>
                    <a:lstStyle/>
                    <a:p>
                      <a:pPr algn="l">
                        <a:spcAft>
                          <a:spcPts val="0"/>
                        </a:spcAft>
                      </a:pPr>
                      <a:r>
                        <a:rPr sz="1050" b="1" i="0">
                          <a:solidFill>
                            <a:srgbClr val="FFFFFF"/>
                          </a:solidFill>
                          <a:latin typeface="Abadi"/>
                        </a:rPr>
                        <a:t>Model</a:t>
                      </a:r>
                    </a:p>
                  </a:txBody>
                  <a:tcPr marL="73152" marR="73152" marT="18288" marB="18288" anchor="ctr">
                    <a:solidFill>
                      <a:srgbClr val="0B49CB"/>
                    </a:solidFill>
                  </a:tcPr>
                </a:tc>
                <a:tc>
                  <a:txBody>
                    <a:bodyPr wrap="square"/>
                    <a:lstStyle/>
                    <a:p>
                      <a:pPr algn="r">
                        <a:spcAft>
                          <a:spcPts val="0"/>
                        </a:spcAft>
                      </a:pPr>
                      <a:r>
                        <a:rPr sz="1050" b="1" i="0">
                          <a:solidFill>
                            <a:srgbClr val="FFFFFF"/>
                          </a:solidFill>
                          <a:latin typeface="Abadi"/>
                        </a:rPr>
                        <a:t>Accuracy</a:t>
                      </a:r>
                    </a:p>
                  </a:txBody>
                  <a:tcPr marL="73152" marR="73152" marT="18288" marB="18288" anchor="ctr">
                    <a:solidFill>
                      <a:srgbClr val="0B49CB"/>
                    </a:solidFill>
                  </a:tcPr>
                </a:tc>
                <a:tc>
                  <a:txBody>
                    <a:bodyPr wrap="square"/>
                    <a:lstStyle/>
                    <a:p>
                      <a:pPr algn="r">
                        <a:spcAft>
                          <a:spcPts val="0"/>
                        </a:spcAft>
                      </a:pPr>
                      <a:r>
                        <a:rPr sz="1050" b="1" i="0">
                          <a:solidFill>
                            <a:srgbClr val="FFFFFF"/>
                          </a:solidFill>
                          <a:latin typeface="Abadi"/>
                        </a:rPr>
                        <a:t>Macro F1</a:t>
                      </a:r>
                    </a:p>
                  </a:txBody>
                  <a:tcPr marL="73152" marR="73152" marT="18288" marB="18288" anchor="ctr">
                    <a:solidFill>
                      <a:srgbClr val="0B49CB"/>
                    </a:solidFill>
                  </a:tcPr>
                </a:tc>
                <a:tc>
                  <a:txBody>
                    <a:bodyPr wrap="square"/>
                    <a:lstStyle/>
                    <a:p>
                      <a:pPr algn="r">
                        <a:spcAft>
                          <a:spcPts val="0"/>
                        </a:spcAft>
                      </a:pPr>
                      <a:r>
                        <a:rPr sz="1050" b="1" i="0">
                          <a:solidFill>
                            <a:srgbClr val="FFFFFF"/>
                          </a:solidFill>
                          <a:latin typeface="Abadi"/>
                        </a:rPr>
                        <a:t>AUC (OvR)</a:t>
                      </a:r>
                    </a:p>
                  </a:txBody>
                  <a:tcPr marL="73152" marR="73152" marT="18288" marB="18288" anchor="ctr">
                    <a:solidFill>
                      <a:srgbClr val="0B49CB"/>
                    </a:solidFill>
                  </a:tcPr>
                </a:tc>
              </a:tr>
              <a:tr h="329184">
                <a:tc>
                  <a:txBody>
                    <a:bodyPr wrap="square"/>
                    <a:lstStyle/>
                    <a:p>
                      <a:pPr algn="l">
                        <a:spcAft>
                          <a:spcPts val="0"/>
                        </a:spcAft>
                      </a:pPr>
                      <a:r>
                        <a:rPr sz="1050" b="0" i="0">
                          <a:solidFill>
                            <a:srgbClr val="262626"/>
                          </a:solidFill>
                          <a:latin typeface="Abadi"/>
                        </a:rPr>
                        <a:t>Bagging (trees)</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0.336</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0.332</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0.500</a:t>
                      </a:r>
                    </a:p>
                  </a:txBody>
                  <a:tcPr marL="73152" marR="73152" marT="18288" marB="18288" anchor="ctr">
                    <a:lnL w="0">
                      <a:noFill/>
                    </a:lnL>
                    <a:lnR w="0">
                      <a:noFill/>
                    </a:lnR>
                    <a:lnT w="0">
                      <a:noFill/>
                    </a:lnT>
                    <a:lnB w="9525">
                      <a:solidFill>
                        <a:srgbClr val="E1E0D9"/>
                      </a:solidFill>
                    </a:lnB>
                    <a:solidFill>
                      <a:srgbClr val="FFFFFF"/>
                    </a:solidFill>
                  </a:tcPr>
                </a:tc>
              </a:tr>
              <a:tr h="329184">
                <a:tc>
                  <a:txBody>
                    <a:bodyPr wrap="square"/>
                    <a:lstStyle/>
                    <a:p>
                      <a:pPr algn="l">
                        <a:spcAft>
                          <a:spcPts val="0"/>
                        </a:spcAft>
                      </a:pPr>
                      <a:r>
                        <a:rPr sz="1050" b="0" i="0">
                          <a:solidFill>
                            <a:srgbClr val="262626"/>
                          </a:solidFill>
                          <a:latin typeface="Abadi"/>
                        </a:rPr>
                        <a:t>Logistic Regression</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0.335</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0.327</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0.500</a:t>
                      </a:r>
                    </a:p>
                  </a:txBody>
                  <a:tcPr marL="73152" marR="73152" marT="18288" marB="18288" anchor="ctr">
                    <a:lnL w="0">
                      <a:noFill/>
                    </a:lnL>
                    <a:lnR w="0">
                      <a:noFill/>
                    </a:lnR>
                    <a:lnT w="0">
                      <a:noFill/>
                    </a:lnT>
                    <a:lnB w="9525">
                      <a:solidFill>
                        <a:srgbClr val="E1E0D9"/>
                      </a:solidFill>
                    </a:lnB>
                    <a:solidFill>
                      <a:srgbClr val="F4F4F1"/>
                    </a:solidFill>
                  </a:tcPr>
                </a:tc>
              </a:tr>
              <a:tr h="329184">
                <a:tc>
                  <a:txBody>
                    <a:bodyPr wrap="square"/>
                    <a:lstStyle/>
                    <a:p>
                      <a:pPr algn="l">
                        <a:spcAft>
                          <a:spcPts val="0"/>
                        </a:spcAft>
                      </a:pPr>
                      <a:r>
                        <a:rPr sz="1050" b="0" i="0">
                          <a:solidFill>
                            <a:srgbClr val="262626"/>
                          </a:solidFill>
                          <a:latin typeface="Abadi"/>
                        </a:rPr>
                        <a:t>Linear SVM</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0.335</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0.327</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a:t>
                      </a:r>
                    </a:p>
                  </a:txBody>
                  <a:tcPr marL="73152" marR="73152" marT="18288" marB="18288" anchor="ctr">
                    <a:lnL w="0">
                      <a:noFill/>
                    </a:lnL>
                    <a:lnR w="0">
                      <a:noFill/>
                    </a:lnR>
                    <a:lnT w="0">
                      <a:noFill/>
                    </a:lnT>
                    <a:lnB w="9525">
                      <a:solidFill>
                        <a:srgbClr val="E1E0D9"/>
                      </a:solidFill>
                    </a:lnB>
                    <a:solidFill>
                      <a:srgbClr val="FFFFFF"/>
                    </a:solidFill>
                  </a:tcPr>
                </a:tc>
              </a:tr>
              <a:tr h="329184">
                <a:tc>
                  <a:txBody>
                    <a:bodyPr wrap="square"/>
                    <a:lstStyle/>
                    <a:p>
                      <a:pPr algn="l">
                        <a:spcAft>
                          <a:spcPts val="0"/>
                        </a:spcAft>
                      </a:pPr>
                      <a:r>
                        <a:rPr sz="1050" b="0" i="0">
                          <a:solidFill>
                            <a:srgbClr val="262626"/>
                          </a:solidFill>
                          <a:latin typeface="Abadi"/>
                        </a:rPr>
                        <a:t>Gradient Boosting</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0.333</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0.326</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0.499</a:t>
                      </a:r>
                    </a:p>
                  </a:txBody>
                  <a:tcPr marL="73152" marR="73152" marT="18288" marB="18288" anchor="ctr">
                    <a:lnL w="0">
                      <a:noFill/>
                    </a:lnL>
                    <a:lnR w="0">
                      <a:noFill/>
                    </a:lnR>
                    <a:lnT w="0">
                      <a:noFill/>
                    </a:lnT>
                    <a:lnB w="9525">
                      <a:solidFill>
                        <a:srgbClr val="E1E0D9"/>
                      </a:solidFill>
                    </a:lnB>
                    <a:solidFill>
                      <a:srgbClr val="F4F4F1"/>
                    </a:solidFill>
                  </a:tcPr>
                </a:tc>
              </a:tr>
              <a:tr h="329184">
                <a:tc>
                  <a:txBody>
                    <a:bodyPr wrap="square"/>
                    <a:lstStyle/>
                    <a:p>
                      <a:pPr algn="l">
                        <a:spcAft>
                          <a:spcPts val="0"/>
                        </a:spcAft>
                      </a:pPr>
                      <a:r>
                        <a:rPr sz="1050" b="0" i="0">
                          <a:solidFill>
                            <a:srgbClr val="262626"/>
                          </a:solidFill>
                          <a:latin typeface="Abadi"/>
                        </a:rPr>
                        <a:t>Random Forest</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0.335</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0.324</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0.503</a:t>
                      </a:r>
                    </a:p>
                  </a:txBody>
                  <a:tcPr marL="73152" marR="73152" marT="18288" marB="18288" anchor="ctr">
                    <a:lnL w="0">
                      <a:noFill/>
                    </a:lnL>
                    <a:lnR w="0">
                      <a:noFill/>
                    </a:lnR>
                    <a:lnT w="0">
                      <a:noFill/>
                    </a:lnT>
                    <a:lnB w="9525">
                      <a:solidFill>
                        <a:srgbClr val="E1E0D9"/>
                      </a:solidFill>
                    </a:lnB>
                    <a:solidFill>
                      <a:srgbClr val="FFFFFF"/>
                    </a:solidFill>
                  </a:tcPr>
                </a:tc>
              </a:tr>
              <a:tr h="329184">
                <a:tc>
                  <a:txBody>
                    <a:bodyPr wrap="square"/>
                    <a:lstStyle/>
                    <a:p>
                      <a:pPr algn="l">
                        <a:spcAft>
                          <a:spcPts val="0"/>
                        </a:spcAft>
                      </a:pPr>
                      <a:r>
                        <a:rPr sz="1050" b="0" i="0">
                          <a:solidFill>
                            <a:srgbClr val="262626"/>
                          </a:solidFill>
                          <a:latin typeface="Abadi"/>
                        </a:rPr>
                        <a:t>Decision Tree</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0.330</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0.215</a:t>
                      </a:r>
                    </a:p>
                  </a:txBody>
                  <a:tcPr marL="73152" marR="73152" marT="18288" marB="18288" anchor="ctr">
                    <a:lnL w="0">
                      <a:noFill/>
                    </a:lnL>
                    <a:lnR w="0">
                      <a:noFill/>
                    </a:lnR>
                    <a:lnT w="0">
                      <a:noFill/>
                    </a:lnT>
                    <a:lnB w="9525">
                      <a:solidFill>
                        <a:srgbClr val="E1E0D9"/>
                      </a:solidFill>
                    </a:lnB>
                    <a:solidFill>
                      <a:srgbClr val="F4F4F1"/>
                    </a:solidFill>
                  </a:tcPr>
                </a:tc>
                <a:tc>
                  <a:txBody>
                    <a:bodyPr wrap="square"/>
                    <a:lstStyle/>
                    <a:p>
                      <a:pPr algn="r">
                        <a:spcAft>
                          <a:spcPts val="0"/>
                        </a:spcAft>
                      </a:pPr>
                      <a:r>
                        <a:rPr sz="1050" b="0" i="0">
                          <a:solidFill>
                            <a:srgbClr val="262626"/>
                          </a:solidFill>
                          <a:latin typeface="Abadi"/>
                        </a:rPr>
                        <a:t>0.500</a:t>
                      </a:r>
                    </a:p>
                  </a:txBody>
                  <a:tcPr marL="73152" marR="73152" marT="18288" marB="18288" anchor="ctr">
                    <a:lnL w="0">
                      <a:noFill/>
                    </a:lnL>
                    <a:lnR w="0">
                      <a:noFill/>
                    </a:lnR>
                    <a:lnT w="0">
                      <a:noFill/>
                    </a:lnT>
                    <a:lnB w="9525">
                      <a:solidFill>
                        <a:srgbClr val="E1E0D9"/>
                      </a:solidFill>
                    </a:lnB>
                    <a:solidFill>
                      <a:srgbClr val="F4F4F1"/>
                    </a:solidFill>
                  </a:tcPr>
                </a:tc>
              </a:tr>
              <a:tr h="329184">
                <a:tc>
                  <a:txBody>
                    <a:bodyPr wrap="square"/>
                    <a:lstStyle/>
                    <a:p>
                      <a:pPr algn="l">
                        <a:spcAft>
                          <a:spcPts val="0"/>
                        </a:spcAft>
                      </a:pPr>
                      <a:r>
                        <a:rPr sz="1050" b="0" i="0">
                          <a:solidFill>
                            <a:srgbClr val="262626"/>
                          </a:solidFill>
                          <a:latin typeface="Abadi"/>
                        </a:rPr>
                        <a:t>Majority-class baseline</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0.329</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0.165</a:t>
                      </a:r>
                    </a:p>
                  </a:txBody>
                  <a:tcPr marL="73152" marR="73152" marT="18288" marB="18288" anchor="ctr">
                    <a:lnL w="0">
                      <a:noFill/>
                    </a:lnL>
                    <a:lnR w="0">
                      <a:noFill/>
                    </a:lnR>
                    <a:lnT w="0">
                      <a:noFill/>
                    </a:lnT>
                    <a:lnB w="9525">
                      <a:solidFill>
                        <a:srgbClr val="E1E0D9"/>
                      </a:solidFill>
                    </a:lnB>
                    <a:solidFill>
                      <a:srgbClr val="FFFFFF"/>
                    </a:solidFill>
                  </a:tcPr>
                </a:tc>
                <a:tc>
                  <a:txBody>
                    <a:bodyPr wrap="square"/>
                    <a:lstStyle/>
                    <a:p>
                      <a:pPr algn="r">
                        <a:spcAft>
                          <a:spcPts val="0"/>
                        </a:spcAft>
                      </a:pPr>
                      <a:r>
                        <a:rPr sz="1050" b="0" i="0">
                          <a:solidFill>
                            <a:srgbClr val="262626"/>
                          </a:solidFill>
                          <a:latin typeface="Abadi"/>
                        </a:rPr>
                        <a:t>0.500</a:t>
                      </a:r>
                    </a:p>
                  </a:txBody>
                  <a:tcPr marL="73152" marR="73152" marT="18288" marB="18288" anchor="ctr">
                    <a:lnL w="0">
                      <a:noFill/>
                    </a:lnL>
                    <a:lnR w="0">
                      <a:noFill/>
                    </a:lnR>
                    <a:lnT w="0">
                      <a:noFill/>
                    </a:lnT>
                    <a:lnB w="9525">
                      <a:solidFill>
                        <a:srgbClr val="E1E0D9"/>
                      </a:solidFill>
                    </a:lnB>
                    <a:solidFill>
                      <a:srgbClr val="FFFFFF"/>
                    </a:solidFill>
                  </a:tcPr>
                </a:tc>
              </a:tr>
            </a:tbl>
          </a:graphicData>
        </a:graphic>
      </p:graphicFrame>
      <p:sp>
        <p:nvSpPr>
          <p:cNvPr id="9" name="Rounded Rectangle 8"/>
          <p:cNvSpPr/>
          <p:nvPr/>
        </p:nvSpPr>
        <p:spPr>
          <a:xfrm>
            <a:off x="841248" y="5010912"/>
            <a:ext cx="10515600" cy="1325880"/>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69848" y="5074920"/>
            <a:ext cx="10058400" cy="1234440"/>
          </a:xfrm>
          <a:prstGeom prst="rect">
            <a:avLst/>
          </a:prstGeom>
          <a:noFill/>
        </p:spPr>
        <p:txBody>
          <a:bodyPr wrap="square" anchor="t" lIns="0" rIns="0" tIns="0" bIns="0">
            <a:spAutoFit/>
          </a:bodyPr>
          <a:lstStyle/>
          <a:p>
            <a:pPr algn="l" marL="201168" indent="-201168">
              <a:spcAft>
                <a:spcPts val="400"/>
              </a:spcAft>
              <a:buClr>
                <a:srgbClr val="2A78D6"/>
              </a:buClr>
              <a:buFont typeface="Arial"/>
              <a:buChar char="•"/>
            </a:pPr>
            <a:r>
              <a:rPr sz="1250" b="0" i="0">
                <a:solidFill>
                  <a:srgbClr val="262626"/>
                </a:solidFill>
                <a:latin typeface="Abadi"/>
              </a:rPr>
              <a:t>Input X = user embedding + course embedding (element-wise sum, 16 features) for every rating of ratings.csv; label y = rating score / class.</a:t>
            </a:r>
          </a:p>
          <a:p>
            <a:pPr algn="l" marL="201168" indent="-201168">
              <a:spcAft>
                <a:spcPts val="400"/>
              </a:spcAft>
              <a:buClr>
                <a:srgbClr val="2A78D6"/>
              </a:buClr>
              <a:buFont typeface="Arial"/>
              <a:buChar char="•"/>
            </a:pPr>
            <a:r>
              <a:rPr sz="1250" b="0" i="0">
                <a:solidFill>
                  <a:srgbClr val="262626"/>
                </a:solidFill>
                <a:latin typeface="Abadi"/>
              </a:rPr>
              <a:t>Best regressor: Lasso (RMSE 0.8138 vs 0.8138 for the global mean); best classifier: Bagging (trees) (accuracy 0.336 vs 0.329 for the majority class, macro F1 0.332).</a:t>
            </a:r>
          </a:p>
          <a:p>
            <a:pPr algn="l" marL="201168" indent="-201168">
              <a:spcAft>
                <a:spcPts val="400"/>
              </a:spcAft>
              <a:buClr>
                <a:srgbClr val="2A78D6"/>
              </a:buClr>
              <a:buFont typeface="Arial"/>
              <a:buChar char="•"/>
            </a:pPr>
            <a:r>
              <a:rPr sz="1250" b="0" i="0">
                <a:solidFill>
                  <a:srgbClr val="262626"/>
                </a:solidFill>
                <a:latin typeface="Abadi"/>
              </a:rPr>
              <a:t>Every regressor matches the global mean and every classifier sits at chance (AUC about 0.50): the 3/4/5 ratings of ratings.csv are random, so there is no signal to learn (see findings).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Appendix: hyper-parameter tuning</a:t>
            </a:r>
          </a:p>
        </p:txBody>
      </p:sp>
      <p:sp>
        <p:nvSpPr>
          <p:cNvPr id="5" name="TextBox 4"/>
          <p:cNvSpPr txBox="1"/>
          <p:nvPr/>
        </p:nvSpPr>
        <p:spPr>
          <a:xfrm>
            <a:off x="841248" y="1691640"/>
            <a:ext cx="5074920" cy="274320"/>
          </a:xfrm>
          <a:prstGeom prst="rect">
            <a:avLst/>
          </a:prstGeom>
          <a:noFill/>
        </p:spPr>
        <p:txBody>
          <a:bodyPr wrap="square" anchor="t" lIns="0" rIns="0" tIns="0" bIns="0">
            <a:spAutoFit/>
          </a:bodyPr>
          <a:lstStyle/>
          <a:p>
            <a:pPr algn="l">
              <a:spcAft>
                <a:spcPts val="0"/>
              </a:spcAft>
            </a:pPr>
            <a:r>
              <a:rPr sz="1250" b="1" i="0">
                <a:solidFill>
                  <a:srgbClr val="52514E"/>
                </a:solidFill>
                <a:latin typeface="Abadi"/>
              </a:rPr>
              <a:t>KNN: test RMSE by similarity and k (cosine and MSD overlap)</a:t>
            </a:r>
          </a:p>
        </p:txBody>
      </p:sp>
      <p:graphicFrame>
        <p:nvGraphicFramePr>
          <p:cNvPr id="6" name="Chart 5"/>
          <p:cNvGraphicFramePr>
            <a:graphicFrameLocks noGrp="1"/>
          </p:cNvGraphicFramePr>
          <p:nvPr/>
        </p:nvGraphicFramePr>
        <p:xfrm>
          <a:off x="841248" y="1965960"/>
          <a:ext cx="5074920" cy="1965960"/>
        </p:xfrm>
        <a:graphic>
          <a:graphicData uri="http://schemas.openxmlformats.org/drawingml/2006/chart">
            <c:chart xmlns:c="http://schemas.openxmlformats.org/drawingml/2006/chart" r:id="rId2"/>
          </a:graphicData>
        </a:graphic>
      </p:graphicFrame>
      <p:sp>
        <p:nvSpPr>
          <p:cNvPr id="7" name="TextBox 6"/>
          <p:cNvSpPr txBox="1"/>
          <p:nvPr/>
        </p:nvSpPr>
        <p:spPr>
          <a:xfrm>
            <a:off x="6281928" y="1691640"/>
            <a:ext cx="5074920" cy="274320"/>
          </a:xfrm>
          <a:prstGeom prst="rect">
            <a:avLst/>
          </a:prstGeom>
          <a:noFill/>
        </p:spPr>
        <p:txBody>
          <a:bodyPr wrap="square" anchor="t" lIns="0" rIns="0" tIns="0" bIns="0">
            <a:spAutoFit/>
          </a:bodyPr>
          <a:lstStyle/>
          <a:p>
            <a:pPr algn="l">
              <a:spcAft>
                <a:spcPts val="0"/>
              </a:spcAft>
            </a:pPr>
            <a:r>
              <a:rPr sz="1250" b="1" i="0">
                <a:solidFill>
                  <a:srgbClr val="52514E"/>
                </a:solidFill>
                <a:latin typeface="Abadi"/>
              </a:rPr>
              <a:t>NMF: test RMSE by factors, epochs and initialisation range</a:t>
            </a:r>
          </a:p>
        </p:txBody>
      </p:sp>
      <p:graphicFrame>
        <p:nvGraphicFramePr>
          <p:cNvPr id="8" name="Chart 7"/>
          <p:cNvGraphicFramePr>
            <a:graphicFrameLocks noGrp="1"/>
          </p:cNvGraphicFramePr>
          <p:nvPr/>
        </p:nvGraphicFramePr>
        <p:xfrm>
          <a:off x="6281928" y="1965960"/>
          <a:ext cx="5074920" cy="1965960"/>
        </p:xfrm>
        <a:graphic>
          <a:graphicData uri="http://schemas.openxmlformats.org/drawingml/2006/chart">
            <c:chart xmlns:c="http://schemas.openxmlformats.org/drawingml/2006/chart" r:id="rId3"/>
          </a:graphicData>
        </a:graphic>
      </p:graphicFrame>
      <p:sp>
        <p:nvSpPr>
          <p:cNvPr id="9" name="TextBox 8"/>
          <p:cNvSpPr txBox="1"/>
          <p:nvPr/>
        </p:nvSpPr>
        <p:spPr>
          <a:xfrm>
            <a:off x="841248" y="4114800"/>
            <a:ext cx="5074920" cy="274320"/>
          </a:xfrm>
          <a:prstGeom prst="rect">
            <a:avLst/>
          </a:prstGeom>
          <a:noFill/>
        </p:spPr>
        <p:txBody>
          <a:bodyPr wrap="square" anchor="t" lIns="0" rIns="0" tIns="0" bIns="0">
            <a:spAutoFit/>
          </a:bodyPr>
          <a:lstStyle/>
          <a:p>
            <a:pPr algn="l">
              <a:spcAft>
                <a:spcPts val="0"/>
              </a:spcAft>
            </a:pPr>
            <a:r>
              <a:rPr sz="1250" b="1" i="0">
                <a:solidFill>
                  <a:srgbClr val="52514E"/>
                </a:solidFill>
                <a:latin typeface="Abadi"/>
              </a:rPr>
              <a:t>K-means elbow (k = 8 raw, 8 on PCA)</a:t>
            </a:r>
          </a:p>
        </p:txBody>
      </p:sp>
      <p:graphicFrame>
        <p:nvGraphicFramePr>
          <p:cNvPr id="10" name="Chart 9"/>
          <p:cNvGraphicFramePr>
            <a:graphicFrameLocks noGrp="1"/>
          </p:cNvGraphicFramePr>
          <p:nvPr/>
        </p:nvGraphicFramePr>
        <p:xfrm>
          <a:off x="841248" y="4389120"/>
          <a:ext cx="5074920" cy="1965960"/>
        </p:xfrm>
        <a:graphic>
          <a:graphicData uri="http://schemas.openxmlformats.org/drawingml/2006/chart">
            <c:chart xmlns:c="http://schemas.openxmlformats.org/drawingml/2006/chart" r:id="rId4"/>
          </a:graphicData>
        </a:graphic>
      </p:graphicFrame>
      <p:sp>
        <p:nvSpPr>
          <p:cNvPr id="11" name="TextBox 10"/>
          <p:cNvSpPr txBox="1"/>
          <p:nvPr/>
        </p:nvSpPr>
        <p:spPr>
          <a:xfrm>
            <a:off x="6281928" y="4114800"/>
            <a:ext cx="5074920" cy="274320"/>
          </a:xfrm>
          <a:prstGeom prst="rect">
            <a:avLst/>
          </a:prstGeom>
          <a:noFill/>
        </p:spPr>
        <p:txBody>
          <a:bodyPr wrap="square" anchor="t" lIns="0" rIns="0" tIns="0" bIns="0">
            <a:spAutoFit/>
          </a:bodyPr>
          <a:lstStyle/>
          <a:p>
            <a:pPr algn="l">
              <a:spcAft>
                <a:spcPts val="0"/>
              </a:spcAft>
            </a:pPr>
            <a:r>
              <a:rPr sz="1250" b="1" i="0">
                <a:solidFill>
                  <a:srgbClr val="52514E"/>
                </a:solidFill>
                <a:latin typeface="Abadi"/>
              </a:rPr>
              <a:t>PCA: accumulated explained variance (9 components &gt;= 90%)</a:t>
            </a:r>
          </a:p>
        </p:txBody>
      </p:sp>
      <p:graphicFrame>
        <p:nvGraphicFramePr>
          <p:cNvPr id="12" name="Chart 11"/>
          <p:cNvGraphicFramePr>
            <a:graphicFrameLocks noGrp="1"/>
          </p:cNvGraphicFramePr>
          <p:nvPr/>
        </p:nvGraphicFramePr>
        <p:xfrm>
          <a:off x="6281928" y="4389120"/>
          <a:ext cx="5074920" cy="1965960"/>
        </p:xfrm>
        <a:graphic>
          <a:graphicData uri="http://schemas.openxmlformats.org/drawingml/2006/chart">
            <c:chart xmlns:c="http://schemas.openxmlformats.org/drawingml/2006/chart" r:id="rId5"/>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Appendix: data-quality findings</a:t>
            </a:r>
          </a:p>
        </p:txBody>
      </p:sp>
      <p:sp>
        <p:nvSpPr>
          <p:cNvPr id="5" name="Rounded Rectangle 4"/>
          <p:cNvSpPr/>
          <p:nvPr/>
        </p:nvSpPr>
        <p:spPr>
          <a:xfrm>
            <a:off x="841248" y="1719072"/>
            <a:ext cx="10515600" cy="713232"/>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24128" y="1746504"/>
            <a:ext cx="10149840" cy="658368"/>
          </a:xfrm>
          <a:prstGeom prst="rect">
            <a:avLst/>
          </a:prstGeom>
          <a:noFill/>
        </p:spPr>
        <p:txBody>
          <a:bodyPr wrap="square" anchor="ctr" lIns="0" rIns="0" tIns="0" bIns="0">
            <a:spAutoFit/>
          </a:bodyPr>
          <a:lstStyle/>
          <a:p>
            <a:pPr algn="l">
              <a:spcAft>
                <a:spcPts val="100"/>
              </a:spcAft>
            </a:pPr>
            <a:r>
              <a:rPr sz="1250" b="1" i="0">
                <a:solidFill>
                  <a:srgbClr val="0B49CB"/>
                </a:solidFill>
                <a:latin typeface="Abadi"/>
              </a:rPr>
              <a:t>ratings.csv has random ratings</a:t>
            </a:r>
          </a:p>
          <a:p>
            <a:pPr algn="l">
              <a:spcAft>
                <a:spcPts val="0"/>
              </a:spcAft>
            </a:pPr>
            <a:r>
              <a:rPr sz="1100" b="0" i="0">
                <a:solidFill>
                  <a:srgbClr val="262626"/>
                </a:solidFill>
                <a:latin typeface="Abadi"/>
              </a:rPr>
              <a:t>It holds the same 233,306 (user, course) pairs as the lab-05 file, but its ratings are spread evenly (3: 33.4%, 4: 33.4%, 5: 33.2%) and uncorrelated with the lab-05 ratings (r = -0.003). No model can beat the global mean on it; the benchmark retrains every model on both files.</a:t>
            </a:r>
          </a:p>
        </p:txBody>
      </p:sp>
      <p:sp>
        <p:nvSpPr>
          <p:cNvPr id="7" name="Rounded Rectangle 6"/>
          <p:cNvSpPr/>
          <p:nvPr/>
        </p:nvSpPr>
        <p:spPr>
          <a:xfrm>
            <a:off x="841248" y="2491739"/>
            <a:ext cx="1051560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2519171"/>
            <a:ext cx="10149840" cy="658368"/>
          </a:xfrm>
          <a:prstGeom prst="rect">
            <a:avLst/>
          </a:prstGeom>
          <a:noFill/>
        </p:spPr>
        <p:txBody>
          <a:bodyPr wrap="square" anchor="ctr" lIns="0" rIns="0" tIns="0" bIns="0">
            <a:spAutoFit/>
          </a:bodyPr>
          <a:lstStyle/>
          <a:p>
            <a:pPr algn="l">
              <a:spcAft>
                <a:spcPts val="100"/>
              </a:spcAft>
            </a:pPr>
            <a:r>
              <a:rPr sz="1250" b="1" i="0">
                <a:solidFill>
                  <a:srgbClr val="0B49CB"/>
                </a:solidFill>
                <a:latin typeface="Abadi"/>
              </a:rPr>
              <a:t>Rating scale in the KNN / NMF labs</a:t>
            </a:r>
          </a:p>
          <a:p>
            <a:pPr algn="l">
              <a:spcAft>
                <a:spcPts val="0"/>
              </a:spcAft>
            </a:pPr>
            <a:r>
              <a:rPr sz="1100" b="0" i="0">
                <a:solidFill>
                  <a:srgbClr val="262626"/>
                </a:solidFill>
                <a:latin typeface="Abadi"/>
              </a:rPr>
              <a:t>The labs read ratings.csv with Reader(rating_scale=(2, 3)); Surprise clips predictions to that range, so every estimate would be 3. Fixed to (3, 5).</a:t>
            </a:r>
          </a:p>
        </p:txBody>
      </p:sp>
      <p:sp>
        <p:nvSpPr>
          <p:cNvPr id="9" name="Rounded Rectangle 8"/>
          <p:cNvSpPr/>
          <p:nvPr/>
        </p:nvSpPr>
        <p:spPr>
          <a:xfrm>
            <a:off x="841248" y="3264407"/>
            <a:ext cx="10515600" cy="713232"/>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3291839"/>
            <a:ext cx="10149840" cy="658368"/>
          </a:xfrm>
          <a:prstGeom prst="rect">
            <a:avLst/>
          </a:prstGeom>
          <a:noFill/>
        </p:spPr>
        <p:txBody>
          <a:bodyPr wrap="square" anchor="ctr" lIns="0" rIns="0" tIns="0" bIns="0">
            <a:spAutoFit/>
          </a:bodyPr>
          <a:lstStyle/>
          <a:p>
            <a:pPr algn="l">
              <a:spcAft>
                <a:spcPts val="100"/>
              </a:spcAft>
            </a:pPr>
            <a:r>
              <a:rPr sz="1250" b="1" i="0">
                <a:solidFill>
                  <a:srgbClr val="0B49CB"/>
                </a:solidFill>
                <a:latin typeface="Abadi"/>
              </a:rPr>
              <a:t>NMF initialisation in the lab hint</a:t>
            </a:r>
          </a:p>
          <a:p>
            <a:pPr algn="l">
              <a:spcAft>
                <a:spcPts val="0"/>
              </a:spcAft>
            </a:pPr>
            <a:r>
              <a:rPr sz="1100" b="0" i="0">
                <a:solidFill>
                  <a:srgbClr val="262626"/>
                </a:solidFill>
                <a:latin typeface="Abadi"/>
              </a:rPr>
              <a:t>init_low = 0.5, init_high = 5 makes the initial factor dot products far larger than 5, so after 20 epochs every prediction is clipped to 5 (RMSE 1.2806). The default range (0, 1) was added to the grid search.</a:t>
            </a:r>
          </a:p>
        </p:txBody>
      </p:sp>
      <p:sp>
        <p:nvSpPr>
          <p:cNvPr id="11" name="Rounded Rectangle 10"/>
          <p:cNvSpPr/>
          <p:nvPr/>
        </p:nvSpPr>
        <p:spPr>
          <a:xfrm>
            <a:off x="841248" y="4037075"/>
            <a:ext cx="1051560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24128" y="4064507"/>
            <a:ext cx="10149840" cy="658368"/>
          </a:xfrm>
          <a:prstGeom prst="rect">
            <a:avLst/>
          </a:prstGeom>
          <a:noFill/>
        </p:spPr>
        <p:txBody>
          <a:bodyPr wrap="square" anchor="ctr" lIns="0" rIns="0" tIns="0" bIns="0">
            <a:spAutoFit/>
          </a:bodyPr>
          <a:lstStyle/>
          <a:p>
            <a:pPr algn="l">
              <a:spcAft>
                <a:spcPts val="100"/>
              </a:spcAft>
            </a:pPr>
            <a:r>
              <a:rPr sz="1250" b="1" i="0">
                <a:solidFill>
                  <a:srgbClr val="0B49CB"/>
                </a:solidFill>
                <a:latin typeface="Abadi"/>
              </a:rPr>
              <a:t>Batch-wide dot product in RecommenderNet</a:t>
            </a:r>
          </a:p>
          <a:p>
            <a:pPr algn="l">
              <a:spcAft>
                <a:spcPts val="0"/>
              </a:spcAft>
            </a:pPr>
            <a:r>
              <a:rPr sz="1100" b="0" i="0">
                <a:solidFill>
                  <a:srgbClr val="262626"/>
                </a:solidFill>
                <a:latin typeface="Abadi"/>
              </a:rPr>
              <a:t>tf.tensordot(user_vector, item_vector, 2) contracts both axes, so every example in a batch gets the same interaction term. RecommenderNetV2 (per-example dot product + dense layer): test RMSE 0.0740 vs 0.1192.</a:t>
            </a:r>
          </a:p>
        </p:txBody>
      </p:sp>
      <p:sp>
        <p:nvSpPr>
          <p:cNvPr id="13" name="Rounded Rectangle 12"/>
          <p:cNvSpPr/>
          <p:nvPr/>
        </p:nvSpPr>
        <p:spPr>
          <a:xfrm>
            <a:off x="841248" y="4809743"/>
            <a:ext cx="10515600" cy="713232"/>
          </a:xfrm>
          <a:prstGeom prst="roundRect">
            <a:avLst>
              <a:gd name="adj" fmla="val 6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4837175"/>
            <a:ext cx="10149840" cy="658368"/>
          </a:xfrm>
          <a:prstGeom prst="rect">
            <a:avLst/>
          </a:prstGeom>
          <a:noFill/>
        </p:spPr>
        <p:txBody>
          <a:bodyPr wrap="square" anchor="ctr" lIns="0" rIns="0" tIns="0" bIns="0">
            <a:spAutoFit/>
          </a:bodyPr>
          <a:lstStyle/>
          <a:p>
            <a:pPr algn="l">
              <a:spcAft>
                <a:spcPts val="100"/>
              </a:spcAft>
            </a:pPr>
            <a:r>
              <a:rPr sz="1250" b="1" i="0">
                <a:solidFill>
                  <a:srgbClr val="0B49CB"/>
                </a:solidFill>
                <a:latin typeface="Abadi"/>
              </a:rPr>
              <a:t>Default thresholds give long lists</a:t>
            </a:r>
          </a:p>
          <a:p>
            <a:pPr algn="l">
              <a:spcAft>
                <a:spcPts val="0"/>
              </a:spcAft>
            </a:pPr>
            <a:r>
              <a:rPr sz="1100" b="0" i="0">
                <a:solidFill>
                  <a:srgbClr val="262626"/>
                </a:solidFill>
                <a:latin typeface="Abadi"/>
              </a:rPr>
              <a:t>Score threshold 10 recommended 44 courses per learner and popularity threshold 100 about 41; every threshold was swept and set to stay under the 20-course guideline.</a:t>
            </a:r>
          </a:p>
        </p:txBody>
      </p:sp>
      <p:sp>
        <p:nvSpPr>
          <p:cNvPr id="15" name="Rounded Rectangle 14"/>
          <p:cNvSpPr/>
          <p:nvPr/>
        </p:nvSpPr>
        <p:spPr>
          <a:xfrm>
            <a:off x="841248" y="5582411"/>
            <a:ext cx="1051560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24128" y="5609843"/>
            <a:ext cx="10149840" cy="658368"/>
          </a:xfrm>
          <a:prstGeom prst="rect">
            <a:avLst/>
          </a:prstGeom>
          <a:noFill/>
        </p:spPr>
        <p:txBody>
          <a:bodyPr wrap="square" anchor="ctr" lIns="0" rIns="0" tIns="0" bIns="0">
            <a:spAutoFit/>
          </a:bodyPr>
          <a:lstStyle/>
          <a:p>
            <a:pPr algn="l">
              <a:spcAft>
                <a:spcPts val="100"/>
              </a:spcAft>
            </a:pPr>
            <a:r>
              <a:rPr sz="1250" b="1" i="0">
                <a:solidFill>
                  <a:srgbClr val="0B49CB"/>
                </a:solidFill>
                <a:latin typeface="Abadi"/>
              </a:rPr>
              <a:t>Duplicate course versions</a:t>
            </a:r>
          </a:p>
          <a:p>
            <a:pPr algn="l">
              <a:spcAft>
                <a:spcPts val="0"/>
              </a:spcAft>
            </a:pPr>
            <a:r>
              <a:rPr sz="1100" b="0" i="0">
                <a:solidFill>
                  <a:srgbClr val="262626"/>
                </a:solidFill>
                <a:latin typeface="Abadi"/>
              </a:rPr>
              <a:t>9 course pairs have identical text (similarity 1.0), e.g. Deep Learning with TensorFlow (ML0120EN / ML0120ENv2). They take slots in the top-10 lists and can recommend a course the learner already took under another id.</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54DA07C5-A406-4A0D-B3E6-3856C94AC7F3}">
  <ds:schemaRefs>
    <ds:schemaRef ds:uri="http://purl.org/dc/dcmitype/"/>
    <ds:schemaRef ds:uri="http://schemas.microsoft.com/office/2006/metadata/properties"/>
    <ds:schemaRef ds:uri="f80a141d-92ca-4d3d-9308-f7e7b1d44ce8"/>
    <ds:schemaRef ds:uri="http://schemas.microsoft.com/office/2006/documentManagement/types"/>
    <ds:schemaRef ds:uri="http://purl.org/dc/elements/1.1/"/>
    <ds:schemaRef ds:uri="http://www.w3.org/XML/1998/namespace"/>
    <ds:schemaRef ds:uri="http://schemas.microsoft.com/office/infopath/2007/PartnerControls"/>
    <ds:schemaRef ds:uri="http://schemas.openxmlformats.org/package/2006/metadata/core-properties"/>
    <ds:schemaRef ds:uri="155be751-a274-42e8-93fb-f39d3b9bccc8"/>
    <ds:schemaRef ds:uri="http://purl.org/dc/te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2546</TotalTime>
  <Words>954</Words>
  <Application>Microsoft Macintosh PowerPoint</Application>
  <PresentationFormat>Widescreen</PresentationFormat>
  <Paragraphs>177</Paragraphs>
  <Slides>24</Slides>
  <Notes>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Abadi</vt:lpstr>
      <vt:lpstr>Arial</vt:lpstr>
      <vt:lpstr>Calibri</vt:lpstr>
      <vt:lpstr>Calibri Light</vt:lpstr>
      <vt:lpstr>IBM Plex Mono SemiBold</vt:lpstr>
      <vt:lpstr>Custom Design</vt:lpstr>
      <vt:lpstr>Instructions</vt:lpstr>
      <vt:lpstr>PowerPoint Presentation</vt:lpstr>
      <vt:lpstr>PowerPoint Presentation</vt:lpstr>
      <vt:lpstr>PowerPoint Presentation</vt:lpstr>
      <vt:lpstr>Exploratory Data Analysis</vt:lpstr>
      <vt:lpstr>Course counts per genre</vt:lpstr>
      <vt:lpstr>Course enrollment distribution</vt:lpstr>
      <vt:lpstr>20 most popular courses</vt:lpstr>
      <vt:lpstr>Word cloud of course titles</vt:lpstr>
      <vt:lpstr>Content-based Recommender System using Unsupervised Learning</vt:lpstr>
      <vt:lpstr>Flowchart of content-based recommender system using user profile and course genres</vt:lpstr>
      <vt:lpstr>Evaluation results of user profile-based recommender system</vt:lpstr>
      <vt:lpstr>Flowchart of content-based recommender system using course similarity</vt:lpstr>
      <vt:lpstr>Evaluation results of course similarity based recommender system</vt:lpstr>
      <vt:lpstr>Flowchart of clustering-based recommender system</vt:lpstr>
      <vt:lpstr>Evaluation results of clustering-based recommender system</vt:lpstr>
      <vt:lpstr>Collaborative-filtering Recommender System using Supervised Learning</vt:lpstr>
      <vt:lpstr>Flowchart of KNN based recommender system</vt:lpstr>
      <vt:lpstr>Flowchart of NMF based recommender system</vt:lpstr>
      <vt:lpstr>Flowchart of Neural Network Embedding based recommender system</vt:lpstr>
      <vt:lpstr>Compare the performance of collaborative-filtering models</vt:lpstr>
      <vt:lpstr>Optional: Build a course recommender system app with Streamlit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Capstone Project Report</dc:title>
  <dc:creator>Omar Essam</dc:creator>
  <cp:lastModifiedBy>Yan Y Luo</cp:lastModifiedBy>
  <cp:revision>467</cp:revision>
  <dcterms:created xsi:type="dcterms:W3CDTF">2021-04-29T18:58:34Z</dcterms:created>
  <dcterms:modified xsi:type="dcterms:W3CDTF">2022-04-07T14:14:38Z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